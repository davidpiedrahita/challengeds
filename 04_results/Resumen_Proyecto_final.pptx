
<file path=[Content_Types].xml><?xml version="1.0" encoding="utf-8"?>
<Types xmlns="http://schemas.openxmlformats.org/package/2006/content-types">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y="6858000" cx="12191675"/>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848D6A8-F8AC-481B-8DDB-FC5D41F1B669}">
  <a:tblStyle styleId="{7848D6A8-F8AC-481B-8DDB-FC5D41F1B669}"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0" name="Shape 810"/>
        <p:cNvGrpSpPr/>
        <p:nvPr/>
      </p:nvGrpSpPr>
      <p:grpSpPr>
        <a:xfrm>
          <a:off x="0" y="0"/>
          <a:ext cx="0" cy="0"/>
          <a:chOff x="0" y="0"/>
          <a:chExt cx="0" cy="0"/>
        </a:xfrm>
      </p:grpSpPr>
      <p:sp>
        <p:nvSpPr>
          <p:cNvPr id="811" name="Google Shape;811;g3f39ec1753a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g3f39ec1753a_1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0" name="Shape 860"/>
        <p:cNvGrpSpPr/>
        <p:nvPr/>
      </p:nvGrpSpPr>
      <p:grpSpPr>
        <a:xfrm>
          <a:off x="0" y="0"/>
          <a:ext cx="0" cy="0"/>
          <a:chOff x="0" y="0"/>
          <a:chExt cx="0" cy="0"/>
        </a:xfrm>
      </p:grpSpPr>
      <p:sp>
        <p:nvSpPr>
          <p:cNvPr id="861" name="Google Shape;861;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0" name="Shape 920"/>
        <p:cNvGrpSpPr/>
        <p:nvPr/>
      </p:nvGrpSpPr>
      <p:grpSpPr>
        <a:xfrm>
          <a:off x="0" y="0"/>
          <a:ext cx="0" cy="0"/>
          <a:chOff x="0" y="0"/>
          <a:chExt cx="0" cy="0"/>
        </a:xfrm>
      </p:grpSpPr>
      <p:sp>
        <p:nvSpPr>
          <p:cNvPr id="921" name="Google Shape;921;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4" name="Shape 954"/>
        <p:cNvGrpSpPr/>
        <p:nvPr/>
      </p:nvGrpSpPr>
      <p:grpSpPr>
        <a:xfrm>
          <a:off x="0" y="0"/>
          <a:ext cx="0" cy="0"/>
          <a:chOff x="0" y="0"/>
          <a:chExt cx="0" cy="0"/>
        </a:xfrm>
      </p:grpSpPr>
      <p:sp>
        <p:nvSpPr>
          <p:cNvPr id="955" name="Google Shape;955;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3"/>
          <p:cNvSpPr/>
          <p:nvPr/>
        </p:nvSpPr>
        <p:spPr>
          <a:xfrm>
            <a:off x="0" y="0"/>
            <a:ext cx="12191695" cy="6858000"/>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5" name="Google Shape;85;p13"/>
          <p:cNvSpPr/>
          <p:nvPr/>
        </p:nvSpPr>
        <p:spPr>
          <a:xfrm>
            <a:off x="0" y="0"/>
            <a:ext cx="12191695" cy="109728"/>
          </a:xfrm>
          <a:prstGeom prst="rect">
            <a:avLst/>
          </a:prstGeom>
          <a:solidFill>
            <a:srgbClr val="FECE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6" name="Google Shape;86;p13"/>
          <p:cNvSpPr txBox="1"/>
          <p:nvPr/>
        </p:nvSpPr>
        <p:spPr>
          <a:xfrm>
            <a:off x="914400" y="502920"/>
            <a:ext cx="731520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00" u="none" cap="none" strike="noStrike">
                <a:solidFill>
                  <a:srgbClr val="B0B0B0"/>
                </a:solidFill>
                <a:latin typeface="Arial"/>
                <a:ea typeface="Arial"/>
                <a:cs typeface="Arial"/>
                <a:sym typeface="Arial"/>
              </a:rPr>
              <a:t>MERCADOLIBRE — DATA SCIENTIST TECHNICAL CHALLENGE</a:t>
            </a:r>
            <a:endParaRPr/>
          </a:p>
        </p:txBody>
      </p:sp>
      <p:sp>
        <p:nvSpPr>
          <p:cNvPr id="87" name="Google Shape;87;p13"/>
          <p:cNvSpPr/>
          <p:nvPr/>
        </p:nvSpPr>
        <p:spPr>
          <a:xfrm>
            <a:off x="932688" y="4160520"/>
            <a:ext cx="1188720" cy="64008"/>
          </a:xfrm>
          <a:prstGeom prst="rect">
            <a:avLst/>
          </a:prstGeom>
          <a:solidFill>
            <a:srgbClr val="FECE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8" name="Google Shape;88;p13"/>
          <p:cNvSpPr txBox="1"/>
          <p:nvPr/>
        </p:nvSpPr>
        <p:spPr>
          <a:xfrm>
            <a:off x="914400" y="4389120"/>
            <a:ext cx="8686800" cy="914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1600" u="none" cap="none" strike="noStrike">
                <a:solidFill>
                  <a:srgbClr val="B0B0B0"/>
                </a:solidFill>
                <a:latin typeface="Arial"/>
                <a:ea typeface="Arial"/>
                <a:cs typeface="Arial"/>
                <a:sym typeface="Arial"/>
              </a:rPr>
              <a:t>Un enfoque de Machine Learning orientado a maximizar la ganancia del negocio</a:t>
            </a:r>
            <a:endParaRPr/>
          </a:p>
        </p:txBody>
      </p:sp>
      <p:sp>
        <p:nvSpPr>
          <p:cNvPr id="89" name="Google Shape;89;p13"/>
          <p:cNvSpPr/>
          <p:nvPr/>
        </p:nvSpPr>
        <p:spPr>
          <a:xfrm>
            <a:off x="0" y="6309360"/>
            <a:ext cx="12191695" cy="548640"/>
          </a:xfrm>
          <a:prstGeom prst="rect">
            <a:avLst/>
          </a:prstGeom>
          <a:solidFill>
            <a:srgbClr val="0C0C0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0" name="Google Shape;90;p13"/>
          <p:cNvSpPr txBox="1"/>
          <p:nvPr/>
        </p:nvSpPr>
        <p:spPr>
          <a:xfrm>
            <a:off x="1051560" y="6382512"/>
            <a:ext cx="4572000" cy="200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David Piedrahita Florez - </a:t>
            </a:r>
            <a:r>
              <a:rPr i="0" lang="en-US" sz="1300" u="none" cap="none" strike="noStrike">
                <a:solidFill>
                  <a:srgbClr val="FFFFFF"/>
                </a:solidFill>
              </a:rPr>
              <a:t>Ssr Data </a:t>
            </a:r>
            <a:r>
              <a:rPr lang="en-US" sz="1300">
                <a:solidFill>
                  <a:srgbClr val="FFFFFF"/>
                </a:solidFill>
              </a:rPr>
              <a:t>Science</a:t>
            </a:r>
            <a:r>
              <a:rPr i="0" lang="en-US" sz="1300" u="none" cap="none" strike="noStrike">
                <a:solidFill>
                  <a:srgbClr val="FFFFFF"/>
                </a:solidFill>
              </a:rPr>
              <a:t> Engineer</a:t>
            </a:r>
            <a:endParaRPr/>
          </a:p>
        </p:txBody>
      </p:sp>
      <p:sp>
        <p:nvSpPr>
          <p:cNvPr id="91" name="Google Shape;91;p13"/>
          <p:cNvSpPr txBox="1"/>
          <p:nvPr/>
        </p:nvSpPr>
        <p:spPr>
          <a:xfrm>
            <a:off x="8229600" y="6382512"/>
            <a:ext cx="3474720" cy="402336"/>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B0B0B0"/>
                </a:solidFill>
                <a:latin typeface="Arial"/>
                <a:ea typeface="Arial"/>
                <a:cs typeface="Arial"/>
                <a:sym typeface="Arial"/>
              </a:rPr>
              <a:t>Julio 2026</a:t>
            </a:r>
            <a:endParaRPr/>
          </a:p>
        </p:txBody>
      </p:sp>
      <p:grpSp>
        <p:nvGrpSpPr>
          <p:cNvPr id="92" name="Google Shape;92;p13"/>
          <p:cNvGrpSpPr/>
          <p:nvPr/>
        </p:nvGrpSpPr>
        <p:grpSpPr>
          <a:xfrm>
            <a:off x="12" y="6223211"/>
            <a:ext cx="634800" cy="634800"/>
            <a:chOff x="12" y="4508711"/>
            <a:chExt cx="634800" cy="634800"/>
          </a:xfrm>
        </p:grpSpPr>
        <p:sp>
          <p:nvSpPr>
            <p:cNvPr id="93" name="Google Shape;93;p13"/>
            <p:cNvSpPr/>
            <p:nvPr/>
          </p:nvSpPr>
          <p:spPr>
            <a:xfrm>
              <a:off x="12" y="4508711"/>
              <a:ext cx="634800" cy="634800"/>
            </a:xfrm>
            <a:prstGeom prst="round1Rect">
              <a:avLst>
                <a:gd fmla="val 28797" name="adj"/>
              </a:avLst>
            </a:prstGeom>
            <a:solidFill>
              <a:srgbClr val="FFD1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94" name="Google Shape;94;p13"/>
            <p:cNvPicPr preferRelativeResize="0"/>
            <p:nvPr/>
          </p:nvPicPr>
          <p:blipFill>
            <a:blip r:embed="rId3">
              <a:alphaModFix/>
            </a:blip>
            <a:stretch>
              <a:fillRect/>
            </a:stretch>
          </p:blipFill>
          <p:spPr>
            <a:xfrm>
              <a:off x="124673" y="4689253"/>
              <a:ext cx="397051" cy="273714"/>
            </a:xfrm>
            <a:prstGeom prst="rect">
              <a:avLst/>
            </a:prstGeom>
            <a:noFill/>
            <a:ln>
              <a:noFill/>
            </a:ln>
          </p:spPr>
        </p:pic>
      </p:grpSp>
      <p:sp>
        <p:nvSpPr>
          <p:cNvPr id="95" name="Google Shape;95;p13"/>
          <p:cNvSpPr/>
          <p:nvPr/>
        </p:nvSpPr>
        <p:spPr>
          <a:xfrm rot="-8100000">
            <a:off x="1062646" y="2267748"/>
            <a:ext cx="285530" cy="300379"/>
          </a:xfrm>
          <a:prstGeom prst="corner">
            <a:avLst>
              <a:gd fmla="val 39228" name="adj1"/>
              <a:gd fmla="val 38336" name="adj2"/>
            </a:avLst>
          </a:prstGeom>
          <a:solidFill>
            <a:srgbClr val="FFD100"/>
          </a:solidFill>
          <a:ln>
            <a:noFill/>
          </a:ln>
        </p:spPr>
        <p:txBody>
          <a:bodyPr anchorCtr="0" anchor="ctr" bIns="60950" lIns="60950" spcFirstLastPara="1" rIns="60950" wrap="square" tIns="60950">
            <a:noAutofit/>
          </a:bodyPr>
          <a:lstStyle/>
          <a:p>
            <a:pPr indent="0" lvl="0" marL="0" rtl="0" algn="l">
              <a:spcBef>
                <a:spcPts val="0"/>
              </a:spcBef>
              <a:spcAft>
                <a:spcPts val="0"/>
              </a:spcAft>
              <a:buNone/>
            </a:pPr>
            <a:r>
              <a:t/>
            </a:r>
            <a:endParaRPr/>
          </a:p>
        </p:txBody>
      </p:sp>
      <p:sp>
        <p:nvSpPr>
          <p:cNvPr id="96" name="Google Shape;96;p13"/>
          <p:cNvSpPr/>
          <p:nvPr/>
        </p:nvSpPr>
        <p:spPr>
          <a:xfrm>
            <a:off x="1268282" y="2676875"/>
            <a:ext cx="217500" cy="110400"/>
          </a:xfrm>
          <a:prstGeom prst="rect">
            <a:avLst/>
          </a:prstGeom>
          <a:solidFill>
            <a:srgbClr val="FFD10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sz="700">
              <a:solidFill>
                <a:srgbClr val="FFFFFF"/>
              </a:solidFill>
            </a:endParaRPr>
          </a:p>
        </p:txBody>
      </p:sp>
      <p:sp>
        <p:nvSpPr>
          <p:cNvPr id="97" name="Google Shape;97;p13"/>
          <p:cNvSpPr txBox="1"/>
          <p:nvPr/>
        </p:nvSpPr>
        <p:spPr>
          <a:xfrm>
            <a:off x="1605300" y="2210800"/>
            <a:ext cx="6668700" cy="5079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i="0" lang="en-US" sz="3300" u="none" cap="none" strike="noStrike">
                <a:solidFill>
                  <a:schemeClr val="lt1"/>
                </a:solidFill>
                <a:latin typeface="Arial"/>
                <a:ea typeface="Arial"/>
                <a:cs typeface="Arial"/>
                <a:sym typeface="Arial"/>
              </a:rPr>
              <a:t>PREVENCIÓN DE FRAUDE</a:t>
            </a:r>
            <a:endParaRPr sz="300">
              <a:solidFill>
                <a:schemeClr val="lt1"/>
              </a:solidFill>
            </a:endParaRPr>
          </a:p>
        </p:txBody>
      </p:sp>
      <p:pic>
        <p:nvPicPr>
          <p:cNvPr id="98" name="Google Shape;98;p13"/>
          <p:cNvPicPr preferRelativeResize="0"/>
          <p:nvPr/>
        </p:nvPicPr>
        <p:blipFill>
          <a:blip r:embed="rId4">
            <a:alphaModFix/>
          </a:blip>
          <a:stretch>
            <a:fillRect/>
          </a:stretch>
        </p:blipFill>
        <p:spPr>
          <a:xfrm>
            <a:off x="7050148" y="2279742"/>
            <a:ext cx="438965" cy="43896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4"/>
          <p:cNvSpPr/>
          <p:nvPr/>
        </p:nvSpPr>
        <p:spPr>
          <a:xfrm>
            <a:off x="0" y="0"/>
            <a:ext cx="12191695" cy="6858000"/>
          </a:xfrm>
          <a:prstGeom prst="rect">
            <a:avLst/>
          </a:prstGeom>
          <a:solidFill>
            <a:srgbClr val="1A1A1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4" name="Google Shape;104;p14"/>
          <p:cNvSpPr/>
          <p:nvPr/>
        </p:nvSpPr>
        <p:spPr>
          <a:xfrm>
            <a:off x="502920" y="457200"/>
            <a:ext cx="54864" cy="777240"/>
          </a:xfrm>
          <a:prstGeom prst="rect">
            <a:avLst/>
          </a:prstGeom>
          <a:solidFill>
            <a:srgbClr val="FECE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5" name="Google Shape;105;p14"/>
          <p:cNvSpPr txBox="1"/>
          <p:nvPr/>
        </p:nvSpPr>
        <p:spPr>
          <a:xfrm>
            <a:off x="685800" y="457200"/>
            <a:ext cx="1051560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300" u="none" cap="none" strike="noStrike">
                <a:solidFill>
                  <a:srgbClr val="B0B0B0"/>
                </a:solidFill>
                <a:latin typeface="Arial"/>
                <a:ea typeface="Arial"/>
                <a:cs typeface="Arial"/>
                <a:sym typeface="Arial"/>
              </a:rPr>
              <a:t>CONTENIDO</a:t>
            </a:r>
            <a:endParaRPr/>
          </a:p>
        </p:txBody>
      </p:sp>
      <p:sp>
        <p:nvSpPr>
          <p:cNvPr id="106" name="Google Shape;106;p14"/>
          <p:cNvSpPr txBox="1"/>
          <p:nvPr/>
        </p:nvSpPr>
        <p:spPr>
          <a:xfrm>
            <a:off x="658368" y="749808"/>
            <a:ext cx="10607040" cy="5943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600" u="none" cap="none" strike="noStrike">
                <a:solidFill>
                  <a:srgbClr val="FFFFFF"/>
                </a:solidFill>
                <a:latin typeface="Arial"/>
                <a:ea typeface="Arial"/>
                <a:cs typeface="Arial"/>
                <a:sym typeface="Arial"/>
              </a:rPr>
              <a:t>AGENDA</a:t>
            </a:r>
            <a:endParaRPr/>
          </a:p>
        </p:txBody>
      </p:sp>
      <p:sp>
        <p:nvSpPr>
          <p:cNvPr id="107" name="Google Shape;107;p14"/>
          <p:cNvSpPr/>
          <p:nvPr/>
        </p:nvSpPr>
        <p:spPr>
          <a:xfrm>
            <a:off x="640080" y="1554480"/>
            <a:ext cx="5341467" cy="1017270"/>
          </a:xfrm>
          <a:prstGeom prst="rect">
            <a:avLst/>
          </a:prstGeom>
          <a:solidFill>
            <a:srgbClr val="111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8" name="Google Shape;108;p14"/>
          <p:cNvSpPr txBox="1"/>
          <p:nvPr/>
        </p:nvSpPr>
        <p:spPr>
          <a:xfrm>
            <a:off x="868680" y="1554480"/>
            <a:ext cx="822960" cy="101727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200" u="none" cap="none" strike="noStrike">
                <a:solidFill>
                  <a:srgbClr val="FECE00"/>
                </a:solidFill>
                <a:latin typeface="Arial"/>
                <a:ea typeface="Arial"/>
                <a:cs typeface="Arial"/>
                <a:sym typeface="Arial"/>
              </a:rPr>
              <a:t>01</a:t>
            </a:r>
            <a:endParaRPr/>
          </a:p>
        </p:txBody>
      </p:sp>
      <p:sp>
        <p:nvSpPr>
          <p:cNvPr id="109" name="Google Shape;109;p14"/>
          <p:cNvSpPr txBox="1"/>
          <p:nvPr/>
        </p:nvSpPr>
        <p:spPr>
          <a:xfrm>
            <a:off x="1554480" y="1554480"/>
            <a:ext cx="4244187" cy="101727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i="0" lang="en-US" sz="1350" u="none" cap="none" strike="noStrike">
                <a:solidFill>
                  <a:srgbClr val="FFFFFF"/>
                </a:solidFill>
                <a:latin typeface="Arial"/>
                <a:ea typeface="Arial"/>
                <a:cs typeface="Arial"/>
                <a:sym typeface="Arial"/>
              </a:rPr>
              <a:t>Metodología del proyecto</a:t>
            </a:r>
            <a:endParaRPr/>
          </a:p>
        </p:txBody>
      </p:sp>
      <p:sp>
        <p:nvSpPr>
          <p:cNvPr id="110" name="Google Shape;110;p14"/>
          <p:cNvSpPr/>
          <p:nvPr/>
        </p:nvSpPr>
        <p:spPr>
          <a:xfrm>
            <a:off x="640080" y="2800350"/>
            <a:ext cx="5341467" cy="1017270"/>
          </a:xfrm>
          <a:prstGeom prst="rect">
            <a:avLst/>
          </a:prstGeom>
          <a:solidFill>
            <a:srgbClr val="111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1" name="Google Shape;111;p14"/>
          <p:cNvSpPr txBox="1"/>
          <p:nvPr/>
        </p:nvSpPr>
        <p:spPr>
          <a:xfrm>
            <a:off x="868680" y="2800350"/>
            <a:ext cx="822960" cy="101727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200" u="none" cap="none" strike="noStrike">
                <a:solidFill>
                  <a:srgbClr val="FECE00"/>
                </a:solidFill>
                <a:latin typeface="Arial"/>
                <a:ea typeface="Arial"/>
                <a:cs typeface="Arial"/>
                <a:sym typeface="Arial"/>
              </a:rPr>
              <a:t>02</a:t>
            </a:r>
            <a:endParaRPr/>
          </a:p>
        </p:txBody>
      </p:sp>
      <p:sp>
        <p:nvSpPr>
          <p:cNvPr id="112" name="Google Shape;112;p14"/>
          <p:cNvSpPr txBox="1"/>
          <p:nvPr/>
        </p:nvSpPr>
        <p:spPr>
          <a:xfrm>
            <a:off x="1554480" y="2800350"/>
            <a:ext cx="4244187" cy="101727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i="0" lang="en-US" sz="1350" u="none" cap="none" strike="noStrike">
                <a:solidFill>
                  <a:srgbClr val="FFFFFF"/>
                </a:solidFill>
                <a:latin typeface="Arial"/>
                <a:ea typeface="Arial"/>
                <a:cs typeface="Arial"/>
                <a:sym typeface="Arial"/>
              </a:rPr>
              <a:t>Análisis inicial y planteamiento del problema</a:t>
            </a:r>
            <a:endParaRPr/>
          </a:p>
        </p:txBody>
      </p:sp>
      <p:sp>
        <p:nvSpPr>
          <p:cNvPr id="113" name="Google Shape;113;p14"/>
          <p:cNvSpPr/>
          <p:nvPr/>
        </p:nvSpPr>
        <p:spPr>
          <a:xfrm>
            <a:off x="640080" y="4046220"/>
            <a:ext cx="5341467" cy="1017270"/>
          </a:xfrm>
          <a:prstGeom prst="rect">
            <a:avLst/>
          </a:prstGeom>
          <a:solidFill>
            <a:srgbClr val="111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4" name="Google Shape;114;p14"/>
          <p:cNvSpPr txBox="1"/>
          <p:nvPr/>
        </p:nvSpPr>
        <p:spPr>
          <a:xfrm>
            <a:off x="868680" y="4046220"/>
            <a:ext cx="822960" cy="101727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200" u="none" cap="none" strike="noStrike">
                <a:solidFill>
                  <a:srgbClr val="FECE00"/>
                </a:solidFill>
                <a:latin typeface="Arial"/>
                <a:ea typeface="Arial"/>
                <a:cs typeface="Arial"/>
                <a:sym typeface="Arial"/>
              </a:rPr>
              <a:t>03</a:t>
            </a:r>
            <a:endParaRPr/>
          </a:p>
        </p:txBody>
      </p:sp>
      <p:sp>
        <p:nvSpPr>
          <p:cNvPr id="115" name="Google Shape;115;p14"/>
          <p:cNvSpPr txBox="1"/>
          <p:nvPr/>
        </p:nvSpPr>
        <p:spPr>
          <a:xfrm>
            <a:off x="1554480" y="4046220"/>
            <a:ext cx="4244187" cy="101727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i="0" lang="en-US" sz="1350" u="none" cap="none" strike="noStrike">
                <a:solidFill>
                  <a:srgbClr val="FFFFFF"/>
                </a:solidFill>
                <a:latin typeface="Arial"/>
                <a:ea typeface="Arial"/>
                <a:cs typeface="Arial"/>
                <a:sym typeface="Arial"/>
              </a:rPr>
              <a:t>Formulación matemática de la ganancia (J)</a:t>
            </a:r>
            <a:endParaRPr/>
          </a:p>
        </p:txBody>
      </p:sp>
      <p:sp>
        <p:nvSpPr>
          <p:cNvPr id="116" name="Google Shape;116;p14"/>
          <p:cNvSpPr/>
          <p:nvPr/>
        </p:nvSpPr>
        <p:spPr>
          <a:xfrm>
            <a:off x="640080" y="5292090"/>
            <a:ext cx="5341467" cy="1017270"/>
          </a:xfrm>
          <a:prstGeom prst="rect">
            <a:avLst/>
          </a:prstGeom>
          <a:solidFill>
            <a:srgbClr val="111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7" name="Google Shape;117;p14"/>
          <p:cNvSpPr txBox="1"/>
          <p:nvPr/>
        </p:nvSpPr>
        <p:spPr>
          <a:xfrm>
            <a:off x="868680" y="5292090"/>
            <a:ext cx="822960" cy="101727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200" u="none" cap="none" strike="noStrike">
                <a:solidFill>
                  <a:srgbClr val="FECE00"/>
                </a:solidFill>
                <a:latin typeface="Arial"/>
                <a:ea typeface="Arial"/>
                <a:cs typeface="Arial"/>
                <a:sym typeface="Arial"/>
              </a:rPr>
              <a:t>04</a:t>
            </a:r>
            <a:endParaRPr/>
          </a:p>
        </p:txBody>
      </p:sp>
      <p:sp>
        <p:nvSpPr>
          <p:cNvPr id="118" name="Google Shape;118;p14"/>
          <p:cNvSpPr txBox="1"/>
          <p:nvPr/>
        </p:nvSpPr>
        <p:spPr>
          <a:xfrm>
            <a:off x="1554480" y="5292090"/>
            <a:ext cx="4244187" cy="101727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i="0" lang="en-US" sz="1350" u="none" cap="none" strike="noStrike">
                <a:solidFill>
                  <a:srgbClr val="FFFFFF"/>
                </a:solidFill>
                <a:latin typeface="Arial"/>
                <a:ea typeface="Arial"/>
                <a:cs typeface="Arial"/>
                <a:sym typeface="Arial"/>
              </a:rPr>
              <a:t>Exploración de datos: EDA raw y EDA train</a:t>
            </a:r>
            <a:endParaRPr/>
          </a:p>
        </p:txBody>
      </p:sp>
      <p:sp>
        <p:nvSpPr>
          <p:cNvPr id="119" name="Google Shape;119;p14"/>
          <p:cNvSpPr/>
          <p:nvPr/>
        </p:nvSpPr>
        <p:spPr>
          <a:xfrm>
            <a:off x="6210147" y="1554480"/>
            <a:ext cx="5341467" cy="1017270"/>
          </a:xfrm>
          <a:prstGeom prst="rect">
            <a:avLst/>
          </a:prstGeom>
          <a:solidFill>
            <a:srgbClr val="111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0" name="Google Shape;120;p14"/>
          <p:cNvSpPr txBox="1"/>
          <p:nvPr/>
        </p:nvSpPr>
        <p:spPr>
          <a:xfrm>
            <a:off x="6438747" y="1554480"/>
            <a:ext cx="822960" cy="101727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200" u="none" cap="none" strike="noStrike">
                <a:solidFill>
                  <a:srgbClr val="FECE00"/>
                </a:solidFill>
                <a:latin typeface="Arial"/>
                <a:ea typeface="Arial"/>
                <a:cs typeface="Arial"/>
                <a:sym typeface="Arial"/>
              </a:rPr>
              <a:t>05</a:t>
            </a:r>
            <a:endParaRPr/>
          </a:p>
        </p:txBody>
      </p:sp>
      <p:sp>
        <p:nvSpPr>
          <p:cNvPr id="121" name="Google Shape;121;p14"/>
          <p:cNvSpPr txBox="1"/>
          <p:nvPr/>
        </p:nvSpPr>
        <p:spPr>
          <a:xfrm>
            <a:off x="7124547" y="1554480"/>
            <a:ext cx="4244187" cy="101727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i="0" lang="en-US" sz="1350" u="none" cap="none" strike="noStrike">
                <a:solidFill>
                  <a:srgbClr val="FFFFFF"/>
                </a:solidFill>
                <a:latin typeface="Arial"/>
                <a:ea typeface="Arial"/>
                <a:cs typeface="Arial"/>
                <a:sym typeface="Arial"/>
              </a:rPr>
              <a:t>Feature engineering</a:t>
            </a:r>
            <a:endParaRPr/>
          </a:p>
        </p:txBody>
      </p:sp>
      <p:sp>
        <p:nvSpPr>
          <p:cNvPr id="122" name="Google Shape;122;p14"/>
          <p:cNvSpPr/>
          <p:nvPr/>
        </p:nvSpPr>
        <p:spPr>
          <a:xfrm>
            <a:off x="6210147" y="2800350"/>
            <a:ext cx="5341467" cy="1017270"/>
          </a:xfrm>
          <a:prstGeom prst="rect">
            <a:avLst/>
          </a:prstGeom>
          <a:solidFill>
            <a:srgbClr val="111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3" name="Google Shape;123;p14"/>
          <p:cNvSpPr txBox="1"/>
          <p:nvPr/>
        </p:nvSpPr>
        <p:spPr>
          <a:xfrm>
            <a:off x="6438747" y="2800350"/>
            <a:ext cx="822960" cy="101727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200" u="none" cap="none" strike="noStrike">
                <a:solidFill>
                  <a:srgbClr val="FECE00"/>
                </a:solidFill>
                <a:latin typeface="Arial"/>
                <a:ea typeface="Arial"/>
                <a:cs typeface="Arial"/>
                <a:sym typeface="Arial"/>
              </a:rPr>
              <a:t>06</a:t>
            </a:r>
            <a:endParaRPr/>
          </a:p>
        </p:txBody>
      </p:sp>
      <p:sp>
        <p:nvSpPr>
          <p:cNvPr id="124" name="Google Shape;124;p14"/>
          <p:cNvSpPr txBox="1"/>
          <p:nvPr/>
        </p:nvSpPr>
        <p:spPr>
          <a:xfrm>
            <a:off x="7124547" y="2800350"/>
            <a:ext cx="4244187" cy="101727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i="0" lang="en-US" sz="1350" u="none" cap="none" strike="noStrike">
                <a:solidFill>
                  <a:srgbClr val="FFFFFF"/>
                </a:solidFill>
                <a:latin typeface="Arial"/>
                <a:ea typeface="Arial"/>
                <a:cs typeface="Arial"/>
                <a:sym typeface="Arial"/>
              </a:rPr>
              <a:t>Selección y evaluación de modelos</a:t>
            </a:r>
            <a:endParaRPr/>
          </a:p>
        </p:txBody>
      </p:sp>
      <p:sp>
        <p:nvSpPr>
          <p:cNvPr id="125" name="Google Shape;125;p14"/>
          <p:cNvSpPr/>
          <p:nvPr/>
        </p:nvSpPr>
        <p:spPr>
          <a:xfrm>
            <a:off x="6210147" y="4046220"/>
            <a:ext cx="5341467" cy="1017270"/>
          </a:xfrm>
          <a:prstGeom prst="rect">
            <a:avLst/>
          </a:prstGeom>
          <a:solidFill>
            <a:srgbClr val="111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6" name="Google Shape;126;p14"/>
          <p:cNvSpPr txBox="1"/>
          <p:nvPr/>
        </p:nvSpPr>
        <p:spPr>
          <a:xfrm>
            <a:off x="6438747" y="4046220"/>
            <a:ext cx="822960" cy="101727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200" u="none" cap="none" strike="noStrike">
                <a:solidFill>
                  <a:srgbClr val="FECE00"/>
                </a:solidFill>
                <a:latin typeface="Arial"/>
                <a:ea typeface="Arial"/>
                <a:cs typeface="Arial"/>
                <a:sym typeface="Arial"/>
              </a:rPr>
              <a:t>07</a:t>
            </a:r>
            <a:endParaRPr/>
          </a:p>
        </p:txBody>
      </p:sp>
      <p:sp>
        <p:nvSpPr>
          <p:cNvPr id="127" name="Google Shape;127;p14"/>
          <p:cNvSpPr txBox="1"/>
          <p:nvPr/>
        </p:nvSpPr>
        <p:spPr>
          <a:xfrm>
            <a:off x="7124547" y="4046220"/>
            <a:ext cx="4244187" cy="101727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i="0" lang="en-US" sz="1350" u="none" cap="none" strike="noStrike">
                <a:solidFill>
                  <a:srgbClr val="FFFFFF"/>
                </a:solidFill>
                <a:latin typeface="Arial"/>
                <a:ea typeface="Arial"/>
                <a:cs typeface="Arial"/>
                <a:sym typeface="Arial"/>
              </a:rPr>
              <a:t>Modelo final y simulación en producción</a:t>
            </a:r>
            <a:endParaRPr/>
          </a:p>
        </p:txBody>
      </p:sp>
      <p:sp>
        <p:nvSpPr>
          <p:cNvPr id="128" name="Google Shape;128;p14"/>
          <p:cNvSpPr/>
          <p:nvPr/>
        </p:nvSpPr>
        <p:spPr>
          <a:xfrm>
            <a:off x="6210147" y="5292090"/>
            <a:ext cx="5341467" cy="1017270"/>
          </a:xfrm>
          <a:prstGeom prst="rect">
            <a:avLst/>
          </a:prstGeom>
          <a:solidFill>
            <a:srgbClr val="111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9" name="Google Shape;129;p14"/>
          <p:cNvSpPr txBox="1"/>
          <p:nvPr/>
        </p:nvSpPr>
        <p:spPr>
          <a:xfrm>
            <a:off x="6438747" y="5292090"/>
            <a:ext cx="822960" cy="101727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200" u="none" cap="none" strike="noStrike">
                <a:solidFill>
                  <a:srgbClr val="FECE00"/>
                </a:solidFill>
                <a:latin typeface="Arial"/>
                <a:ea typeface="Arial"/>
                <a:cs typeface="Arial"/>
                <a:sym typeface="Arial"/>
              </a:rPr>
              <a:t>08</a:t>
            </a:r>
            <a:endParaRPr/>
          </a:p>
        </p:txBody>
      </p:sp>
      <p:sp>
        <p:nvSpPr>
          <p:cNvPr id="130" name="Google Shape;130;p14"/>
          <p:cNvSpPr txBox="1"/>
          <p:nvPr/>
        </p:nvSpPr>
        <p:spPr>
          <a:xfrm>
            <a:off x="7124547" y="5292090"/>
            <a:ext cx="4244187" cy="101727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i="0" lang="en-US" sz="1350" u="none" cap="none" strike="noStrike">
                <a:solidFill>
                  <a:srgbClr val="FFFFFF"/>
                </a:solidFill>
                <a:latin typeface="Arial"/>
                <a:ea typeface="Arial"/>
                <a:cs typeface="Arial"/>
                <a:sym typeface="Arial"/>
              </a:rPr>
              <a:t>Conclusiones y referencias</a:t>
            </a:r>
            <a:endParaRPr/>
          </a:p>
        </p:txBody>
      </p:sp>
      <p:sp>
        <p:nvSpPr>
          <p:cNvPr id="131" name="Google Shape;131;p14"/>
          <p:cNvSpPr/>
          <p:nvPr/>
        </p:nvSpPr>
        <p:spPr>
          <a:xfrm>
            <a:off x="0" y="6537960"/>
            <a:ext cx="12191695" cy="320040"/>
          </a:xfrm>
          <a:prstGeom prst="rect">
            <a:avLst/>
          </a:prstGeom>
          <a:solidFill>
            <a:srgbClr val="0A0A0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nvGrpSpPr>
          <p:cNvPr id="132" name="Google Shape;132;p14"/>
          <p:cNvGrpSpPr/>
          <p:nvPr/>
        </p:nvGrpSpPr>
        <p:grpSpPr>
          <a:xfrm>
            <a:off x="12" y="6223211"/>
            <a:ext cx="634800" cy="634800"/>
            <a:chOff x="12" y="4508711"/>
            <a:chExt cx="634800" cy="634800"/>
          </a:xfrm>
        </p:grpSpPr>
        <p:sp>
          <p:nvSpPr>
            <p:cNvPr id="133" name="Google Shape;133;p14"/>
            <p:cNvSpPr/>
            <p:nvPr/>
          </p:nvSpPr>
          <p:spPr>
            <a:xfrm>
              <a:off x="12" y="4508711"/>
              <a:ext cx="634800" cy="634800"/>
            </a:xfrm>
            <a:prstGeom prst="round1Rect">
              <a:avLst>
                <a:gd fmla="val 28797" name="adj"/>
              </a:avLst>
            </a:prstGeom>
            <a:solidFill>
              <a:srgbClr val="FFD1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34" name="Google Shape;134;p14"/>
            <p:cNvPicPr preferRelativeResize="0"/>
            <p:nvPr/>
          </p:nvPicPr>
          <p:blipFill>
            <a:blip r:embed="rId3">
              <a:alphaModFix/>
            </a:blip>
            <a:stretch>
              <a:fillRect/>
            </a:stretch>
          </p:blipFill>
          <p:spPr>
            <a:xfrm>
              <a:off x="124673" y="4689253"/>
              <a:ext cx="397051" cy="273714"/>
            </a:xfrm>
            <a:prstGeom prst="rect">
              <a:avLst/>
            </a:prstGeom>
            <a:noFill/>
            <a:ln>
              <a:noFill/>
            </a:ln>
          </p:spPr>
        </p:pic>
      </p:grpSp>
      <p:sp>
        <p:nvSpPr>
          <p:cNvPr id="135" name="Google Shape;135;p14"/>
          <p:cNvSpPr/>
          <p:nvPr/>
        </p:nvSpPr>
        <p:spPr>
          <a:xfrm rot="10800000">
            <a:off x="11736276" y="0"/>
            <a:ext cx="455400" cy="421500"/>
          </a:xfrm>
          <a:prstGeom prst="corner">
            <a:avLst>
              <a:gd fmla="val 39228" name="adj1"/>
              <a:gd fmla="val 38336" name="adj2"/>
            </a:avLst>
          </a:prstGeom>
          <a:solidFill>
            <a:srgbClr val="FFD100"/>
          </a:solidFill>
          <a:ln>
            <a:noFill/>
          </a:ln>
        </p:spPr>
        <p:txBody>
          <a:bodyPr anchorCtr="0" anchor="ctr" bIns="60950" lIns="60950" spcFirstLastPara="1" rIns="60950" wrap="square" tIns="60950">
            <a:noAutofit/>
          </a:bodyPr>
          <a:lstStyle/>
          <a:p>
            <a:pPr indent="0" lvl="0" marL="0" rtl="0" algn="l">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5"/>
          <p:cNvSpPr/>
          <p:nvPr/>
        </p:nvSpPr>
        <p:spPr>
          <a:xfrm>
            <a:off x="0" y="0"/>
            <a:ext cx="12191695" cy="6858000"/>
          </a:xfrm>
          <a:prstGeom prst="rect">
            <a:avLst/>
          </a:prstGeom>
          <a:solidFill>
            <a:srgbClr val="1A1A1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1" name="Google Shape;141;p15"/>
          <p:cNvSpPr/>
          <p:nvPr/>
        </p:nvSpPr>
        <p:spPr>
          <a:xfrm>
            <a:off x="502920" y="457200"/>
            <a:ext cx="54864" cy="777240"/>
          </a:xfrm>
          <a:prstGeom prst="rect">
            <a:avLst/>
          </a:prstGeom>
          <a:solidFill>
            <a:srgbClr val="FECE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2" name="Google Shape;142;p15"/>
          <p:cNvSpPr txBox="1"/>
          <p:nvPr/>
        </p:nvSpPr>
        <p:spPr>
          <a:xfrm>
            <a:off x="685800" y="457200"/>
            <a:ext cx="1051560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300" u="none" cap="none" strike="noStrike">
                <a:solidFill>
                  <a:srgbClr val="B0B0B0"/>
                </a:solidFill>
                <a:latin typeface="Arial"/>
                <a:ea typeface="Arial"/>
                <a:cs typeface="Arial"/>
                <a:sym typeface="Arial"/>
              </a:rPr>
              <a:t>DESARROLLO METODOLÓGICO</a:t>
            </a:r>
            <a:endParaRPr/>
          </a:p>
        </p:txBody>
      </p:sp>
      <p:sp>
        <p:nvSpPr>
          <p:cNvPr id="143" name="Google Shape;143;p15"/>
          <p:cNvSpPr txBox="1"/>
          <p:nvPr/>
        </p:nvSpPr>
        <p:spPr>
          <a:xfrm>
            <a:off x="658368" y="749808"/>
            <a:ext cx="10607040" cy="5943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600" u="none" cap="none" strike="noStrike">
                <a:solidFill>
                  <a:srgbClr val="FFFFFF"/>
                </a:solidFill>
                <a:latin typeface="Arial"/>
                <a:ea typeface="Arial"/>
                <a:cs typeface="Arial"/>
                <a:sym typeface="Arial"/>
              </a:rPr>
              <a:t>FASES DEL PROYECTO</a:t>
            </a:r>
            <a:endParaRPr/>
          </a:p>
        </p:txBody>
      </p:sp>
      <p:sp>
        <p:nvSpPr>
          <p:cNvPr id="144" name="Google Shape;144;p15"/>
          <p:cNvSpPr/>
          <p:nvPr/>
        </p:nvSpPr>
        <p:spPr>
          <a:xfrm>
            <a:off x="640080" y="1737360"/>
            <a:ext cx="1889150" cy="4206240"/>
          </a:xfrm>
          <a:prstGeom prst="rect">
            <a:avLst/>
          </a:prstGeom>
          <a:solidFill>
            <a:srgbClr val="111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5" name="Google Shape;145;p15"/>
          <p:cNvSpPr/>
          <p:nvPr/>
        </p:nvSpPr>
        <p:spPr>
          <a:xfrm>
            <a:off x="640080" y="1737360"/>
            <a:ext cx="1889150" cy="73152"/>
          </a:xfrm>
          <a:prstGeom prst="rect">
            <a:avLst/>
          </a:prstGeom>
          <a:solidFill>
            <a:srgbClr val="FECE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6" name="Google Shape;146;p15"/>
          <p:cNvSpPr txBox="1"/>
          <p:nvPr/>
        </p:nvSpPr>
        <p:spPr>
          <a:xfrm>
            <a:off x="804671" y="1965960"/>
            <a:ext cx="1559966"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000" u="none" cap="none" strike="noStrike">
                <a:solidFill>
                  <a:srgbClr val="FECE00"/>
                </a:solidFill>
                <a:latin typeface="Arial"/>
                <a:ea typeface="Arial"/>
                <a:cs typeface="Arial"/>
                <a:sym typeface="Arial"/>
              </a:rPr>
              <a:t>00</a:t>
            </a:r>
            <a:endParaRPr/>
          </a:p>
        </p:txBody>
      </p:sp>
      <p:sp>
        <p:nvSpPr>
          <p:cNvPr id="147" name="Google Shape;147;p15"/>
          <p:cNvSpPr txBox="1"/>
          <p:nvPr/>
        </p:nvSpPr>
        <p:spPr>
          <a:xfrm>
            <a:off x="804671" y="2697480"/>
            <a:ext cx="1559966" cy="64008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i="0" lang="en-US" sz="1350" u="none" cap="none" strike="noStrike">
                <a:solidFill>
                  <a:srgbClr val="FFFFFF"/>
                </a:solidFill>
                <a:latin typeface="Arial"/>
                <a:ea typeface="Arial"/>
                <a:cs typeface="Arial"/>
                <a:sym typeface="Arial"/>
              </a:rPr>
              <a:t>analisis_inicial</a:t>
            </a:r>
            <a:endParaRPr/>
          </a:p>
        </p:txBody>
      </p:sp>
      <p:sp>
        <p:nvSpPr>
          <p:cNvPr id="148" name="Google Shape;148;p15"/>
          <p:cNvSpPr txBox="1"/>
          <p:nvPr/>
        </p:nvSpPr>
        <p:spPr>
          <a:xfrm>
            <a:off x="804671" y="3337560"/>
            <a:ext cx="1559966" cy="2468879"/>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000" u="none" cap="none" strike="noStrike">
                <a:solidFill>
                  <a:srgbClr val="B0B0B0"/>
                </a:solidFill>
                <a:latin typeface="Arial"/>
                <a:ea typeface="Arial"/>
                <a:cs typeface="Arial"/>
                <a:sym typeface="Arial"/>
              </a:rPr>
              <a:t>Lectura del enunciado y definición de la función de ganancia a optimizar.</a:t>
            </a:r>
            <a:endParaRPr/>
          </a:p>
        </p:txBody>
      </p:sp>
      <p:sp>
        <p:nvSpPr>
          <p:cNvPr id="149" name="Google Shape;149;p15"/>
          <p:cNvSpPr/>
          <p:nvPr/>
        </p:nvSpPr>
        <p:spPr>
          <a:xfrm>
            <a:off x="2602382" y="3675887"/>
            <a:ext cx="256032" cy="329184"/>
          </a:xfrm>
          <a:prstGeom prst="chevron">
            <a:avLst>
              <a:gd fmla="val 50000" name="adj"/>
            </a:avLst>
          </a:prstGeom>
          <a:solidFill>
            <a:srgbClr val="01B1E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0" name="Google Shape;150;p15"/>
          <p:cNvSpPr/>
          <p:nvPr/>
        </p:nvSpPr>
        <p:spPr>
          <a:xfrm>
            <a:off x="2894990" y="1737360"/>
            <a:ext cx="1889150" cy="4206240"/>
          </a:xfrm>
          <a:prstGeom prst="rect">
            <a:avLst/>
          </a:prstGeom>
          <a:solidFill>
            <a:srgbClr val="111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1" name="Google Shape;151;p15"/>
          <p:cNvSpPr/>
          <p:nvPr/>
        </p:nvSpPr>
        <p:spPr>
          <a:xfrm>
            <a:off x="2894990" y="1737360"/>
            <a:ext cx="1889150" cy="73152"/>
          </a:xfrm>
          <a:prstGeom prst="rect">
            <a:avLst/>
          </a:prstGeom>
          <a:solidFill>
            <a:srgbClr val="FECE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2" name="Google Shape;152;p15"/>
          <p:cNvSpPr txBox="1"/>
          <p:nvPr/>
        </p:nvSpPr>
        <p:spPr>
          <a:xfrm>
            <a:off x="3059582" y="1965960"/>
            <a:ext cx="1559966"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000" u="none" cap="none" strike="noStrike">
                <a:solidFill>
                  <a:srgbClr val="FECE00"/>
                </a:solidFill>
                <a:latin typeface="Arial"/>
                <a:ea typeface="Arial"/>
                <a:cs typeface="Arial"/>
                <a:sym typeface="Arial"/>
              </a:rPr>
              <a:t>01</a:t>
            </a:r>
            <a:endParaRPr/>
          </a:p>
        </p:txBody>
      </p:sp>
      <p:sp>
        <p:nvSpPr>
          <p:cNvPr id="153" name="Google Shape;153;p15"/>
          <p:cNvSpPr txBox="1"/>
          <p:nvPr/>
        </p:nvSpPr>
        <p:spPr>
          <a:xfrm>
            <a:off x="3059582" y="2697480"/>
            <a:ext cx="1559966" cy="64008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i="0" lang="en-US" sz="1350" u="none" cap="none" strike="noStrike">
                <a:solidFill>
                  <a:srgbClr val="FFFFFF"/>
                </a:solidFill>
                <a:latin typeface="Arial"/>
                <a:ea typeface="Arial"/>
                <a:cs typeface="Arial"/>
                <a:sym typeface="Arial"/>
              </a:rPr>
              <a:t>EDA</a:t>
            </a:r>
            <a:endParaRPr/>
          </a:p>
        </p:txBody>
      </p:sp>
      <p:sp>
        <p:nvSpPr>
          <p:cNvPr id="154" name="Google Shape;154;p15"/>
          <p:cNvSpPr txBox="1"/>
          <p:nvPr/>
        </p:nvSpPr>
        <p:spPr>
          <a:xfrm>
            <a:off x="3059582" y="3337560"/>
            <a:ext cx="1559966" cy="2468879"/>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000" u="none" cap="none" strike="noStrike">
                <a:solidFill>
                  <a:srgbClr val="B0B0B0"/>
                </a:solidFill>
                <a:latin typeface="Arial"/>
                <a:ea typeface="Arial"/>
                <a:cs typeface="Arial"/>
                <a:sym typeface="Arial"/>
              </a:rPr>
              <a:t>Exploración de datos crudos y de entrenamiento; pruebas estadísticas y partición train/test.</a:t>
            </a:r>
            <a:endParaRPr/>
          </a:p>
        </p:txBody>
      </p:sp>
      <p:sp>
        <p:nvSpPr>
          <p:cNvPr id="155" name="Google Shape;155;p15"/>
          <p:cNvSpPr/>
          <p:nvPr/>
        </p:nvSpPr>
        <p:spPr>
          <a:xfrm>
            <a:off x="4857292" y="3675887"/>
            <a:ext cx="256032" cy="329184"/>
          </a:xfrm>
          <a:prstGeom prst="chevron">
            <a:avLst>
              <a:gd fmla="val 50000" name="adj"/>
            </a:avLst>
          </a:prstGeom>
          <a:solidFill>
            <a:srgbClr val="01B1E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6" name="Google Shape;156;p15"/>
          <p:cNvSpPr/>
          <p:nvPr/>
        </p:nvSpPr>
        <p:spPr>
          <a:xfrm>
            <a:off x="5149900" y="1737360"/>
            <a:ext cx="1889150" cy="4206240"/>
          </a:xfrm>
          <a:prstGeom prst="rect">
            <a:avLst/>
          </a:prstGeom>
          <a:solidFill>
            <a:srgbClr val="111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7" name="Google Shape;157;p15"/>
          <p:cNvSpPr/>
          <p:nvPr/>
        </p:nvSpPr>
        <p:spPr>
          <a:xfrm>
            <a:off x="5149900" y="1737360"/>
            <a:ext cx="1889150" cy="73152"/>
          </a:xfrm>
          <a:prstGeom prst="rect">
            <a:avLst/>
          </a:prstGeom>
          <a:solidFill>
            <a:srgbClr val="FECE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8" name="Google Shape;158;p15"/>
          <p:cNvSpPr txBox="1"/>
          <p:nvPr/>
        </p:nvSpPr>
        <p:spPr>
          <a:xfrm>
            <a:off x="5314492" y="1965960"/>
            <a:ext cx="1559966"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000" u="none" cap="none" strike="noStrike">
                <a:solidFill>
                  <a:srgbClr val="FECE00"/>
                </a:solidFill>
                <a:latin typeface="Arial"/>
                <a:ea typeface="Arial"/>
                <a:cs typeface="Arial"/>
                <a:sym typeface="Arial"/>
              </a:rPr>
              <a:t>02</a:t>
            </a:r>
            <a:endParaRPr/>
          </a:p>
        </p:txBody>
      </p:sp>
      <p:sp>
        <p:nvSpPr>
          <p:cNvPr id="159" name="Google Shape;159;p15"/>
          <p:cNvSpPr txBox="1"/>
          <p:nvPr/>
        </p:nvSpPr>
        <p:spPr>
          <a:xfrm>
            <a:off x="5314492" y="2697480"/>
            <a:ext cx="1559966" cy="64008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i="0" lang="en-US" sz="1350" u="none" cap="none" strike="noStrike">
                <a:solidFill>
                  <a:srgbClr val="FFFFFF"/>
                </a:solidFill>
                <a:latin typeface="Arial"/>
                <a:ea typeface="Arial"/>
                <a:cs typeface="Arial"/>
                <a:sym typeface="Arial"/>
              </a:rPr>
              <a:t>feature_engineer</a:t>
            </a:r>
            <a:endParaRPr/>
          </a:p>
        </p:txBody>
      </p:sp>
      <p:sp>
        <p:nvSpPr>
          <p:cNvPr id="160" name="Google Shape;160;p15"/>
          <p:cNvSpPr txBox="1"/>
          <p:nvPr/>
        </p:nvSpPr>
        <p:spPr>
          <a:xfrm>
            <a:off x="5314492" y="3337560"/>
            <a:ext cx="1559966" cy="2468879"/>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000" u="none" cap="none" strike="noStrike">
                <a:solidFill>
                  <a:srgbClr val="B0B0B0"/>
                </a:solidFill>
                <a:latin typeface="Arial"/>
                <a:ea typeface="Arial"/>
                <a:cs typeface="Arial"/>
                <a:sym typeface="Arial"/>
              </a:rPr>
              <a:t>Construcción de variables, validación estadística y agregaciones temporales.</a:t>
            </a:r>
            <a:endParaRPr/>
          </a:p>
        </p:txBody>
      </p:sp>
      <p:sp>
        <p:nvSpPr>
          <p:cNvPr id="161" name="Google Shape;161;p15"/>
          <p:cNvSpPr/>
          <p:nvPr/>
        </p:nvSpPr>
        <p:spPr>
          <a:xfrm>
            <a:off x="7112203" y="3675887"/>
            <a:ext cx="256032" cy="329184"/>
          </a:xfrm>
          <a:prstGeom prst="chevron">
            <a:avLst>
              <a:gd fmla="val 50000" name="adj"/>
            </a:avLst>
          </a:prstGeom>
          <a:solidFill>
            <a:srgbClr val="01B1E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2" name="Google Shape;162;p15"/>
          <p:cNvSpPr/>
          <p:nvPr/>
        </p:nvSpPr>
        <p:spPr>
          <a:xfrm>
            <a:off x="7404811" y="1737360"/>
            <a:ext cx="1889150" cy="4206240"/>
          </a:xfrm>
          <a:prstGeom prst="rect">
            <a:avLst/>
          </a:prstGeom>
          <a:solidFill>
            <a:srgbClr val="111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3" name="Google Shape;163;p15"/>
          <p:cNvSpPr/>
          <p:nvPr/>
        </p:nvSpPr>
        <p:spPr>
          <a:xfrm>
            <a:off x="7404811" y="1737360"/>
            <a:ext cx="1889150" cy="73152"/>
          </a:xfrm>
          <a:prstGeom prst="rect">
            <a:avLst/>
          </a:prstGeom>
          <a:solidFill>
            <a:srgbClr val="FECE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4" name="Google Shape;164;p15"/>
          <p:cNvSpPr txBox="1"/>
          <p:nvPr/>
        </p:nvSpPr>
        <p:spPr>
          <a:xfrm>
            <a:off x="7569403" y="1965960"/>
            <a:ext cx="1559966"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000" u="none" cap="none" strike="noStrike">
                <a:solidFill>
                  <a:srgbClr val="FECE00"/>
                </a:solidFill>
                <a:latin typeface="Arial"/>
                <a:ea typeface="Arial"/>
                <a:cs typeface="Arial"/>
                <a:sym typeface="Arial"/>
              </a:rPr>
              <a:t>03</a:t>
            </a:r>
            <a:endParaRPr/>
          </a:p>
        </p:txBody>
      </p:sp>
      <p:sp>
        <p:nvSpPr>
          <p:cNvPr id="165" name="Google Shape;165;p15"/>
          <p:cNvSpPr txBox="1"/>
          <p:nvPr/>
        </p:nvSpPr>
        <p:spPr>
          <a:xfrm>
            <a:off x="7569403" y="2697480"/>
            <a:ext cx="1559966" cy="64008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i="0" lang="en-US" sz="1350" u="none" cap="none" strike="noStrike">
                <a:solidFill>
                  <a:srgbClr val="FFFFFF"/>
                </a:solidFill>
                <a:latin typeface="Arial"/>
                <a:ea typeface="Arial"/>
                <a:cs typeface="Arial"/>
                <a:sym typeface="Arial"/>
              </a:rPr>
              <a:t>model_selection</a:t>
            </a:r>
            <a:endParaRPr/>
          </a:p>
        </p:txBody>
      </p:sp>
      <p:sp>
        <p:nvSpPr>
          <p:cNvPr id="166" name="Google Shape;166;p15"/>
          <p:cNvSpPr txBox="1"/>
          <p:nvPr/>
        </p:nvSpPr>
        <p:spPr>
          <a:xfrm>
            <a:off x="7569403" y="3337560"/>
            <a:ext cx="1559966" cy="2468879"/>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000" u="none" cap="none" strike="noStrike">
                <a:solidFill>
                  <a:srgbClr val="B0B0B0"/>
                </a:solidFill>
                <a:latin typeface="Arial"/>
                <a:ea typeface="Arial"/>
                <a:cs typeface="Arial"/>
                <a:sym typeface="Arial"/>
              </a:rPr>
              <a:t>Entrenamiento, evaluación y elección del modelo final; simulación en producción.</a:t>
            </a:r>
            <a:endParaRPr/>
          </a:p>
        </p:txBody>
      </p:sp>
      <p:sp>
        <p:nvSpPr>
          <p:cNvPr id="167" name="Google Shape;167;p15"/>
          <p:cNvSpPr/>
          <p:nvPr/>
        </p:nvSpPr>
        <p:spPr>
          <a:xfrm>
            <a:off x="9367113" y="3675887"/>
            <a:ext cx="256032" cy="329184"/>
          </a:xfrm>
          <a:prstGeom prst="chevron">
            <a:avLst>
              <a:gd fmla="val 50000" name="adj"/>
            </a:avLst>
          </a:prstGeom>
          <a:solidFill>
            <a:srgbClr val="01B1E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8" name="Google Shape;168;p15"/>
          <p:cNvSpPr/>
          <p:nvPr/>
        </p:nvSpPr>
        <p:spPr>
          <a:xfrm>
            <a:off x="9659721" y="1737360"/>
            <a:ext cx="1889150" cy="4206240"/>
          </a:xfrm>
          <a:prstGeom prst="rect">
            <a:avLst/>
          </a:prstGeom>
          <a:solidFill>
            <a:srgbClr val="111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9" name="Google Shape;169;p15"/>
          <p:cNvSpPr/>
          <p:nvPr/>
        </p:nvSpPr>
        <p:spPr>
          <a:xfrm>
            <a:off x="9659721" y="1737360"/>
            <a:ext cx="1889150" cy="73152"/>
          </a:xfrm>
          <a:prstGeom prst="rect">
            <a:avLst/>
          </a:prstGeom>
          <a:solidFill>
            <a:srgbClr val="FECE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0" name="Google Shape;170;p15"/>
          <p:cNvSpPr txBox="1"/>
          <p:nvPr/>
        </p:nvSpPr>
        <p:spPr>
          <a:xfrm>
            <a:off x="9824313" y="1965960"/>
            <a:ext cx="1559966"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000" u="none" cap="none" strike="noStrike">
                <a:solidFill>
                  <a:srgbClr val="FECE00"/>
                </a:solidFill>
                <a:latin typeface="Arial"/>
                <a:ea typeface="Arial"/>
                <a:cs typeface="Arial"/>
                <a:sym typeface="Arial"/>
              </a:rPr>
              <a:t>04</a:t>
            </a:r>
            <a:endParaRPr/>
          </a:p>
        </p:txBody>
      </p:sp>
      <p:sp>
        <p:nvSpPr>
          <p:cNvPr id="171" name="Google Shape;171;p15"/>
          <p:cNvSpPr txBox="1"/>
          <p:nvPr/>
        </p:nvSpPr>
        <p:spPr>
          <a:xfrm>
            <a:off x="9824313" y="2697480"/>
            <a:ext cx="1559966" cy="64008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i="0" lang="en-US" sz="1350" u="none" cap="none" strike="noStrike">
                <a:solidFill>
                  <a:srgbClr val="FFFFFF"/>
                </a:solidFill>
                <a:latin typeface="Arial"/>
                <a:ea typeface="Arial"/>
                <a:cs typeface="Arial"/>
                <a:sym typeface="Arial"/>
              </a:rPr>
              <a:t>results</a:t>
            </a:r>
            <a:endParaRPr/>
          </a:p>
        </p:txBody>
      </p:sp>
      <p:sp>
        <p:nvSpPr>
          <p:cNvPr id="172" name="Google Shape;172;p15"/>
          <p:cNvSpPr txBox="1"/>
          <p:nvPr/>
        </p:nvSpPr>
        <p:spPr>
          <a:xfrm>
            <a:off x="9824313" y="3337560"/>
            <a:ext cx="1559966" cy="2468879"/>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000" u="none" cap="none" strike="noStrike">
                <a:solidFill>
                  <a:srgbClr val="B0B0B0"/>
                </a:solidFill>
                <a:latin typeface="Arial"/>
                <a:ea typeface="Arial"/>
                <a:cs typeface="Arial"/>
                <a:sym typeface="Arial"/>
              </a:rPr>
              <a:t>Consolidación de resultados, conclusiones y entrega final.</a:t>
            </a:r>
            <a:endParaRPr/>
          </a:p>
        </p:txBody>
      </p:sp>
      <p:sp>
        <p:nvSpPr>
          <p:cNvPr id="173" name="Google Shape;173;p15"/>
          <p:cNvSpPr/>
          <p:nvPr/>
        </p:nvSpPr>
        <p:spPr>
          <a:xfrm>
            <a:off x="0" y="6537960"/>
            <a:ext cx="12191695" cy="320040"/>
          </a:xfrm>
          <a:prstGeom prst="rect">
            <a:avLst/>
          </a:prstGeom>
          <a:solidFill>
            <a:srgbClr val="0A0A0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nvGrpSpPr>
          <p:cNvPr id="174" name="Google Shape;174;p15"/>
          <p:cNvGrpSpPr/>
          <p:nvPr/>
        </p:nvGrpSpPr>
        <p:grpSpPr>
          <a:xfrm>
            <a:off x="12" y="6223211"/>
            <a:ext cx="634800" cy="634800"/>
            <a:chOff x="12" y="4508711"/>
            <a:chExt cx="634800" cy="634800"/>
          </a:xfrm>
        </p:grpSpPr>
        <p:sp>
          <p:nvSpPr>
            <p:cNvPr id="175" name="Google Shape;175;p15"/>
            <p:cNvSpPr/>
            <p:nvPr/>
          </p:nvSpPr>
          <p:spPr>
            <a:xfrm>
              <a:off x="12" y="4508711"/>
              <a:ext cx="634800" cy="634800"/>
            </a:xfrm>
            <a:prstGeom prst="round1Rect">
              <a:avLst>
                <a:gd fmla="val 28797" name="adj"/>
              </a:avLst>
            </a:prstGeom>
            <a:solidFill>
              <a:srgbClr val="FFD1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76" name="Google Shape;176;p15"/>
            <p:cNvPicPr preferRelativeResize="0"/>
            <p:nvPr/>
          </p:nvPicPr>
          <p:blipFill>
            <a:blip r:embed="rId3">
              <a:alphaModFix/>
            </a:blip>
            <a:stretch>
              <a:fillRect/>
            </a:stretch>
          </p:blipFill>
          <p:spPr>
            <a:xfrm>
              <a:off x="124673" y="4689253"/>
              <a:ext cx="397051" cy="273714"/>
            </a:xfrm>
            <a:prstGeom prst="rect">
              <a:avLst/>
            </a:prstGeom>
            <a:noFill/>
            <a:ln>
              <a:noFill/>
            </a:ln>
          </p:spPr>
        </p:pic>
      </p:grpSp>
      <p:sp>
        <p:nvSpPr>
          <p:cNvPr id="177" name="Google Shape;177;p15"/>
          <p:cNvSpPr/>
          <p:nvPr/>
        </p:nvSpPr>
        <p:spPr>
          <a:xfrm rot="10800000">
            <a:off x="11736276" y="0"/>
            <a:ext cx="455400" cy="421500"/>
          </a:xfrm>
          <a:prstGeom prst="corner">
            <a:avLst>
              <a:gd fmla="val 39228" name="adj1"/>
              <a:gd fmla="val 38336" name="adj2"/>
            </a:avLst>
          </a:prstGeom>
          <a:solidFill>
            <a:srgbClr val="FFD100"/>
          </a:solidFill>
          <a:ln>
            <a:noFill/>
          </a:ln>
        </p:spPr>
        <p:txBody>
          <a:bodyPr anchorCtr="0" anchor="ctr" bIns="60950" lIns="60950" spcFirstLastPara="1" rIns="60950" wrap="square" tIns="60950">
            <a:noAutofit/>
          </a:bodyPr>
          <a:lstStyle/>
          <a:p>
            <a:pPr indent="0" lvl="0" marL="0" rtl="0" algn="l">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6"/>
          <p:cNvSpPr/>
          <p:nvPr/>
        </p:nvSpPr>
        <p:spPr>
          <a:xfrm>
            <a:off x="0" y="0"/>
            <a:ext cx="12191695" cy="6858000"/>
          </a:xfrm>
          <a:prstGeom prst="rect">
            <a:avLst/>
          </a:prstGeom>
          <a:solidFill>
            <a:srgbClr val="1A1A1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3" name="Google Shape;183;p16"/>
          <p:cNvSpPr/>
          <p:nvPr/>
        </p:nvSpPr>
        <p:spPr>
          <a:xfrm>
            <a:off x="502920" y="457200"/>
            <a:ext cx="54864" cy="777240"/>
          </a:xfrm>
          <a:prstGeom prst="rect">
            <a:avLst/>
          </a:prstGeom>
          <a:solidFill>
            <a:srgbClr val="FECE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4" name="Google Shape;184;p16"/>
          <p:cNvSpPr txBox="1"/>
          <p:nvPr/>
        </p:nvSpPr>
        <p:spPr>
          <a:xfrm>
            <a:off x="685800" y="457200"/>
            <a:ext cx="1051560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300" u="none" cap="none" strike="noStrike">
                <a:solidFill>
                  <a:srgbClr val="B0B0B0"/>
                </a:solidFill>
                <a:latin typeface="Arial"/>
                <a:ea typeface="Arial"/>
                <a:cs typeface="Arial"/>
                <a:sym typeface="Arial"/>
              </a:rPr>
              <a:t>00_ANALISIS_INICIAL</a:t>
            </a:r>
            <a:endParaRPr/>
          </a:p>
        </p:txBody>
      </p:sp>
      <p:sp>
        <p:nvSpPr>
          <p:cNvPr id="185" name="Google Shape;185;p16"/>
          <p:cNvSpPr txBox="1"/>
          <p:nvPr/>
        </p:nvSpPr>
        <p:spPr>
          <a:xfrm>
            <a:off x="658368" y="749808"/>
            <a:ext cx="10607040" cy="5943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600" u="none" cap="none" strike="noStrike">
                <a:solidFill>
                  <a:srgbClr val="FFFFFF"/>
                </a:solidFill>
                <a:latin typeface="Arial"/>
                <a:ea typeface="Arial"/>
                <a:cs typeface="Arial"/>
                <a:sym typeface="Arial"/>
              </a:rPr>
              <a:t>CONTEXTO DEL PROBLEMA</a:t>
            </a:r>
            <a:endParaRPr/>
          </a:p>
        </p:txBody>
      </p:sp>
      <p:sp>
        <p:nvSpPr>
          <p:cNvPr id="186" name="Google Shape;186;p16"/>
          <p:cNvSpPr/>
          <p:nvPr/>
        </p:nvSpPr>
        <p:spPr>
          <a:xfrm>
            <a:off x="640080" y="1600200"/>
            <a:ext cx="5745175" cy="4800600"/>
          </a:xfrm>
          <a:prstGeom prst="rect">
            <a:avLst/>
          </a:prstGeom>
          <a:solidFill>
            <a:srgbClr val="111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7" name="Google Shape;187;p16"/>
          <p:cNvSpPr/>
          <p:nvPr/>
        </p:nvSpPr>
        <p:spPr>
          <a:xfrm>
            <a:off x="896112" y="1874520"/>
            <a:ext cx="146304" cy="146304"/>
          </a:xfrm>
          <a:prstGeom prst="ellipse">
            <a:avLst/>
          </a:prstGeom>
          <a:noFill/>
          <a:ln cap="flat" cmpd="sng" w="158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8" name="Google Shape;188;p16"/>
          <p:cNvSpPr txBox="1"/>
          <p:nvPr/>
        </p:nvSpPr>
        <p:spPr>
          <a:xfrm>
            <a:off x="1207008" y="1828800"/>
            <a:ext cx="4922215"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50" u="none" cap="none" strike="noStrike">
                <a:solidFill>
                  <a:srgbClr val="FFFFFF"/>
                </a:solidFill>
                <a:latin typeface="Arial"/>
                <a:ea typeface="Arial"/>
                <a:cs typeface="Arial"/>
                <a:sym typeface="Arial"/>
              </a:rPr>
              <a:t>Objetivo</a:t>
            </a:r>
            <a:endParaRPr/>
          </a:p>
        </p:txBody>
      </p:sp>
      <p:sp>
        <p:nvSpPr>
          <p:cNvPr id="189" name="Google Shape;189;p16"/>
          <p:cNvSpPr txBox="1"/>
          <p:nvPr/>
        </p:nvSpPr>
        <p:spPr>
          <a:xfrm>
            <a:off x="1207008" y="2103120"/>
            <a:ext cx="4922215" cy="1155191"/>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150" u="none" cap="none" strike="noStrike">
                <a:solidFill>
                  <a:srgbClr val="B0B0B0"/>
                </a:solidFill>
                <a:latin typeface="Arial"/>
                <a:ea typeface="Arial"/>
                <a:cs typeface="Arial"/>
                <a:sym typeface="Arial"/>
              </a:rPr>
              <a:t>Predecir si una transacción es fraudulenta, maximizando la ganancia de la empresa (no solo la exactitud).</a:t>
            </a:r>
            <a:endParaRPr/>
          </a:p>
        </p:txBody>
      </p:sp>
      <p:cxnSp>
        <p:nvCxnSpPr>
          <p:cNvPr id="190" name="Google Shape;190;p16"/>
          <p:cNvCxnSpPr/>
          <p:nvPr/>
        </p:nvCxnSpPr>
        <p:spPr>
          <a:xfrm>
            <a:off x="969264" y="3230880"/>
            <a:ext cx="0" cy="73152"/>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8039"/>
              </a:srgbClr>
            </a:outerShdw>
          </a:effectLst>
        </p:spPr>
      </p:cxnSp>
      <p:sp>
        <p:nvSpPr>
          <p:cNvPr id="191" name="Google Shape;191;p16"/>
          <p:cNvSpPr/>
          <p:nvPr/>
        </p:nvSpPr>
        <p:spPr>
          <a:xfrm>
            <a:off x="896112" y="3304032"/>
            <a:ext cx="146304" cy="146304"/>
          </a:xfrm>
          <a:prstGeom prst="ellipse">
            <a:avLst/>
          </a:prstGeom>
          <a:noFill/>
          <a:ln cap="flat" cmpd="sng" w="158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2" name="Google Shape;192;p16"/>
          <p:cNvSpPr txBox="1"/>
          <p:nvPr/>
        </p:nvSpPr>
        <p:spPr>
          <a:xfrm>
            <a:off x="1207008" y="3258312"/>
            <a:ext cx="4922215"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50" u="none" cap="none" strike="noStrike">
                <a:solidFill>
                  <a:srgbClr val="FFFFFF"/>
                </a:solidFill>
                <a:latin typeface="Arial"/>
                <a:ea typeface="Arial"/>
                <a:cs typeface="Arial"/>
                <a:sym typeface="Arial"/>
              </a:rPr>
              <a:t>Regla de negocio</a:t>
            </a:r>
            <a:endParaRPr/>
          </a:p>
        </p:txBody>
      </p:sp>
      <p:sp>
        <p:nvSpPr>
          <p:cNvPr id="193" name="Google Shape;193;p16"/>
          <p:cNvSpPr txBox="1"/>
          <p:nvPr/>
        </p:nvSpPr>
        <p:spPr>
          <a:xfrm>
            <a:off x="1207008" y="3532632"/>
            <a:ext cx="4922215" cy="1155191"/>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150" u="none" cap="none" strike="noStrike">
                <a:solidFill>
                  <a:srgbClr val="B0B0B0"/>
                </a:solidFill>
                <a:latin typeface="Arial"/>
                <a:ea typeface="Arial"/>
                <a:cs typeface="Arial"/>
                <a:sym typeface="Arial"/>
              </a:rPr>
              <a:t>+25% de margen por transacción legítima aprobada; -100% del monto por fraude aprobado (FN).</a:t>
            </a:r>
            <a:endParaRPr/>
          </a:p>
        </p:txBody>
      </p:sp>
      <p:cxnSp>
        <p:nvCxnSpPr>
          <p:cNvPr id="194" name="Google Shape;194;p16"/>
          <p:cNvCxnSpPr/>
          <p:nvPr/>
        </p:nvCxnSpPr>
        <p:spPr>
          <a:xfrm>
            <a:off x="969264" y="4660392"/>
            <a:ext cx="0" cy="73152"/>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8039"/>
              </a:srgbClr>
            </a:outerShdw>
          </a:effectLst>
        </p:spPr>
      </p:cxnSp>
      <p:sp>
        <p:nvSpPr>
          <p:cNvPr id="195" name="Google Shape;195;p16"/>
          <p:cNvSpPr/>
          <p:nvPr/>
        </p:nvSpPr>
        <p:spPr>
          <a:xfrm>
            <a:off x="896112" y="4733543"/>
            <a:ext cx="146304" cy="146304"/>
          </a:xfrm>
          <a:prstGeom prst="ellipse">
            <a:avLst/>
          </a:prstGeom>
          <a:noFill/>
          <a:ln cap="flat" cmpd="sng" w="158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6" name="Google Shape;196;p16"/>
          <p:cNvSpPr txBox="1"/>
          <p:nvPr/>
        </p:nvSpPr>
        <p:spPr>
          <a:xfrm>
            <a:off x="1207008" y="4687823"/>
            <a:ext cx="4922215"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50" u="none" cap="none" strike="noStrike">
                <a:solidFill>
                  <a:srgbClr val="FFFFFF"/>
                </a:solidFill>
                <a:latin typeface="Arial"/>
                <a:ea typeface="Arial"/>
                <a:cs typeface="Arial"/>
                <a:sym typeface="Arial"/>
              </a:rPr>
              <a:t>Enfoque</a:t>
            </a:r>
            <a:endParaRPr/>
          </a:p>
        </p:txBody>
      </p:sp>
      <p:sp>
        <p:nvSpPr>
          <p:cNvPr id="197" name="Google Shape;197;p16"/>
          <p:cNvSpPr txBox="1"/>
          <p:nvPr/>
        </p:nvSpPr>
        <p:spPr>
          <a:xfrm>
            <a:off x="1207008" y="4962143"/>
            <a:ext cx="4922215" cy="1155191"/>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150" u="none" cap="none" strike="noStrike">
                <a:solidFill>
                  <a:srgbClr val="B0B0B0"/>
                </a:solidFill>
                <a:latin typeface="Arial"/>
                <a:ea typeface="Arial"/>
                <a:cs typeface="Arial"/>
                <a:sym typeface="Arial"/>
              </a:rPr>
              <a:t>Cost-Sensitive Learning (Elkan, 2001): un FN cuesta 4x más que un FP.</a:t>
            </a:r>
            <a:endParaRPr/>
          </a:p>
        </p:txBody>
      </p:sp>
      <p:sp>
        <p:nvSpPr>
          <p:cNvPr id="198" name="Google Shape;198;p16"/>
          <p:cNvSpPr txBox="1"/>
          <p:nvPr/>
        </p:nvSpPr>
        <p:spPr>
          <a:xfrm>
            <a:off x="8127187" y="1600200"/>
            <a:ext cx="1712214" cy="36576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000" u="none" cap="none" strike="noStrike">
                <a:solidFill>
                  <a:srgbClr val="B0B0B0"/>
                </a:solidFill>
                <a:latin typeface="Arial"/>
                <a:ea typeface="Arial"/>
                <a:cs typeface="Arial"/>
                <a:sym typeface="Arial"/>
              </a:rPr>
              <a:t>Pred: Fraude</a:t>
            </a:r>
            <a:endParaRPr/>
          </a:p>
        </p:txBody>
      </p:sp>
      <p:sp>
        <p:nvSpPr>
          <p:cNvPr id="199" name="Google Shape;199;p16"/>
          <p:cNvSpPr txBox="1"/>
          <p:nvPr/>
        </p:nvSpPr>
        <p:spPr>
          <a:xfrm>
            <a:off x="9839401" y="1600200"/>
            <a:ext cx="1712214" cy="36576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000" u="none" cap="none" strike="noStrike">
                <a:solidFill>
                  <a:srgbClr val="B0B0B0"/>
                </a:solidFill>
                <a:latin typeface="Arial"/>
                <a:ea typeface="Arial"/>
                <a:cs typeface="Arial"/>
                <a:sym typeface="Arial"/>
              </a:rPr>
              <a:t>Pred: Legítima</a:t>
            </a:r>
            <a:endParaRPr/>
          </a:p>
        </p:txBody>
      </p:sp>
      <p:sp>
        <p:nvSpPr>
          <p:cNvPr id="200" name="Google Shape;200;p16"/>
          <p:cNvSpPr txBox="1"/>
          <p:nvPr/>
        </p:nvSpPr>
        <p:spPr>
          <a:xfrm>
            <a:off x="6659575" y="1965960"/>
            <a:ext cx="1376171" cy="22174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00" u="none" cap="none" strike="noStrike">
                <a:solidFill>
                  <a:srgbClr val="B0B0B0"/>
                </a:solidFill>
                <a:latin typeface="Arial"/>
                <a:ea typeface="Arial"/>
                <a:cs typeface="Arial"/>
                <a:sym typeface="Arial"/>
              </a:rPr>
              <a:t>Real: Fraude</a:t>
            </a:r>
            <a:endParaRPr/>
          </a:p>
        </p:txBody>
      </p:sp>
      <p:sp>
        <p:nvSpPr>
          <p:cNvPr id="201" name="Google Shape;201;p16"/>
          <p:cNvSpPr/>
          <p:nvPr/>
        </p:nvSpPr>
        <p:spPr>
          <a:xfrm>
            <a:off x="8182051" y="2020824"/>
            <a:ext cx="1602486" cy="2107691"/>
          </a:xfrm>
          <a:prstGeom prst="rect">
            <a:avLst/>
          </a:prstGeom>
          <a:solidFill>
            <a:srgbClr val="111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2" name="Google Shape;202;p16"/>
          <p:cNvSpPr/>
          <p:nvPr/>
        </p:nvSpPr>
        <p:spPr>
          <a:xfrm>
            <a:off x="8182051" y="2020824"/>
            <a:ext cx="64008" cy="2107691"/>
          </a:xfrm>
          <a:prstGeom prst="rect">
            <a:avLst/>
          </a:prstGeom>
          <a:solidFill>
            <a:srgbClr val="01B1E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3" name="Google Shape;203;p16"/>
          <p:cNvSpPr txBox="1"/>
          <p:nvPr/>
        </p:nvSpPr>
        <p:spPr>
          <a:xfrm>
            <a:off x="8364931" y="2365095"/>
            <a:ext cx="1346454"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700" u="none" cap="none" strike="noStrike">
                <a:solidFill>
                  <a:srgbClr val="FFFFFF"/>
                </a:solidFill>
                <a:latin typeface="Arial"/>
                <a:ea typeface="Arial"/>
                <a:cs typeface="Arial"/>
                <a:sym typeface="Arial"/>
              </a:rPr>
              <a:t>TP</a:t>
            </a:r>
            <a:endParaRPr/>
          </a:p>
        </p:txBody>
      </p:sp>
      <p:sp>
        <p:nvSpPr>
          <p:cNvPr id="204" name="Google Shape;204;p16"/>
          <p:cNvSpPr txBox="1"/>
          <p:nvPr/>
        </p:nvSpPr>
        <p:spPr>
          <a:xfrm>
            <a:off x="8364931" y="3207715"/>
            <a:ext cx="1346454"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50" u="none" cap="none" strike="noStrike">
                <a:solidFill>
                  <a:srgbClr val="B0B0B0"/>
                </a:solidFill>
                <a:latin typeface="Arial"/>
                <a:ea typeface="Arial"/>
                <a:cs typeface="Arial"/>
                <a:sym typeface="Arial"/>
              </a:rPr>
              <a:t>Costo = 0</a:t>
            </a:r>
            <a:endParaRPr/>
          </a:p>
        </p:txBody>
      </p:sp>
      <p:sp>
        <p:nvSpPr>
          <p:cNvPr id="205" name="Google Shape;205;p16"/>
          <p:cNvSpPr/>
          <p:nvPr/>
        </p:nvSpPr>
        <p:spPr>
          <a:xfrm>
            <a:off x="9894265" y="2020824"/>
            <a:ext cx="1602486" cy="2107691"/>
          </a:xfrm>
          <a:prstGeom prst="rect">
            <a:avLst/>
          </a:prstGeom>
          <a:solidFill>
            <a:srgbClr val="111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6" name="Google Shape;206;p16"/>
          <p:cNvSpPr/>
          <p:nvPr/>
        </p:nvSpPr>
        <p:spPr>
          <a:xfrm>
            <a:off x="9894265" y="2020824"/>
            <a:ext cx="64008" cy="2107691"/>
          </a:xfrm>
          <a:prstGeom prst="rect">
            <a:avLst/>
          </a:prstGeom>
          <a:solidFill>
            <a:srgbClr val="D65A5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7" name="Google Shape;207;p16"/>
          <p:cNvSpPr txBox="1"/>
          <p:nvPr/>
        </p:nvSpPr>
        <p:spPr>
          <a:xfrm>
            <a:off x="10077145" y="2365095"/>
            <a:ext cx="1346454"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700" u="none" cap="none" strike="noStrike">
                <a:solidFill>
                  <a:srgbClr val="FFFFFF"/>
                </a:solidFill>
                <a:latin typeface="Arial"/>
                <a:ea typeface="Arial"/>
                <a:cs typeface="Arial"/>
                <a:sym typeface="Arial"/>
              </a:rPr>
              <a:t>FN</a:t>
            </a:r>
            <a:endParaRPr/>
          </a:p>
        </p:txBody>
      </p:sp>
      <p:sp>
        <p:nvSpPr>
          <p:cNvPr id="208" name="Google Shape;208;p16"/>
          <p:cNvSpPr txBox="1"/>
          <p:nvPr/>
        </p:nvSpPr>
        <p:spPr>
          <a:xfrm>
            <a:off x="10077145" y="3207715"/>
            <a:ext cx="1346454"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50" u="none" cap="none" strike="noStrike">
                <a:solidFill>
                  <a:srgbClr val="B0B0B0"/>
                </a:solidFill>
                <a:latin typeface="Arial"/>
                <a:ea typeface="Arial"/>
                <a:cs typeface="Arial"/>
                <a:sym typeface="Arial"/>
              </a:rPr>
              <a:t>-100% monto</a:t>
            </a:r>
            <a:endParaRPr/>
          </a:p>
        </p:txBody>
      </p:sp>
      <p:sp>
        <p:nvSpPr>
          <p:cNvPr id="209" name="Google Shape;209;p16"/>
          <p:cNvSpPr txBox="1"/>
          <p:nvPr/>
        </p:nvSpPr>
        <p:spPr>
          <a:xfrm>
            <a:off x="6659575" y="4183379"/>
            <a:ext cx="1376171" cy="22174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00" u="none" cap="none" strike="noStrike">
                <a:solidFill>
                  <a:srgbClr val="B0B0B0"/>
                </a:solidFill>
                <a:latin typeface="Arial"/>
                <a:ea typeface="Arial"/>
                <a:cs typeface="Arial"/>
                <a:sym typeface="Arial"/>
              </a:rPr>
              <a:t>Real: Legítima</a:t>
            </a:r>
            <a:endParaRPr/>
          </a:p>
        </p:txBody>
      </p:sp>
      <p:sp>
        <p:nvSpPr>
          <p:cNvPr id="210" name="Google Shape;210;p16"/>
          <p:cNvSpPr/>
          <p:nvPr/>
        </p:nvSpPr>
        <p:spPr>
          <a:xfrm>
            <a:off x="8182051" y="4238243"/>
            <a:ext cx="1602486" cy="2107691"/>
          </a:xfrm>
          <a:prstGeom prst="rect">
            <a:avLst/>
          </a:prstGeom>
          <a:solidFill>
            <a:srgbClr val="111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1" name="Google Shape;211;p16"/>
          <p:cNvSpPr/>
          <p:nvPr/>
        </p:nvSpPr>
        <p:spPr>
          <a:xfrm>
            <a:off x="8182051" y="4238243"/>
            <a:ext cx="64008" cy="2107691"/>
          </a:xfrm>
          <a:prstGeom prst="rect">
            <a:avLst/>
          </a:prstGeom>
          <a:solidFill>
            <a:srgbClr val="E6A52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2" name="Google Shape;212;p16"/>
          <p:cNvSpPr txBox="1"/>
          <p:nvPr/>
        </p:nvSpPr>
        <p:spPr>
          <a:xfrm>
            <a:off x="8364931" y="4582515"/>
            <a:ext cx="1346454"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700" u="none" cap="none" strike="noStrike">
                <a:solidFill>
                  <a:srgbClr val="FFFFFF"/>
                </a:solidFill>
                <a:latin typeface="Arial"/>
                <a:ea typeface="Arial"/>
                <a:cs typeface="Arial"/>
                <a:sym typeface="Arial"/>
              </a:rPr>
              <a:t>FP</a:t>
            </a:r>
            <a:endParaRPr/>
          </a:p>
        </p:txBody>
      </p:sp>
      <p:sp>
        <p:nvSpPr>
          <p:cNvPr id="213" name="Google Shape;213;p16"/>
          <p:cNvSpPr txBox="1"/>
          <p:nvPr/>
        </p:nvSpPr>
        <p:spPr>
          <a:xfrm>
            <a:off x="8364931" y="5425135"/>
            <a:ext cx="1346454"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50" u="none" cap="none" strike="noStrike">
                <a:solidFill>
                  <a:srgbClr val="B0B0B0"/>
                </a:solidFill>
                <a:latin typeface="Arial"/>
                <a:ea typeface="Arial"/>
                <a:cs typeface="Arial"/>
                <a:sym typeface="Arial"/>
              </a:rPr>
              <a:t>-25% monto</a:t>
            </a:r>
            <a:endParaRPr/>
          </a:p>
        </p:txBody>
      </p:sp>
      <p:sp>
        <p:nvSpPr>
          <p:cNvPr id="214" name="Google Shape;214;p16"/>
          <p:cNvSpPr/>
          <p:nvPr/>
        </p:nvSpPr>
        <p:spPr>
          <a:xfrm>
            <a:off x="9894265" y="4238243"/>
            <a:ext cx="1602486" cy="2107691"/>
          </a:xfrm>
          <a:prstGeom prst="rect">
            <a:avLst/>
          </a:prstGeom>
          <a:solidFill>
            <a:srgbClr val="111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5" name="Google Shape;215;p16"/>
          <p:cNvSpPr/>
          <p:nvPr/>
        </p:nvSpPr>
        <p:spPr>
          <a:xfrm>
            <a:off x="9894265" y="4238243"/>
            <a:ext cx="64008" cy="2107691"/>
          </a:xfrm>
          <a:prstGeom prst="rect">
            <a:avLst/>
          </a:prstGeom>
          <a:solidFill>
            <a:srgbClr val="46BE7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6" name="Google Shape;216;p16"/>
          <p:cNvSpPr txBox="1"/>
          <p:nvPr/>
        </p:nvSpPr>
        <p:spPr>
          <a:xfrm>
            <a:off x="10077145" y="4582515"/>
            <a:ext cx="1346454"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700" u="none" cap="none" strike="noStrike">
                <a:solidFill>
                  <a:srgbClr val="FFFFFF"/>
                </a:solidFill>
                <a:latin typeface="Arial"/>
                <a:ea typeface="Arial"/>
                <a:cs typeface="Arial"/>
                <a:sym typeface="Arial"/>
              </a:rPr>
              <a:t>TN</a:t>
            </a:r>
            <a:endParaRPr/>
          </a:p>
        </p:txBody>
      </p:sp>
      <p:sp>
        <p:nvSpPr>
          <p:cNvPr id="217" name="Google Shape;217;p16"/>
          <p:cNvSpPr txBox="1"/>
          <p:nvPr/>
        </p:nvSpPr>
        <p:spPr>
          <a:xfrm>
            <a:off x="10077145" y="5425135"/>
            <a:ext cx="1346454"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50" u="none" cap="none" strike="noStrike">
                <a:solidFill>
                  <a:srgbClr val="B0B0B0"/>
                </a:solidFill>
                <a:latin typeface="Arial"/>
                <a:ea typeface="Arial"/>
                <a:cs typeface="Arial"/>
                <a:sym typeface="Arial"/>
              </a:rPr>
              <a:t>+25% monto</a:t>
            </a:r>
            <a:endParaRPr/>
          </a:p>
        </p:txBody>
      </p:sp>
      <p:sp>
        <p:nvSpPr>
          <p:cNvPr id="218" name="Google Shape;218;p16"/>
          <p:cNvSpPr/>
          <p:nvPr/>
        </p:nvSpPr>
        <p:spPr>
          <a:xfrm>
            <a:off x="0" y="6537960"/>
            <a:ext cx="12191695" cy="320040"/>
          </a:xfrm>
          <a:prstGeom prst="rect">
            <a:avLst/>
          </a:prstGeom>
          <a:solidFill>
            <a:srgbClr val="0A0A0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nvGrpSpPr>
          <p:cNvPr id="219" name="Google Shape;219;p16"/>
          <p:cNvGrpSpPr/>
          <p:nvPr/>
        </p:nvGrpSpPr>
        <p:grpSpPr>
          <a:xfrm>
            <a:off x="12" y="6223211"/>
            <a:ext cx="634800" cy="634800"/>
            <a:chOff x="12" y="4508711"/>
            <a:chExt cx="634800" cy="634800"/>
          </a:xfrm>
        </p:grpSpPr>
        <p:sp>
          <p:nvSpPr>
            <p:cNvPr id="220" name="Google Shape;220;p16"/>
            <p:cNvSpPr/>
            <p:nvPr/>
          </p:nvSpPr>
          <p:spPr>
            <a:xfrm>
              <a:off x="12" y="4508711"/>
              <a:ext cx="634800" cy="634800"/>
            </a:xfrm>
            <a:prstGeom prst="round1Rect">
              <a:avLst>
                <a:gd fmla="val 28797" name="adj"/>
              </a:avLst>
            </a:prstGeom>
            <a:solidFill>
              <a:srgbClr val="FFD1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21" name="Google Shape;221;p16"/>
            <p:cNvPicPr preferRelativeResize="0"/>
            <p:nvPr/>
          </p:nvPicPr>
          <p:blipFill>
            <a:blip r:embed="rId3">
              <a:alphaModFix/>
            </a:blip>
            <a:stretch>
              <a:fillRect/>
            </a:stretch>
          </p:blipFill>
          <p:spPr>
            <a:xfrm>
              <a:off x="124673" y="4689253"/>
              <a:ext cx="397051" cy="273714"/>
            </a:xfrm>
            <a:prstGeom prst="rect">
              <a:avLst/>
            </a:prstGeom>
            <a:noFill/>
            <a:ln>
              <a:noFill/>
            </a:ln>
          </p:spPr>
        </p:pic>
      </p:grpSp>
      <p:sp>
        <p:nvSpPr>
          <p:cNvPr id="222" name="Google Shape;222;p16"/>
          <p:cNvSpPr/>
          <p:nvPr/>
        </p:nvSpPr>
        <p:spPr>
          <a:xfrm rot="10800000">
            <a:off x="11736276" y="0"/>
            <a:ext cx="455400" cy="421500"/>
          </a:xfrm>
          <a:prstGeom prst="corner">
            <a:avLst>
              <a:gd fmla="val 39228" name="adj1"/>
              <a:gd fmla="val 38336" name="adj2"/>
            </a:avLst>
          </a:prstGeom>
          <a:solidFill>
            <a:srgbClr val="FFD100"/>
          </a:solidFill>
          <a:ln>
            <a:noFill/>
          </a:ln>
        </p:spPr>
        <p:txBody>
          <a:bodyPr anchorCtr="0" anchor="ctr" bIns="60950" lIns="60950" spcFirstLastPara="1" rIns="60950" wrap="square" tIns="60950">
            <a:noAutofit/>
          </a:bodyPr>
          <a:lstStyle/>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17"/>
          <p:cNvSpPr/>
          <p:nvPr/>
        </p:nvSpPr>
        <p:spPr>
          <a:xfrm>
            <a:off x="0" y="0"/>
            <a:ext cx="12191695" cy="6858000"/>
          </a:xfrm>
          <a:prstGeom prst="rect">
            <a:avLst/>
          </a:prstGeom>
          <a:solidFill>
            <a:srgbClr val="1A1A1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8" name="Google Shape;228;p17"/>
          <p:cNvSpPr/>
          <p:nvPr/>
        </p:nvSpPr>
        <p:spPr>
          <a:xfrm>
            <a:off x="502920" y="457200"/>
            <a:ext cx="54864" cy="777240"/>
          </a:xfrm>
          <a:prstGeom prst="rect">
            <a:avLst/>
          </a:prstGeom>
          <a:solidFill>
            <a:srgbClr val="FECE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9" name="Google Shape;229;p17"/>
          <p:cNvSpPr txBox="1"/>
          <p:nvPr/>
        </p:nvSpPr>
        <p:spPr>
          <a:xfrm>
            <a:off x="685800" y="457200"/>
            <a:ext cx="1051560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300" u="none" cap="none" strike="noStrike">
                <a:solidFill>
                  <a:srgbClr val="B0B0B0"/>
                </a:solidFill>
                <a:latin typeface="Arial"/>
                <a:ea typeface="Arial"/>
                <a:cs typeface="Arial"/>
                <a:sym typeface="Arial"/>
              </a:rPr>
              <a:t>FUNCIÓN DE GANANCIA</a:t>
            </a:r>
            <a:endParaRPr/>
          </a:p>
        </p:txBody>
      </p:sp>
      <p:sp>
        <p:nvSpPr>
          <p:cNvPr id="230" name="Google Shape;230;p17"/>
          <p:cNvSpPr txBox="1"/>
          <p:nvPr/>
        </p:nvSpPr>
        <p:spPr>
          <a:xfrm>
            <a:off x="658368" y="749808"/>
            <a:ext cx="10607040" cy="5943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600" u="none" cap="none" strike="noStrike">
                <a:solidFill>
                  <a:srgbClr val="FFFFFF"/>
                </a:solidFill>
                <a:latin typeface="Arial"/>
                <a:ea typeface="Arial"/>
                <a:cs typeface="Arial"/>
                <a:sym typeface="Arial"/>
              </a:rPr>
              <a:t>FORMULACIÓN MATEMÁTICA A OPTIMIZAR</a:t>
            </a:r>
            <a:endParaRPr/>
          </a:p>
        </p:txBody>
      </p:sp>
      <p:sp>
        <p:nvSpPr>
          <p:cNvPr id="231" name="Google Shape;231;p17"/>
          <p:cNvSpPr/>
          <p:nvPr/>
        </p:nvSpPr>
        <p:spPr>
          <a:xfrm>
            <a:off x="2194560" y="1481328"/>
            <a:ext cx="7772400" cy="960120"/>
          </a:xfrm>
          <a:prstGeom prst="rect">
            <a:avLst/>
          </a:prstGeom>
          <a:solidFill>
            <a:srgbClr val="000000"/>
          </a:solidFill>
          <a:ln cap="flat" cmpd="sng" w="19050">
            <a:solidFill>
              <a:srgbClr val="FECE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2" name="Google Shape;232;p17"/>
          <p:cNvSpPr txBox="1"/>
          <p:nvPr/>
        </p:nvSpPr>
        <p:spPr>
          <a:xfrm>
            <a:off x="2194560" y="1627632"/>
            <a:ext cx="7772400" cy="4572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2600" u="none" cap="none" strike="noStrike">
                <a:solidFill>
                  <a:srgbClr val="FECE00"/>
                </a:solidFill>
                <a:latin typeface="Arial"/>
                <a:ea typeface="Arial"/>
                <a:cs typeface="Arial"/>
                <a:sym typeface="Arial"/>
              </a:rPr>
              <a:t>J = −1.00 · FN − 0.25 · FP</a:t>
            </a:r>
            <a:endParaRPr/>
          </a:p>
        </p:txBody>
      </p:sp>
      <p:sp>
        <p:nvSpPr>
          <p:cNvPr id="233" name="Google Shape;233;p17"/>
          <p:cNvSpPr txBox="1"/>
          <p:nvPr/>
        </p:nvSpPr>
        <p:spPr>
          <a:xfrm>
            <a:off x="2194560" y="2139696"/>
            <a:ext cx="7772400" cy="29260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1" lang="en-US" sz="1050" u="none" cap="none" strike="noStrike">
                <a:solidFill>
                  <a:srgbClr val="B0B0B0"/>
                </a:solidFill>
                <a:latin typeface="Arial"/>
                <a:ea typeface="Arial"/>
                <a:cs typeface="Arial"/>
                <a:sym typeface="Arial"/>
              </a:rPr>
              <a:t>Función objetivo del modelo — daño financiero causado por los errores (≤ 0; óptimo = 0)</a:t>
            </a:r>
            <a:endParaRPr/>
          </a:p>
        </p:txBody>
      </p:sp>
      <p:sp>
        <p:nvSpPr>
          <p:cNvPr id="234" name="Google Shape;234;p17"/>
          <p:cNvSpPr/>
          <p:nvPr/>
        </p:nvSpPr>
        <p:spPr>
          <a:xfrm>
            <a:off x="640080" y="2788920"/>
            <a:ext cx="2020824" cy="2834640"/>
          </a:xfrm>
          <a:prstGeom prst="rect">
            <a:avLst/>
          </a:prstGeom>
          <a:solidFill>
            <a:srgbClr val="111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5" name="Google Shape;235;p17"/>
          <p:cNvSpPr/>
          <p:nvPr/>
        </p:nvSpPr>
        <p:spPr>
          <a:xfrm>
            <a:off x="640080" y="2788920"/>
            <a:ext cx="2020824" cy="54864"/>
          </a:xfrm>
          <a:prstGeom prst="rect">
            <a:avLst/>
          </a:prstGeom>
          <a:solidFill>
            <a:srgbClr val="FECE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6" name="Google Shape;236;p17"/>
          <p:cNvSpPr txBox="1"/>
          <p:nvPr/>
        </p:nvSpPr>
        <p:spPr>
          <a:xfrm>
            <a:off x="777240" y="2971800"/>
            <a:ext cx="1746504"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00" u="none" cap="none" strike="noStrike">
                <a:solidFill>
                  <a:srgbClr val="FECE00"/>
                </a:solidFill>
                <a:latin typeface="Arial"/>
                <a:ea typeface="Arial"/>
                <a:cs typeface="Arial"/>
                <a:sym typeface="Arial"/>
              </a:rPr>
              <a:t>PASO 1</a:t>
            </a:r>
            <a:endParaRPr/>
          </a:p>
        </p:txBody>
      </p:sp>
      <p:sp>
        <p:nvSpPr>
          <p:cNvPr id="237" name="Google Shape;237;p17"/>
          <p:cNvSpPr txBox="1"/>
          <p:nvPr/>
        </p:nvSpPr>
        <p:spPr>
          <a:xfrm>
            <a:off x="777240" y="3246120"/>
            <a:ext cx="1746504" cy="82296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i="0" lang="en-US" sz="1250" u="none" cap="none" strike="noStrike">
                <a:solidFill>
                  <a:srgbClr val="FFFFFF"/>
                </a:solidFill>
                <a:latin typeface="Arial"/>
                <a:ea typeface="Arial"/>
                <a:cs typeface="Arial"/>
                <a:sym typeface="Arial"/>
              </a:rPr>
              <a:t>Ganancia general</a:t>
            </a:r>
            <a:endParaRPr/>
          </a:p>
        </p:txBody>
      </p:sp>
      <p:sp>
        <p:nvSpPr>
          <p:cNvPr id="238" name="Google Shape;238;p17"/>
          <p:cNvSpPr txBox="1"/>
          <p:nvPr/>
        </p:nvSpPr>
        <p:spPr>
          <a:xfrm>
            <a:off x="777240" y="4206240"/>
            <a:ext cx="1746504" cy="12801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950" u="none" cap="none" strike="noStrike">
                <a:solidFill>
                  <a:srgbClr val="96E6AA"/>
                </a:solidFill>
                <a:latin typeface="Courier New"/>
                <a:ea typeface="Courier New"/>
                <a:cs typeface="Courier New"/>
                <a:sym typeface="Courier New"/>
              </a:rPr>
              <a:t>J_gen = 0.25·TN − 1.00·FN − 0.25·FP</a:t>
            </a:r>
            <a:endParaRPr/>
          </a:p>
        </p:txBody>
      </p:sp>
      <p:sp>
        <p:nvSpPr>
          <p:cNvPr id="239" name="Google Shape;239;p17"/>
          <p:cNvSpPr/>
          <p:nvPr/>
        </p:nvSpPr>
        <p:spPr>
          <a:xfrm>
            <a:off x="2679192" y="4078224"/>
            <a:ext cx="219456" cy="256032"/>
          </a:xfrm>
          <a:prstGeom prst="chevron">
            <a:avLst>
              <a:gd fmla="val 50000" name="adj"/>
            </a:avLst>
          </a:prstGeom>
          <a:solidFill>
            <a:srgbClr val="01B1E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0" name="Google Shape;240;p17"/>
          <p:cNvSpPr/>
          <p:nvPr/>
        </p:nvSpPr>
        <p:spPr>
          <a:xfrm>
            <a:off x="2862072" y="2788920"/>
            <a:ext cx="2020824" cy="2834640"/>
          </a:xfrm>
          <a:prstGeom prst="rect">
            <a:avLst/>
          </a:prstGeom>
          <a:solidFill>
            <a:srgbClr val="111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1" name="Google Shape;241;p17"/>
          <p:cNvSpPr/>
          <p:nvPr/>
        </p:nvSpPr>
        <p:spPr>
          <a:xfrm>
            <a:off x="2862072" y="2788920"/>
            <a:ext cx="2020824" cy="54864"/>
          </a:xfrm>
          <a:prstGeom prst="rect">
            <a:avLst/>
          </a:prstGeom>
          <a:solidFill>
            <a:srgbClr val="FECE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2" name="Google Shape;242;p17"/>
          <p:cNvSpPr txBox="1"/>
          <p:nvPr/>
        </p:nvSpPr>
        <p:spPr>
          <a:xfrm>
            <a:off x="2999232" y="2971800"/>
            <a:ext cx="1746504"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00" u="none" cap="none" strike="noStrike">
                <a:solidFill>
                  <a:srgbClr val="FECE00"/>
                </a:solidFill>
                <a:latin typeface="Arial"/>
                <a:ea typeface="Arial"/>
                <a:cs typeface="Arial"/>
                <a:sym typeface="Arial"/>
              </a:rPr>
              <a:t>PASO 2</a:t>
            </a:r>
            <a:endParaRPr/>
          </a:p>
        </p:txBody>
      </p:sp>
      <p:sp>
        <p:nvSpPr>
          <p:cNvPr id="243" name="Google Shape;243;p17"/>
          <p:cNvSpPr txBox="1"/>
          <p:nvPr/>
        </p:nvSpPr>
        <p:spPr>
          <a:xfrm>
            <a:off x="2999232" y="3246120"/>
            <a:ext cx="1746504" cy="82296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i="0" lang="en-US" sz="1250" u="none" cap="none" strike="noStrike">
                <a:solidFill>
                  <a:srgbClr val="FFFFFF"/>
                </a:solidFill>
                <a:latin typeface="Arial"/>
                <a:ea typeface="Arial"/>
                <a:cs typeface="Arial"/>
                <a:sym typeface="Arial"/>
              </a:rPr>
              <a:t>Término constante</a:t>
            </a:r>
            <a:endParaRPr/>
          </a:p>
        </p:txBody>
      </p:sp>
      <p:sp>
        <p:nvSpPr>
          <p:cNvPr id="244" name="Google Shape;244;p17"/>
          <p:cNvSpPr txBox="1"/>
          <p:nvPr/>
        </p:nvSpPr>
        <p:spPr>
          <a:xfrm>
            <a:off x="2999232" y="4206240"/>
            <a:ext cx="1746504" cy="12801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950" u="none" cap="none" strike="noStrike">
                <a:solidFill>
                  <a:srgbClr val="96E6AA"/>
                </a:solidFill>
                <a:latin typeface="Courier New"/>
                <a:ea typeface="Courier New"/>
                <a:cs typeface="Courier New"/>
                <a:sym typeface="Courier New"/>
              </a:rPr>
              <a:t>C = 0.25 · N_legítimas</a:t>
            </a:r>
            <a:endParaRPr/>
          </a:p>
        </p:txBody>
      </p:sp>
      <p:sp>
        <p:nvSpPr>
          <p:cNvPr id="245" name="Google Shape;245;p17"/>
          <p:cNvSpPr/>
          <p:nvPr/>
        </p:nvSpPr>
        <p:spPr>
          <a:xfrm>
            <a:off x="4901183" y="4078224"/>
            <a:ext cx="219456" cy="256032"/>
          </a:xfrm>
          <a:prstGeom prst="chevron">
            <a:avLst>
              <a:gd fmla="val 50000" name="adj"/>
            </a:avLst>
          </a:prstGeom>
          <a:solidFill>
            <a:srgbClr val="01B1E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6" name="Google Shape;246;p17"/>
          <p:cNvSpPr/>
          <p:nvPr/>
        </p:nvSpPr>
        <p:spPr>
          <a:xfrm>
            <a:off x="5084064" y="2788920"/>
            <a:ext cx="2020824" cy="2834640"/>
          </a:xfrm>
          <a:prstGeom prst="rect">
            <a:avLst/>
          </a:prstGeom>
          <a:solidFill>
            <a:srgbClr val="111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7" name="Google Shape;247;p17"/>
          <p:cNvSpPr/>
          <p:nvPr/>
        </p:nvSpPr>
        <p:spPr>
          <a:xfrm>
            <a:off x="5084064" y="2788920"/>
            <a:ext cx="2020824" cy="54864"/>
          </a:xfrm>
          <a:prstGeom prst="rect">
            <a:avLst/>
          </a:prstGeom>
          <a:solidFill>
            <a:srgbClr val="FECE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8" name="Google Shape;248;p17"/>
          <p:cNvSpPr txBox="1"/>
          <p:nvPr/>
        </p:nvSpPr>
        <p:spPr>
          <a:xfrm>
            <a:off x="5221224" y="2971800"/>
            <a:ext cx="1746504"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00" u="none" cap="none" strike="noStrike">
                <a:solidFill>
                  <a:srgbClr val="FECE00"/>
                </a:solidFill>
                <a:latin typeface="Arial"/>
                <a:ea typeface="Arial"/>
                <a:cs typeface="Arial"/>
                <a:sym typeface="Arial"/>
              </a:rPr>
              <a:t>PASO 3</a:t>
            </a:r>
            <a:endParaRPr/>
          </a:p>
        </p:txBody>
      </p:sp>
      <p:sp>
        <p:nvSpPr>
          <p:cNvPr id="249" name="Google Shape;249;p17"/>
          <p:cNvSpPr txBox="1"/>
          <p:nvPr/>
        </p:nvSpPr>
        <p:spPr>
          <a:xfrm>
            <a:off x="5221224" y="3246120"/>
            <a:ext cx="1746504" cy="82296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i="0" lang="en-US" sz="1250" u="none" cap="none" strike="noStrike">
                <a:solidFill>
                  <a:srgbClr val="FFFFFF"/>
                </a:solidFill>
                <a:latin typeface="Arial"/>
                <a:ea typeface="Arial"/>
                <a:cs typeface="Arial"/>
                <a:sym typeface="Arial"/>
              </a:rPr>
              <a:t>Función a optimizar</a:t>
            </a:r>
            <a:endParaRPr/>
          </a:p>
        </p:txBody>
      </p:sp>
      <p:sp>
        <p:nvSpPr>
          <p:cNvPr id="250" name="Google Shape;250;p17"/>
          <p:cNvSpPr txBox="1"/>
          <p:nvPr/>
        </p:nvSpPr>
        <p:spPr>
          <a:xfrm>
            <a:off x="5221224" y="4206240"/>
            <a:ext cx="1746504" cy="12801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950" u="none" cap="none" strike="noStrike">
                <a:solidFill>
                  <a:srgbClr val="96E6AA"/>
                </a:solidFill>
                <a:latin typeface="Courier New"/>
                <a:ea typeface="Courier New"/>
                <a:cs typeface="Courier New"/>
                <a:sym typeface="Courier New"/>
              </a:rPr>
              <a:t>J = J_gen − C</a:t>
            </a:r>
            <a:endParaRPr/>
          </a:p>
        </p:txBody>
      </p:sp>
      <p:sp>
        <p:nvSpPr>
          <p:cNvPr id="251" name="Google Shape;251;p17"/>
          <p:cNvSpPr/>
          <p:nvPr/>
        </p:nvSpPr>
        <p:spPr>
          <a:xfrm>
            <a:off x="7123176" y="4078224"/>
            <a:ext cx="219456" cy="256032"/>
          </a:xfrm>
          <a:prstGeom prst="chevron">
            <a:avLst>
              <a:gd fmla="val 50000" name="adj"/>
            </a:avLst>
          </a:prstGeom>
          <a:solidFill>
            <a:srgbClr val="01B1E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2" name="Google Shape;252;p17"/>
          <p:cNvSpPr/>
          <p:nvPr/>
        </p:nvSpPr>
        <p:spPr>
          <a:xfrm>
            <a:off x="7306056" y="2788920"/>
            <a:ext cx="2020824" cy="2834640"/>
          </a:xfrm>
          <a:prstGeom prst="rect">
            <a:avLst/>
          </a:prstGeom>
          <a:solidFill>
            <a:srgbClr val="111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3" name="Google Shape;253;p17"/>
          <p:cNvSpPr/>
          <p:nvPr/>
        </p:nvSpPr>
        <p:spPr>
          <a:xfrm>
            <a:off x="7306056" y="2788920"/>
            <a:ext cx="2020824" cy="54864"/>
          </a:xfrm>
          <a:prstGeom prst="rect">
            <a:avLst/>
          </a:prstGeom>
          <a:solidFill>
            <a:srgbClr val="FECE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4" name="Google Shape;254;p17"/>
          <p:cNvSpPr txBox="1"/>
          <p:nvPr/>
        </p:nvSpPr>
        <p:spPr>
          <a:xfrm>
            <a:off x="7443216" y="2971800"/>
            <a:ext cx="1746504"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00" u="none" cap="none" strike="noStrike">
                <a:solidFill>
                  <a:srgbClr val="FECE00"/>
                </a:solidFill>
                <a:latin typeface="Arial"/>
                <a:ea typeface="Arial"/>
                <a:cs typeface="Arial"/>
                <a:sym typeface="Arial"/>
              </a:rPr>
              <a:t>PASO 4</a:t>
            </a:r>
            <a:endParaRPr/>
          </a:p>
        </p:txBody>
      </p:sp>
      <p:sp>
        <p:nvSpPr>
          <p:cNvPr id="255" name="Google Shape;255;p17"/>
          <p:cNvSpPr txBox="1"/>
          <p:nvPr/>
        </p:nvSpPr>
        <p:spPr>
          <a:xfrm>
            <a:off x="7443216" y="3246120"/>
            <a:ext cx="1746504" cy="82296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i="0" lang="en-US" sz="1250" u="none" cap="none" strike="noStrike">
                <a:solidFill>
                  <a:srgbClr val="FFFFFF"/>
                </a:solidFill>
                <a:latin typeface="Arial"/>
                <a:ea typeface="Arial"/>
                <a:cs typeface="Arial"/>
                <a:sym typeface="Arial"/>
              </a:rPr>
              <a:t>Umbral óptimo teórico</a:t>
            </a:r>
            <a:endParaRPr/>
          </a:p>
        </p:txBody>
      </p:sp>
      <p:sp>
        <p:nvSpPr>
          <p:cNvPr id="256" name="Google Shape;256;p17"/>
          <p:cNvSpPr txBox="1"/>
          <p:nvPr/>
        </p:nvSpPr>
        <p:spPr>
          <a:xfrm>
            <a:off x="7443216" y="4206240"/>
            <a:ext cx="1746504" cy="12801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950" u="none" cap="none" strike="noStrike">
                <a:solidFill>
                  <a:srgbClr val="96E6AA"/>
                </a:solidFill>
                <a:latin typeface="Courier New"/>
                <a:ea typeface="Courier New"/>
                <a:cs typeface="Courier New"/>
                <a:sym typeface="Courier New"/>
              </a:rPr>
              <a:t>p* = 0.25 / 1.25 = 0.20</a:t>
            </a:r>
            <a:endParaRPr/>
          </a:p>
        </p:txBody>
      </p:sp>
      <p:sp>
        <p:nvSpPr>
          <p:cNvPr id="257" name="Google Shape;257;p17"/>
          <p:cNvSpPr/>
          <p:nvPr/>
        </p:nvSpPr>
        <p:spPr>
          <a:xfrm>
            <a:off x="9345168" y="4078224"/>
            <a:ext cx="219456" cy="256032"/>
          </a:xfrm>
          <a:prstGeom prst="chevron">
            <a:avLst>
              <a:gd fmla="val 50000" name="adj"/>
            </a:avLst>
          </a:prstGeom>
          <a:solidFill>
            <a:srgbClr val="01B1E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8" name="Google Shape;258;p17"/>
          <p:cNvSpPr/>
          <p:nvPr/>
        </p:nvSpPr>
        <p:spPr>
          <a:xfrm>
            <a:off x="9528048" y="2788920"/>
            <a:ext cx="2020824" cy="2834640"/>
          </a:xfrm>
          <a:prstGeom prst="rect">
            <a:avLst/>
          </a:prstGeom>
          <a:solidFill>
            <a:srgbClr val="111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9" name="Google Shape;259;p17"/>
          <p:cNvSpPr/>
          <p:nvPr/>
        </p:nvSpPr>
        <p:spPr>
          <a:xfrm>
            <a:off x="9528048" y="2788920"/>
            <a:ext cx="2020824" cy="54864"/>
          </a:xfrm>
          <a:prstGeom prst="rect">
            <a:avLst/>
          </a:prstGeom>
          <a:solidFill>
            <a:srgbClr val="FECE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0" name="Google Shape;260;p17"/>
          <p:cNvSpPr txBox="1"/>
          <p:nvPr/>
        </p:nvSpPr>
        <p:spPr>
          <a:xfrm>
            <a:off x="9665208" y="2971800"/>
            <a:ext cx="1746504"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00" u="none" cap="none" strike="noStrike">
                <a:solidFill>
                  <a:srgbClr val="FECE00"/>
                </a:solidFill>
                <a:latin typeface="Arial"/>
                <a:ea typeface="Arial"/>
                <a:cs typeface="Arial"/>
                <a:sym typeface="Arial"/>
              </a:rPr>
              <a:t>PASO 5</a:t>
            </a:r>
            <a:endParaRPr/>
          </a:p>
        </p:txBody>
      </p:sp>
      <p:sp>
        <p:nvSpPr>
          <p:cNvPr id="261" name="Google Shape;261;p17"/>
          <p:cNvSpPr txBox="1"/>
          <p:nvPr/>
        </p:nvSpPr>
        <p:spPr>
          <a:xfrm>
            <a:off x="9665208" y="3246120"/>
            <a:ext cx="1746504" cy="82296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i="0" lang="en-US" sz="1250" u="none" cap="none" strike="noStrike">
                <a:solidFill>
                  <a:srgbClr val="FFFFFF"/>
                </a:solidFill>
                <a:latin typeface="Arial"/>
                <a:ea typeface="Arial"/>
                <a:cs typeface="Arial"/>
                <a:sym typeface="Arial"/>
              </a:rPr>
              <a:t>En la práctica</a:t>
            </a:r>
            <a:endParaRPr/>
          </a:p>
        </p:txBody>
      </p:sp>
      <p:sp>
        <p:nvSpPr>
          <p:cNvPr id="262" name="Google Shape;262;p17"/>
          <p:cNvSpPr txBox="1"/>
          <p:nvPr/>
        </p:nvSpPr>
        <p:spPr>
          <a:xfrm>
            <a:off x="9665208" y="4206240"/>
            <a:ext cx="1746504" cy="12801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950" u="none" cap="none" strike="noStrike">
                <a:solidFill>
                  <a:srgbClr val="96E6AA"/>
                </a:solidFill>
                <a:latin typeface="Courier New"/>
                <a:ea typeface="Courier New"/>
                <a:cs typeface="Courier New"/>
                <a:sym typeface="Courier New"/>
              </a:rPr>
              <a:t>TH óptimo calibrado vía sweep sobre test</a:t>
            </a:r>
            <a:endParaRPr/>
          </a:p>
        </p:txBody>
      </p:sp>
      <p:sp>
        <p:nvSpPr>
          <p:cNvPr id="263" name="Google Shape;263;p17"/>
          <p:cNvSpPr/>
          <p:nvPr/>
        </p:nvSpPr>
        <p:spPr>
          <a:xfrm>
            <a:off x="0" y="6537960"/>
            <a:ext cx="12191695" cy="320040"/>
          </a:xfrm>
          <a:prstGeom prst="rect">
            <a:avLst/>
          </a:prstGeom>
          <a:solidFill>
            <a:srgbClr val="0A0A0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nvGrpSpPr>
          <p:cNvPr id="264" name="Google Shape;264;p17"/>
          <p:cNvGrpSpPr/>
          <p:nvPr/>
        </p:nvGrpSpPr>
        <p:grpSpPr>
          <a:xfrm>
            <a:off x="12" y="6223211"/>
            <a:ext cx="634800" cy="634800"/>
            <a:chOff x="12" y="4508711"/>
            <a:chExt cx="634800" cy="634800"/>
          </a:xfrm>
        </p:grpSpPr>
        <p:sp>
          <p:nvSpPr>
            <p:cNvPr id="265" name="Google Shape;265;p17"/>
            <p:cNvSpPr/>
            <p:nvPr/>
          </p:nvSpPr>
          <p:spPr>
            <a:xfrm>
              <a:off x="12" y="4508711"/>
              <a:ext cx="634800" cy="634800"/>
            </a:xfrm>
            <a:prstGeom prst="round1Rect">
              <a:avLst>
                <a:gd fmla="val 28797" name="adj"/>
              </a:avLst>
            </a:prstGeom>
            <a:solidFill>
              <a:srgbClr val="FFD1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66" name="Google Shape;266;p17"/>
            <p:cNvPicPr preferRelativeResize="0"/>
            <p:nvPr/>
          </p:nvPicPr>
          <p:blipFill>
            <a:blip r:embed="rId3">
              <a:alphaModFix/>
            </a:blip>
            <a:stretch>
              <a:fillRect/>
            </a:stretch>
          </p:blipFill>
          <p:spPr>
            <a:xfrm>
              <a:off x="124673" y="4689253"/>
              <a:ext cx="397051" cy="273714"/>
            </a:xfrm>
            <a:prstGeom prst="rect">
              <a:avLst/>
            </a:prstGeom>
            <a:noFill/>
            <a:ln>
              <a:noFill/>
            </a:ln>
          </p:spPr>
        </p:pic>
      </p:grpSp>
      <p:sp>
        <p:nvSpPr>
          <p:cNvPr id="267" name="Google Shape;267;p17"/>
          <p:cNvSpPr/>
          <p:nvPr/>
        </p:nvSpPr>
        <p:spPr>
          <a:xfrm rot="10800000">
            <a:off x="11736276" y="0"/>
            <a:ext cx="455400" cy="421500"/>
          </a:xfrm>
          <a:prstGeom prst="corner">
            <a:avLst>
              <a:gd fmla="val 39228" name="adj1"/>
              <a:gd fmla="val 38336" name="adj2"/>
            </a:avLst>
          </a:prstGeom>
          <a:solidFill>
            <a:srgbClr val="FFD100"/>
          </a:solidFill>
          <a:ln>
            <a:noFill/>
          </a:ln>
        </p:spPr>
        <p:txBody>
          <a:bodyPr anchorCtr="0" anchor="ctr" bIns="60950" lIns="60950" spcFirstLastPara="1" rIns="60950" wrap="square" tIns="60950">
            <a:noAutofit/>
          </a:bodyPr>
          <a:lstStyle/>
          <a:p>
            <a:pPr indent="0" lvl="0" marL="0" rtl="0" algn="l">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18"/>
          <p:cNvSpPr/>
          <p:nvPr/>
        </p:nvSpPr>
        <p:spPr>
          <a:xfrm>
            <a:off x="0" y="0"/>
            <a:ext cx="12191695" cy="6858000"/>
          </a:xfrm>
          <a:prstGeom prst="rect">
            <a:avLst/>
          </a:prstGeom>
          <a:solidFill>
            <a:srgbClr val="1A1A1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3" name="Google Shape;273;p18"/>
          <p:cNvSpPr/>
          <p:nvPr/>
        </p:nvSpPr>
        <p:spPr>
          <a:xfrm>
            <a:off x="502920" y="457200"/>
            <a:ext cx="54864" cy="777240"/>
          </a:xfrm>
          <a:prstGeom prst="rect">
            <a:avLst/>
          </a:prstGeom>
          <a:solidFill>
            <a:srgbClr val="FECE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4" name="Google Shape;274;p18"/>
          <p:cNvSpPr txBox="1"/>
          <p:nvPr/>
        </p:nvSpPr>
        <p:spPr>
          <a:xfrm>
            <a:off x="685800" y="457200"/>
            <a:ext cx="1051560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300" u="none" cap="none" strike="noStrike">
                <a:solidFill>
                  <a:srgbClr val="B0B0B0"/>
                </a:solidFill>
                <a:latin typeface="Arial"/>
                <a:ea typeface="Arial"/>
                <a:cs typeface="Arial"/>
                <a:sym typeface="Arial"/>
              </a:rPr>
              <a:t>01_EDA — EDA_RAW</a:t>
            </a:r>
            <a:endParaRPr/>
          </a:p>
        </p:txBody>
      </p:sp>
      <p:sp>
        <p:nvSpPr>
          <p:cNvPr id="275" name="Google Shape;275;p18"/>
          <p:cNvSpPr txBox="1"/>
          <p:nvPr/>
        </p:nvSpPr>
        <p:spPr>
          <a:xfrm>
            <a:off x="658368" y="749808"/>
            <a:ext cx="10607040" cy="5943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600" u="none" cap="none" strike="noStrike">
                <a:solidFill>
                  <a:srgbClr val="FFFFFF"/>
                </a:solidFill>
                <a:latin typeface="Arial"/>
                <a:ea typeface="Arial"/>
                <a:cs typeface="Arial"/>
                <a:sym typeface="Arial"/>
              </a:rPr>
              <a:t>DISTRIBUCIÓN Y MAGNITUD DEL FRAUDE</a:t>
            </a:r>
            <a:endParaRPr/>
          </a:p>
        </p:txBody>
      </p:sp>
      <p:sp>
        <p:nvSpPr>
          <p:cNvPr id="276" name="Google Shape;276;p18"/>
          <p:cNvSpPr/>
          <p:nvPr/>
        </p:nvSpPr>
        <p:spPr>
          <a:xfrm>
            <a:off x="640080" y="1600200"/>
            <a:ext cx="7253935" cy="4800600"/>
          </a:xfrm>
          <a:prstGeom prst="rect">
            <a:avLst/>
          </a:prstGeom>
          <a:solidFill>
            <a:srgbClr val="111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7" name="Google Shape;277;p18"/>
          <p:cNvSpPr/>
          <p:nvPr/>
        </p:nvSpPr>
        <p:spPr>
          <a:xfrm>
            <a:off x="896112" y="1874520"/>
            <a:ext cx="146304" cy="146304"/>
          </a:xfrm>
          <a:prstGeom prst="ellipse">
            <a:avLst/>
          </a:prstGeom>
          <a:noFill/>
          <a:ln cap="flat" cmpd="sng" w="158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8" name="Google Shape;278;p18"/>
          <p:cNvSpPr txBox="1"/>
          <p:nvPr/>
        </p:nvSpPr>
        <p:spPr>
          <a:xfrm>
            <a:off x="1207008" y="1828800"/>
            <a:ext cx="6430975"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50" u="none" cap="none" strike="noStrike">
                <a:solidFill>
                  <a:srgbClr val="FFFFFF"/>
                </a:solidFill>
                <a:latin typeface="Arial"/>
                <a:ea typeface="Arial"/>
                <a:cs typeface="Arial"/>
                <a:sym typeface="Arial"/>
              </a:rPr>
              <a:t>Tamaño del dataset</a:t>
            </a:r>
            <a:endParaRPr/>
          </a:p>
        </p:txBody>
      </p:sp>
      <p:sp>
        <p:nvSpPr>
          <p:cNvPr id="279" name="Google Shape;279;p18"/>
          <p:cNvSpPr txBox="1"/>
          <p:nvPr/>
        </p:nvSpPr>
        <p:spPr>
          <a:xfrm>
            <a:off x="1207008" y="2103120"/>
            <a:ext cx="6430975" cy="797813"/>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150" u="none" cap="none" strike="noStrike">
                <a:solidFill>
                  <a:srgbClr val="B0B0B0"/>
                </a:solidFill>
                <a:latin typeface="Arial"/>
                <a:ea typeface="Arial"/>
                <a:cs typeface="Arial"/>
                <a:sym typeface="Arial"/>
              </a:rPr>
              <a:t>150,000 transacciones, 19 columnas. Periodo 2020-03-08 a 2020-04-21 (44 días).</a:t>
            </a:r>
            <a:endParaRPr/>
          </a:p>
        </p:txBody>
      </p:sp>
      <p:cxnSp>
        <p:nvCxnSpPr>
          <p:cNvPr id="280" name="Google Shape;280;p18"/>
          <p:cNvCxnSpPr/>
          <p:nvPr/>
        </p:nvCxnSpPr>
        <p:spPr>
          <a:xfrm>
            <a:off x="969264" y="2873502"/>
            <a:ext cx="0" cy="73152"/>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8039"/>
              </a:srgbClr>
            </a:outerShdw>
          </a:effectLst>
        </p:spPr>
      </p:cxnSp>
      <p:sp>
        <p:nvSpPr>
          <p:cNvPr id="281" name="Google Shape;281;p18"/>
          <p:cNvSpPr/>
          <p:nvPr/>
        </p:nvSpPr>
        <p:spPr>
          <a:xfrm>
            <a:off x="896112" y="2946654"/>
            <a:ext cx="146304" cy="146304"/>
          </a:xfrm>
          <a:prstGeom prst="ellipse">
            <a:avLst/>
          </a:prstGeom>
          <a:noFill/>
          <a:ln cap="flat" cmpd="sng" w="158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2" name="Google Shape;282;p18"/>
          <p:cNvSpPr txBox="1"/>
          <p:nvPr/>
        </p:nvSpPr>
        <p:spPr>
          <a:xfrm>
            <a:off x="1207008" y="2900934"/>
            <a:ext cx="6430975"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50" u="none" cap="none" strike="noStrike">
                <a:solidFill>
                  <a:srgbClr val="FFFFFF"/>
                </a:solidFill>
                <a:latin typeface="Arial"/>
                <a:ea typeface="Arial"/>
                <a:cs typeface="Arial"/>
                <a:sym typeface="Arial"/>
              </a:rPr>
              <a:t>Fraude diario</a:t>
            </a:r>
            <a:endParaRPr/>
          </a:p>
        </p:txBody>
      </p:sp>
      <p:sp>
        <p:nvSpPr>
          <p:cNvPr id="283" name="Google Shape;283;p18"/>
          <p:cNvSpPr txBox="1"/>
          <p:nvPr/>
        </p:nvSpPr>
        <p:spPr>
          <a:xfrm>
            <a:off x="1207008" y="3175254"/>
            <a:ext cx="6430975" cy="797813"/>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150" u="none" cap="none" strike="noStrike">
                <a:solidFill>
                  <a:srgbClr val="B0B0B0"/>
                </a:solidFill>
                <a:latin typeface="Arial"/>
                <a:ea typeface="Arial"/>
                <a:cs typeface="Arial"/>
                <a:sym typeface="Arial"/>
              </a:rPr>
              <a:t>la tasa de fraude diaria fluctúa entre ~3% y ~6%, sin tendencia marcada de crecimiento en el periodo.</a:t>
            </a:r>
            <a:endParaRPr/>
          </a:p>
        </p:txBody>
      </p:sp>
      <p:cxnSp>
        <p:nvCxnSpPr>
          <p:cNvPr id="284" name="Google Shape;284;p18"/>
          <p:cNvCxnSpPr/>
          <p:nvPr/>
        </p:nvCxnSpPr>
        <p:spPr>
          <a:xfrm>
            <a:off x="969264" y="3945636"/>
            <a:ext cx="0" cy="73151"/>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8039"/>
              </a:srgbClr>
            </a:outerShdw>
          </a:effectLst>
        </p:spPr>
      </p:cxnSp>
      <p:sp>
        <p:nvSpPr>
          <p:cNvPr id="285" name="Google Shape;285;p18"/>
          <p:cNvSpPr/>
          <p:nvPr/>
        </p:nvSpPr>
        <p:spPr>
          <a:xfrm>
            <a:off x="896112" y="4018787"/>
            <a:ext cx="146304" cy="146304"/>
          </a:xfrm>
          <a:prstGeom prst="ellipse">
            <a:avLst/>
          </a:prstGeom>
          <a:noFill/>
          <a:ln cap="flat" cmpd="sng" w="158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6" name="Google Shape;286;p18"/>
          <p:cNvSpPr txBox="1"/>
          <p:nvPr/>
        </p:nvSpPr>
        <p:spPr>
          <a:xfrm>
            <a:off x="1207008" y="3973068"/>
            <a:ext cx="6430975"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50" u="none" cap="none" strike="noStrike">
                <a:solidFill>
                  <a:srgbClr val="FFFFFF"/>
                </a:solidFill>
                <a:latin typeface="Arial"/>
                <a:ea typeface="Arial"/>
                <a:cs typeface="Arial"/>
                <a:sym typeface="Arial"/>
              </a:rPr>
              <a:t>Impacto económico</a:t>
            </a:r>
            <a:endParaRPr/>
          </a:p>
        </p:txBody>
      </p:sp>
      <p:sp>
        <p:nvSpPr>
          <p:cNvPr id="287" name="Google Shape;287;p18"/>
          <p:cNvSpPr txBox="1"/>
          <p:nvPr/>
        </p:nvSpPr>
        <p:spPr>
          <a:xfrm>
            <a:off x="1207008" y="4247388"/>
            <a:ext cx="6430975" cy="797813"/>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150" u="none" cap="none" strike="noStrike">
                <a:solidFill>
                  <a:srgbClr val="B0B0B0"/>
                </a:solidFill>
                <a:latin typeface="Arial"/>
                <a:ea typeface="Arial"/>
                <a:cs typeface="Arial"/>
                <a:sym typeface="Arial"/>
              </a:rPr>
              <a:t>bajo la regla 25%/100% se construyó una tabla de ganancia/pérdida acumulada, asumiendo que el fraude confirmado es fraude no contenido (hipótesis de trabajo).</a:t>
            </a:r>
            <a:endParaRPr/>
          </a:p>
        </p:txBody>
      </p:sp>
      <p:cxnSp>
        <p:nvCxnSpPr>
          <p:cNvPr id="288" name="Google Shape;288;p18"/>
          <p:cNvCxnSpPr/>
          <p:nvPr/>
        </p:nvCxnSpPr>
        <p:spPr>
          <a:xfrm>
            <a:off x="969264" y="5017770"/>
            <a:ext cx="0" cy="73151"/>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8039"/>
              </a:srgbClr>
            </a:outerShdw>
          </a:effectLst>
        </p:spPr>
      </p:cxnSp>
      <p:sp>
        <p:nvSpPr>
          <p:cNvPr id="289" name="Google Shape;289;p18"/>
          <p:cNvSpPr/>
          <p:nvPr/>
        </p:nvSpPr>
        <p:spPr>
          <a:xfrm>
            <a:off x="896112" y="5090921"/>
            <a:ext cx="146304" cy="146304"/>
          </a:xfrm>
          <a:prstGeom prst="ellipse">
            <a:avLst/>
          </a:prstGeom>
          <a:noFill/>
          <a:ln cap="flat" cmpd="sng" w="158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0" name="Google Shape;290;p18"/>
          <p:cNvSpPr txBox="1"/>
          <p:nvPr/>
        </p:nvSpPr>
        <p:spPr>
          <a:xfrm>
            <a:off x="1207008" y="5045201"/>
            <a:ext cx="6430975"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50" u="none" cap="none" strike="noStrike">
                <a:solidFill>
                  <a:srgbClr val="FFFFFF"/>
                </a:solidFill>
                <a:latin typeface="Arial"/>
                <a:ea typeface="Arial"/>
                <a:cs typeface="Arial"/>
                <a:sym typeface="Arial"/>
              </a:rPr>
              <a:t>Calidad de datos</a:t>
            </a:r>
            <a:endParaRPr/>
          </a:p>
        </p:txBody>
      </p:sp>
      <p:sp>
        <p:nvSpPr>
          <p:cNvPr id="291" name="Google Shape;291;p18"/>
          <p:cNvSpPr txBox="1"/>
          <p:nvPr/>
        </p:nvSpPr>
        <p:spPr>
          <a:xfrm>
            <a:off x="1207008" y="5319521"/>
            <a:ext cx="6430975" cy="797813"/>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150" u="none" cap="none" strike="noStrike">
                <a:solidFill>
                  <a:srgbClr val="B0B0B0"/>
                </a:solidFill>
                <a:latin typeface="Arial"/>
                <a:ea typeface="Arial"/>
                <a:cs typeface="Arial"/>
                <a:sym typeface="Arial"/>
              </a:rPr>
              <a:t>variables candidatas a ID identificadas y depuradas; revisión de nulos, ceros y concentración en variables categóricas.</a:t>
            </a:r>
            <a:endParaRPr/>
          </a:p>
        </p:txBody>
      </p:sp>
      <p:sp>
        <p:nvSpPr>
          <p:cNvPr id="292" name="Google Shape;292;p18"/>
          <p:cNvSpPr/>
          <p:nvPr/>
        </p:nvSpPr>
        <p:spPr>
          <a:xfrm>
            <a:off x="8168335" y="1600200"/>
            <a:ext cx="3383280" cy="1478279"/>
          </a:xfrm>
          <a:prstGeom prst="rect">
            <a:avLst/>
          </a:prstGeom>
          <a:solidFill>
            <a:srgbClr val="111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3" name="Google Shape;293;p18"/>
          <p:cNvSpPr txBox="1"/>
          <p:nvPr/>
        </p:nvSpPr>
        <p:spPr>
          <a:xfrm>
            <a:off x="8351215" y="1673352"/>
            <a:ext cx="3017520" cy="88696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600" u="none" cap="none" strike="noStrike">
                <a:solidFill>
                  <a:srgbClr val="FECE00"/>
                </a:solidFill>
                <a:latin typeface="Arial"/>
                <a:ea typeface="Arial"/>
                <a:cs typeface="Arial"/>
                <a:sym typeface="Arial"/>
              </a:rPr>
              <a:t>150,000</a:t>
            </a:r>
            <a:endParaRPr/>
          </a:p>
        </p:txBody>
      </p:sp>
      <p:sp>
        <p:nvSpPr>
          <p:cNvPr id="294" name="Google Shape;294;p18"/>
          <p:cNvSpPr txBox="1"/>
          <p:nvPr/>
        </p:nvSpPr>
        <p:spPr>
          <a:xfrm>
            <a:off x="8351215" y="2516733"/>
            <a:ext cx="3017520" cy="51739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150" u="none" cap="none" strike="noStrike">
                <a:solidFill>
                  <a:srgbClr val="B0B0B0"/>
                </a:solidFill>
                <a:latin typeface="Arial"/>
                <a:ea typeface="Arial"/>
                <a:cs typeface="Arial"/>
                <a:sym typeface="Arial"/>
              </a:rPr>
              <a:t>transacciones</a:t>
            </a:r>
            <a:endParaRPr/>
          </a:p>
        </p:txBody>
      </p:sp>
      <p:sp>
        <p:nvSpPr>
          <p:cNvPr id="295" name="Google Shape;295;p18"/>
          <p:cNvSpPr/>
          <p:nvPr/>
        </p:nvSpPr>
        <p:spPr>
          <a:xfrm>
            <a:off x="8168335" y="3261360"/>
            <a:ext cx="3383280" cy="1478279"/>
          </a:xfrm>
          <a:prstGeom prst="rect">
            <a:avLst/>
          </a:prstGeom>
          <a:solidFill>
            <a:srgbClr val="111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6" name="Google Shape;296;p18"/>
          <p:cNvSpPr txBox="1"/>
          <p:nvPr/>
        </p:nvSpPr>
        <p:spPr>
          <a:xfrm>
            <a:off x="8351215" y="3334512"/>
            <a:ext cx="3017520" cy="88696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600" u="none" cap="none" strike="noStrike">
                <a:solidFill>
                  <a:srgbClr val="FECE00"/>
                </a:solidFill>
                <a:latin typeface="Arial"/>
                <a:ea typeface="Arial"/>
                <a:cs typeface="Arial"/>
                <a:sym typeface="Arial"/>
              </a:rPr>
              <a:t>7,500</a:t>
            </a:r>
            <a:endParaRPr/>
          </a:p>
        </p:txBody>
      </p:sp>
      <p:sp>
        <p:nvSpPr>
          <p:cNvPr id="297" name="Google Shape;297;p18"/>
          <p:cNvSpPr txBox="1"/>
          <p:nvPr/>
        </p:nvSpPr>
        <p:spPr>
          <a:xfrm>
            <a:off x="8351215" y="4177893"/>
            <a:ext cx="3017520" cy="51739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150" u="none" cap="none" strike="noStrike">
                <a:solidFill>
                  <a:srgbClr val="B0B0B0"/>
                </a:solidFill>
                <a:latin typeface="Arial"/>
                <a:ea typeface="Arial"/>
                <a:cs typeface="Arial"/>
                <a:sym typeface="Arial"/>
              </a:rPr>
              <a:t>fraudes (5.0%)</a:t>
            </a:r>
            <a:endParaRPr/>
          </a:p>
        </p:txBody>
      </p:sp>
      <p:sp>
        <p:nvSpPr>
          <p:cNvPr id="298" name="Google Shape;298;p18"/>
          <p:cNvSpPr/>
          <p:nvPr/>
        </p:nvSpPr>
        <p:spPr>
          <a:xfrm>
            <a:off x="8168335" y="4922520"/>
            <a:ext cx="3383280" cy="1478279"/>
          </a:xfrm>
          <a:prstGeom prst="rect">
            <a:avLst/>
          </a:prstGeom>
          <a:solidFill>
            <a:srgbClr val="111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9" name="Google Shape;299;p18"/>
          <p:cNvSpPr txBox="1"/>
          <p:nvPr/>
        </p:nvSpPr>
        <p:spPr>
          <a:xfrm>
            <a:off x="8351215" y="4995672"/>
            <a:ext cx="3017520" cy="88696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600" u="none" cap="none" strike="noStrike">
                <a:solidFill>
                  <a:srgbClr val="FECE00"/>
                </a:solidFill>
                <a:latin typeface="Arial"/>
                <a:ea typeface="Arial"/>
                <a:cs typeface="Arial"/>
                <a:sym typeface="Arial"/>
              </a:rPr>
              <a:t>44</a:t>
            </a:r>
            <a:endParaRPr/>
          </a:p>
        </p:txBody>
      </p:sp>
      <p:sp>
        <p:nvSpPr>
          <p:cNvPr id="300" name="Google Shape;300;p18"/>
          <p:cNvSpPr txBox="1"/>
          <p:nvPr/>
        </p:nvSpPr>
        <p:spPr>
          <a:xfrm>
            <a:off x="8351215" y="5839053"/>
            <a:ext cx="3017520" cy="51739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150" u="none" cap="none" strike="noStrike">
                <a:solidFill>
                  <a:srgbClr val="B0B0B0"/>
                </a:solidFill>
                <a:latin typeface="Arial"/>
                <a:ea typeface="Arial"/>
                <a:cs typeface="Arial"/>
                <a:sym typeface="Arial"/>
              </a:rPr>
              <a:t>días de historia</a:t>
            </a:r>
            <a:endParaRPr/>
          </a:p>
        </p:txBody>
      </p:sp>
      <p:sp>
        <p:nvSpPr>
          <p:cNvPr id="301" name="Google Shape;301;p18"/>
          <p:cNvSpPr/>
          <p:nvPr/>
        </p:nvSpPr>
        <p:spPr>
          <a:xfrm>
            <a:off x="0" y="6537960"/>
            <a:ext cx="12191695" cy="320040"/>
          </a:xfrm>
          <a:prstGeom prst="rect">
            <a:avLst/>
          </a:prstGeom>
          <a:solidFill>
            <a:srgbClr val="0A0A0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nvGrpSpPr>
          <p:cNvPr id="302" name="Google Shape;302;p18"/>
          <p:cNvGrpSpPr/>
          <p:nvPr/>
        </p:nvGrpSpPr>
        <p:grpSpPr>
          <a:xfrm>
            <a:off x="12" y="6223211"/>
            <a:ext cx="634800" cy="634800"/>
            <a:chOff x="12" y="4508711"/>
            <a:chExt cx="634800" cy="634800"/>
          </a:xfrm>
        </p:grpSpPr>
        <p:sp>
          <p:nvSpPr>
            <p:cNvPr id="303" name="Google Shape;303;p18"/>
            <p:cNvSpPr/>
            <p:nvPr/>
          </p:nvSpPr>
          <p:spPr>
            <a:xfrm>
              <a:off x="12" y="4508711"/>
              <a:ext cx="634800" cy="634800"/>
            </a:xfrm>
            <a:prstGeom prst="round1Rect">
              <a:avLst>
                <a:gd fmla="val 28797" name="adj"/>
              </a:avLst>
            </a:prstGeom>
            <a:solidFill>
              <a:srgbClr val="FFD1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04" name="Google Shape;304;p18"/>
            <p:cNvPicPr preferRelativeResize="0"/>
            <p:nvPr/>
          </p:nvPicPr>
          <p:blipFill>
            <a:blip r:embed="rId3">
              <a:alphaModFix/>
            </a:blip>
            <a:stretch>
              <a:fillRect/>
            </a:stretch>
          </p:blipFill>
          <p:spPr>
            <a:xfrm>
              <a:off x="124673" y="4689253"/>
              <a:ext cx="397051" cy="273714"/>
            </a:xfrm>
            <a:prstGeom prst="rect">
              <a:avLst/>
            </a:prstGeom>
            <a:noFill/>
            <a:ln>
              <a:noFill/>
            </a:ln>
          </p:spPr>
        </p:pic>
      </p:grpSp>
      <p:sp>
        <p:nvSpPr>
          <p:cNvPr id="305" name="Google Shape;305;p18"/>
          <p:cNvSpPr/>
          <p:nvPr/>
        </p:nvSpPr>
        <p:spPr>
          <a:xfrm rot="10800000">
            <a:off x="11736276" y="0"/>
            <a:ext cx="455400" cy="421500"/>
          </a:xfrm>
          <a:prstGeom prst="corner">
            <a:avLst>
              <a:gd fmla="val 39228" name="adj1"/>
              <a:gd fmla="val 38336" name="adj2"/>
            </a:avLst>
          </a:prstGeom>
          <a:solidFill>
            <a:srgbClr val="FFD100"/>
          </a:solidFill>
          <a:ln>
            <a:noFill/>
          </a:ln>
        </p:spPr>
        <p:txBody>
          <a:bodyPr anchorCtr="0" anchor="ctr" bIns="60950" lIns="60950" spcFirstLastPara="1" rIns="60950" wrap="square" tIns="60950">
            <a:noAutofit/>
          </a:bodyPr>
          <a:lstStyle/>
          <a:p>
            <a:pPr indent="0" lvl="0" marL="0" rtl="0" algn="l">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19"/>
          <p:cNvSpPr/>
          <p:nvPr/>
        </p:nvSpPr>
        <p:spPr>
          <a:xfrm>
            <a:off x="0" y="0"/>
            <a:ext cx="12191695" cy="6858000"/>
          </a:xfrm>
          <a:prstGeom prst="rect">
            <a:avLst/>
          </a:prstGeom>
          <a:solidFill>
            <a:srgbClr val="1A1A1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1" name="Google Shape;311;p19"/>
          <p:cNvSpPr/>
          <p:nvPr/>
        </p:nvSpPr>
        <p:spPr>
          <a:xfrm>
            <a:off x="502920" y="457200"/>
            <a:ext cx="54864" cy="777240"/>
          </a:xfrm>
          <a:prstGeom prst="rect">
            <a:avLst/>
          </a:prstGeom>
          <a:solidFill>
            <a:srgbClr val="FECE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2" name="Google Shape;312;p19"/>
          <p:cNvSpPr txBox="1"/>
          <p:nvPr/>
        </p:nvSpPr>
        <p:spPr>
          <a:xfrm>
            <a:off x="685800" y="457200"/>
            <a:ext cx="1051560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300" u="none" cap="none" strike="noStrike">
                <a:solidFill>
                  <a:srgbClr val="B0B0B0"/>
                </a:solidFill>
                <a:latin typeface="Arial"/>
                <a:ea typeface="Arial"/>
                <a:cs typeface="Arial"/>
                <a:sym typeface="Arial"/>
              </a:rPr>
              <a:t>01_EDA — EDA_TRAIN (02_EDA_train.ipynb)</a:t>
            </a:r>
            <a:endParaRPr/>
          </a:p>
        </p:txBody>
      </p:sp>
      <p:sp>
        <p:nvSpPr>
          <p:cNvPr id="313" name="Google Shape;313;p19"/>
          <p:cNvSpPr txBox="1"/>
          <p:nvPr/>
        </p:nvSpPr>
        <p:spPr>
          <a:xfrm>
            <a:off x="658368" y="749808"/>
            <a:ext cx="10607040" cy="5943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600" u="none" cap="none" strike="noStrike">
                <a:solidFill>
                  <a:srgbClr val="FFFFFF"/>
                </a:solidFill>
                <a:latin typeface="Arial"/>
                <a:ea typeface="Arial"/>
                <a:cs typeface="Arial"/>
                <a:sym typeface="Arial"/>
              </a:rPr>
              <a:t>PARTICIÓN TRAIN/TEST: POR QUÉ TEMPORAL</a:t>
            </a:r>
            <a:endParaRPr/>
          </a:p>
        </p:txBody>
      </p:sp>
      <p:sp>
        <p:nvSpPr>
          <p:cNvPr id="314" name="Google Shape;314;p19"/>
          <p:cNvSpPr txBox="1"/>
          <p:nvPr/>
        </p:nvSpPr>
        <p:spPr>
          <a:xfrm>
            <a:off x="640080" y="1399032"/>
            <a:ext cx="10908792"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00" u="none" cap="none" strike="noStrike">
                <a:solidFill>
                  <a:srgbClr val="B0B0B0"/>
                </a:solidFill>
                <a:latin typeface="Arial"/>
                <a:ea typeface="Arial"/>
                <a:cs typeface="Arial"/>
                <a:sym typeface="Arial"/>
              </a:rPr>
              <a:t>PARTICIÓN TEMPORAL (44 DÍAS)</a:t>
            </a:r>
            <a:endParaRPr/>
          </a:p>
        </p:txBody>
      </p:sp>
      <p:sp>
        <p:nvSpPr>
          <p:cNvPr id="315" name="Google Shape;315;p19"/>
          <p:cNvSpPr/>
          <p:nvPr/>
        </p:nvSpPr>
        <p:spPr>
          <a:xfrm>
            <a:off x="640080" y="1691640"/>
            <a:ext cx="7963418" cy="914400"/>
          </a:xfrm>
          <a:prstGeom prst="rect">
            <a:avLst/>
          </a:prstGeom>
          <a:solidFill>
            <a:srgbClr val="08080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6" name="Google Shape;316;p19"/>
          <p:cNvSpPr/>
          <p:nvPr/>
        </p:nvSpPr>
        <p:spPr>
          <a:xfrm>
            <a:off x="640080" y="1691640"/>
            <a:ext cx="7963418" cy="82296"/>
          </a:xfrm>
          <a:prstGeom prst="rect">
            <a:avLst/>
          </a:prstGeom>
          <a:solidFill>
            <a:srgbClr val="FECE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7" name="Google Shape;317;p19"/>
          <p:cNvSpPr txBox="1"/>
          <p:nvPr/>
        </p:nvSpPr>
        <p:spPr>
          <a:xfrm>
            <a:off x="777240" y="1837944"/>
            <a:ext cx="7689098"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300" u="none" cap="none" strike="noStrike">
                <a:solidFill>
                  <a:srgbClr val="FECE00"/>
                </a:solidFill>
                <a:latin typeface="Arial"/>
                <a:ea typeface="Arial"/>
                <a:cs typeface="Arial"/>
                <a:sym typeface="Arial"/>
              </a:rPr>
              <a:t>TRAIN</a:t>
            </a:r>
            <a:endParaRPr/>
          </a:p>
        </p:txBody>
      </p:sp>
      <p:sp>
        <p:nvSpPr>
          <p:cNvPr id="318" name="Google Shape;318;p19"/>
          <p:cNvSpPr txBox="1"/>
          <p:nvPr/>
        </p:nvSpPr>
        <p:spPr>
          <a:xfrm>
            <a:off x="777240" y="2112264"/>
            <a:ext cx="7689098" cy="20116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850" u="none" cap="none" strike="noStrike">
                <a:solidFill>
                  <a:srgbClr val="B0B0B0"/>
                </a:solidFill>
                <a:latin typeface="Arial"/>
                <a:ea typeface="Arial"/>
                <a:cs typeface="Arial"/>
                <a:sym typeface="Arial"/>
              </a:rPr>
              <a:t>2020-03-08 → 2020-04-09</a:t>
            </a:r>
            <a:endParaRPr/>
          </a:p>
        </p:txBody>
      </p:sp>
      <p:sp>
        <p:nvSpPr>
          <p:cNvPr id="319" name="Google Shape;319;p19"/>
          <p:cNvSpPr txBox="1"/>
          <p:nvPr/>
        </p:nvSpPr>
        <p:spPr>
          <a:xfrm>
            <a:off x="777240" y="2331720"/>
            <a:ext cx="7689098" cy="20116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850" u="none" cap="none" strike="noStrike">
                <a:solidFill>
                  <a:srgbClr val="B0B0B0"/>
                </a:solidFill>
                <a:latin typeface="Arial"/>
                <a:ea typeface="Arial"/>
                <a:cs typeface="Arial"/>
                <a:sym typeface="Arial"/>
              </a:rPr>
              <a:t>104,981 filas · 5.18% fraude</a:t>
            </a:r>
            <a:endParaRPr/>
          </a:p>
        </p:txBody>
      </p:sp>
      <p:sp>
        <p:nvSpPr>
          <p:cNvPr id="320" name="Google Shape;320;p19"/>
          <p:cNvSpPr/>
          <p:nvPr/>
        </p:nvSpPr>
        <p:spPr>
          <a:xfrm>
            <a:off x="8603498" y="1691640"/>
            <a:ext cx="2945373" cy="914400"/>
          </a:xfrm>
          <a:prstGeom prst="rect">
            <a:avLst/>
          </a:prstGeom>
          <a:solidFill>
            <a:srgbClr val="08080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1" name="Google Shape;321;p19"/>
          <p:cNvSpPr/>
          <p:nvPr/>
        </p:nvSpPr>
        <p:spPr>
          <a:xfrm>
            <a:off x="8603498" y="1691640"/>
            <a:ext cx="2945373" cy="82296"/>
          </a:xfrm>
          <a:prstGeom prst="rect">
            <a:avLst/>
          </a:prstGeom>
          <a:solidFill>
            <a:srgbClr val="01B1E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2" name="Google Shape;322;p19"/>
          <p:cNvSpPr txBox="1"/>
          <p:nvPr/>
        </p:nvSpPr>
        <p:spPr>
          <a:xfrm>
            <a:off x="8740658" y="1837944"/>
            <a:ext cx="2671053"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300" u="none" cap="none" strike="noStrike">
                <a:solidFill>
                  <a:srgbClr val="01B1EC"/>
                </a:solidFill>
                <a:latin typeface="Arial"/>
                <a:ea typeface="Arial"/>
                <a:cs typeface="Arial"/>
                <a:sym typeface="Arial"/>
              </a:rPr>
              <a:t>TEST</a:t>
            </a:r>
            <a:endParaRPr/>
          </a:p>
        </p:txBody>
      </p:sp>
      <p:sp>
        <p:nvSpPr>
          <p:cNvPr id="323" name="Google Shape;323;p19"/>
          <p:cNvSpPr txBox="1"/>
          <p:nvPr/>
        </p:nvSpPr>
        <p:spPr>
          <a:xfrm>
            <a:off x="8740658" y="2112264"/>
            <a:ext cx="2671053" cy="20116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850" u="none" cap="none" strike="noStrike">
                <a:solidFill>
                  <a:srgbClr val="B0B0B0"/>
                </a:solidFill>
                <a:latin typeface="Arial"/>
                <a:ea typeface="Arial"/>
                <a:cs typeface="Arial"/>
                <a:sym typeface="Arial"/>
              </a:rPr>
              <a:t>2020-04-10 → 2020-04-21</a:t>
            </a:r>
            <a:endParaRPr/>
          </a:p>
        </p:txBody>
      </p:sp>
      <p:sp>
        <p:nvSpPr>
          <p:cNvPr id="324" name="Google Shape;324;p19"/>
          <p:cNvSpPr txBox="1"/>
          <p:nvPr/>
        </p:nvSpPr>
        <p:spPr>
          <a:xfrm>
            <a:off x="8740658" y="2331720"/>
            <a:ext cx="2671053" cy="20116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850" u="none" cap="none" strike="noStrike">
                <a:solidFill>
                  <a:srgbClr val="B0B0B0"/>
                </a:solidFill>
                <a:latin typeface="Arial"/>
                <a:ea typeface="Arial"/>
                <a:cs typeface="Arial"/>
                <a:sym typeface="Arial"/>
              </a:rPr>
              <a:t>45,019 filas · 4.57% fraude</a:t>
            </a:r>
            <a:endParaRPr/>
          </a:p>
        </p:txBody>
      </p:sp>
      <p:sp>
        <p:nvSpPr>
          <p:cNvPr id="325" name="Google Shape;325;p19"/>
          <p:cNvSpPr txBox="1"/>
          <p:nvPr/>
        </p:nvSpPr>
        <p:spPr>
          <a:xfrm>
            <a:off x="640080" y="2697480"/>
            <a:ext cx="1090879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1" lang="en-US" sz="1000" u="none" cap="none" strike="noStrike">
                <a:solidFill>
                  <a:srgbClr val="01B1EC"/>
                </a:solidFill>
                <a:latin typeface="Arial"/>
                <a:ea typeface="Arial"/>
                <a:cs typeface="Arial"/>
                <a:sym typeface="Arial"/>
              </a:rPr>
              <a:t>Split temporal (train_test_split_time, test_size≈0.311) con align_to_day=True — evita fraccionar un mismo día entre particiones.</a:t>
            </a:r>
            <a:endParaRPr/>
          </a:p>
        </p:txBody>
      </p:sp>
      <p:sp>
        <p:nvSpPr>
          <p:cNvPr id="326" name="Google Shape;326;p19"/>
          <p:cNvSpPr/>
          <p:nvPr/>
        </p:nvSpPr>
        <p:spPr>
          <a:xfrm>
            <a:off x="640080" y="3108960"/>
            <a:ext cx="10908792" cy="3154679"/>
          </a:xfrm>
          <a:prstGeom prst="rect">
            <a:avLst/>
          </a:prstGeom>
          <a:solidFill>
            <a:srgbClr val="111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7" name="Google Shape;327;p19"/>
          <p:cNvSpPr/>
          <p:nvPr/>
        </p:nvSpPr>
        <p:spPr>
          <a:xfrm>
            <a:off x="896112" y="3383280"/>
            <a:ext cx="146304" cy="146304"/>
          </a:xfrm>
          <a:prstGeom prst="ellipse">
            <a:avLst/>
          </a:prstGeom>
          <a:noFill/>
          <a:ln cap="flat" cmpd="sng" w="158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8" name="Google Shape;328;p19"/>
          <p:cNvSpPr txBox="1"/>
          <p:nvPr/>
        </p:nvSpPr>
        <p:spPr>
          <a:xfrm>
            <a:off x="1207008" y="3337560"/>
            <a:ext cx="1008583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50" u="none" cap="none" strike="noStrike">
                <a:solidFill>
                  <a:srgbClr val="FFFFFF"/>
                </a:solidFill>
                <a:latin typeface="Arial"/>
                <a:ea typeface="Arial"/>
                <a:cs typeface="Arial"/>
                <a:sym typeface="Arial"/>
              </a:rPr>
              <a:t>Simula el escenario real de producción</a:t>
            </a:r>
            <a:endParaRPr/>
          </a:p>
        </p:txBody>
      </p:sp>
      <p:sp>
        <p:nvSpPr>
          <p:cNvPr id="329" name="Google Shape;329;p19"/>
          <p:cNvSpPr txBox="1"/>
          <p:nvPr/>
        </p:nvSpPr>
        <p:spPr>
          <a:xfrm>
            <a:off x="1207008" y="3611880"/>
            <a:ext cx="10085832" cy="386333"/>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150" u="none" cap="none" strike="noStrike">
                <a:solidFill>
                  <a:srgbClr val="B0B0B0"/>
                </a:solidFill>
                <a:latin typeface="Arial"/>
                <a:ea typeface="Arial"/>
                <a:cs typeface="Arial"/>
                <a:sym typeface="Arial"/>
              </a:rPr>
              <a:t>en producción siempre se predicen transacciones futuras nunca vistas; un split aleatorio (shuffsplit) filtraría información del futuro hacia el pasado, algo que nunca ocurre en el mundo real.</a:t>
            </a:r>
            <a:endParaRPr/>
          </a:p>
        </p:txBody>
      </p:sp>
      <p:cxnSp>
        <p:nvCxnSpPr>
          <p:cNvPr id="330" name="Google Shape;330;p19"/>
          <p:cNvCxnSpPr/>
          <p:nvPr/>
        </p:nvCxnSpPr>
        <p:spPr>
          <a:xfrm>
            <a:off x="969264" y="3970782"/>
            <a:ext cx="0" cy="73152"/>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8039"/>
              </a:srgbClr>
            </a:outerShdw>
          </a:effectLst>
        </p:spPr>
      </p:cxnSp>
      <p:sp>
        <p:nvSpPr>
          <p:cNvPr id="331" name="Google Shape;331;p19"/>
          <p:cNvSpPr/>
          <p:nvPr/>
        </p:nvSpPr>
        <p:spPr>
          <a:xfrm>
            <a:off x="896112" y="4043934"/>
            <a:ext cx="146304" cy="146304"/>
          </a:xfrm>
          <a:prstGeom prst="ellipse">
            <a:avLst/>
          </a:prstGeom>
          <a:noFill/>
          <a:ln cap="flat" cmpd="sng" w="158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2" name="Google Shape;332;p19"/>
          <p:cNvSpPr txBox="1"/>
          <p:nvPr/>
        </p:nvSpPr>
        <p:spPr>
          <a:xfrm>
            <a:off x="1207008" y="3998214"/>
            <a:ext cx="1008583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50" u="none" cap="none" strike="noStrike">
                <a:solidFill>
                  <a:srgbClr val="FFFFFF"/>
                </a:solidFill>
                <a:latin typeface="Arial"/>
                <a:ea typeface="Arial"/>
                <a:cs typeface="Arial"/>
                <a:sym typeface="Arial"/>
              </a:rPr>
              <a:t>Evita fuga de información temporal</a:t>
            </a:r>
            <a:endParaRPr/>
          </a:p>
        </p:txBody>
      </p:sp>
      <p:sp>
        <p:nvSpPr>
          <p:cNvPr id="333" name="Google Shape;333;p19"/>
          <p:cNvSpPr txBox="1"/>
          <p:nvPr/>
        </p:nvSpPr>
        <p:spPr>
          <a:xfrm>
            <a:off x="1207008" y="4272534"/>
            <a:ext cx="10085832" cy="386333"/>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150" u="none" cap="none" strike="noStrike">
                <a:solidFill>
                  <a:srgbClr val="B0B0B0"/>
                </a:solidFill>
                <a:latin typeface="Arial"/>
                <a:ea typeface="Arial"/>
                <a:cs typeface="Arial"/>
                <a:sym typeface="Arial"/>
              </a:rPr>
              <a:t>las features de agregación (sumas/promedios móviles por ventana de hasta 10 días) dependen del orden cronológico; mezclar días de train y test rompería esa causalidad y sobreestimaría el desempeño.</a:t>
            </a:r>
            <a:endParaRPr/>
          </a:p>
        </p:txBody>
      </p:sp>
      <p:cxnSp>
        <p:nvCxnSpPr>
          <p:cNvPr id="334" name="Google Shape;334;p19"/>
          <p:cNvCxnSpPr/>
          <p:nvPr/>
        </p:nvCxnSpPr>
        <p:spPr>
          <a:xfrm>
            <a:off x="969264" y="4631436"/>
            <a:ext cx="0" cy="73152"/>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8039"/>
              </a:srgbClr>
            </a:outerShdw>
          </a:effectLst>
        </p:spPr>
      </p:cxnSp>
      <p:sp>
        <p:nvSpPr>
          <p:cNvPr id="335" name="Google Shape;335;p19"/>
          <p:cNvSpPr/>
          <p:nvPr/>
        </p:nvSpPr>
        <p:spPr>
          <a:xfrm>
            <a:off x="896112" y="4704588"/>
            <a:ext cx="146304" cy="146304"/>
          </a:xfrm>
          <a:prstGeom prst="ellipse">
            <a:avLst/>
          </a:prstGeom>
          <a:noFill/>
          <a:ln cap="flat" cmpd="sng" w="158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6" name="Google Shape;336;p19"/>
          <p:cNvSpPr txBox="1"/>
          <p:nvPr/>
        </p:nvSpPr>
        <p:spPr>
          <a:xfrm>
            <a:off x="1207008" y="4658868"/>
            <a:ext cx="1008583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50" u="none" cap="none" strike="noStrike">
                <a:solidFill>
                  <a:srgbClr val="FFFFFF"/>
                </a:solidFill>
                <a:latin typeface="Arial"/>
                <a:ea typeface="Arial"/>
                <a:cs typeface="Arial"/>
                <a:sym typeface="Arial"/>
              </a:rPr>
              <a:t>align_to_day=True</a:t>
            </a:r>
            <a:endParaRPr/>
          </a:p>
        </p:txBody>
      </p:sp>
      <p:sp>
        <p:nvSpPr>
          <p:cNvPr id="337" name="Google Shape;337;p19"/>
          <p:cNvSpPr txBox="1"/>
          <p:nvPr/>
        </p:nvSpPr>
        <p:spPr>
          <a:xfrm>
            <a:off x="1207008" y="4933188"/>
            <a:ext cx="10085832" cy="386333"/>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150" u="none" cap="none" strike="noStrike">
                <a:solidFill>
                  <a:srgbClr val="B0B0B0"/>
                </a:solidFill>
                <a:latin typeface="Arial"/>
                <a:ea typeface="Arial"/>
                <a:cs typeface="Arial"/>
                <a:sym typeface="Arial"/>
              </a:rPr>
              <a:t>garantiza que un día completo quede íntegro en un solo lado de la partición, evitando que transacciones de las mismas horas contaminen train y test simultáneamente.</a:t>
            </a:r>
            <a:endParaRPr/>
          </a:p>
        </p:txBody>
      </p:sp>
      <p:cxnSp>
        <p:nvCxnSpPr>
          <p:cNvPr id="338" name="Google Shape;338;p19"/>
          <p:cNvCxnSpPr/>
          <p:nvPr/>
        </p:nvCxnSpPr>
        <p:spPr>
          <a:xfrm>
            <a:off x="969264" y="5292090"/>
            <a:ext cx="0" cy="73152"/>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8039"/>
              </a:srgbClr>
            </a:outerShdw>
          </a:effectLst>
        </p:spPr>
      </p:cxnSp>
      <p:sp>
        <p:nvSpPr>
          <p:cNvPr id="339" name="Google Shape;339;p19"/>
          <p:cNvSpPr/>
          <p:nvPr/>
        </p:nvSpPr>
        <p:spPr>
          <a:xfrm>
            <a:off x="896112" y="5365242"/>
            <a:ext cx="146304" cy="146304"/>
          </a:xfrm>
          <a:prstGeom prst="ellipse">
            <a:avLst/>
          </a:prstGeom>
          <a:noFill/>
          <a:ln cap="flat" cmpd="sng" w="158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0" name="Google Shape;340;p19"/>
          <p:cNvSpPr txBox="1"/>
          <p:nvPr/>
        </p:nvSpPr>
        <p:spPr>
          <a:xfrm>
            <a:off x="1207008" y="5319522"/>
            <a:ext cx="1008583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50" u="none" cap="none" strike="noStrike">
                <a:solidFill>
                  <a:srgbClr val="FFFFFF"/>
                </a:solidFill>
                <a:latin typeface="Arial"/>
                <a:ea typeface="Arial"/>
                <a:cs typeface="Arial"/>
                <a:sym typeface="Arial"/>
              </a:rPr>
              <a:t>Proporción realista</a:t>
            </a:r>
            <a:endParaRPr/>
          </a:p>
        </p:txBody>
      </p:sp>
      <p:sp>
        <p:nvSpPr>
          <p:cNvPr id="341" name="Google Shape;341;p19"/>
          <p:cNvSpPr txBox="1"/>
          <p:nvPr/>
        </p:nvSpPr>
        <p:spPr>
          <a:xfrm>
            <a:off x="1207008" y="5593842"/>
            <a:ext cx="10085832" cy="386333"/>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150" u="none" cap="none" strike="noStrike">
                <a:solidFill>
                  <a:srgbClr val="B0B0B0"/>
                </a:solidFill>
                <a:latin typeface="Arial"/>
                <a:ea typeface="Arial"/>
                <a:cs typeface="Arial"/>
                <a:sym typeface="Arial"/>
              </a:rPr>
              <a:t>test_size≈0.311 (14 de 45 días) deja suficiente historia en train para las ventanas de agregación más largas, sin sacrificar el tamaño del conjunto de test.</a:t>
            </a:r>
            <a:endParaRPr/>
          </a:p>
        </p:txBody>
      </p:sp>
      <p:sp>
        <p:nvSpPr>
          <p:cNvPr id="342" name="Google Shape;342;p19"/>
          <p:cNvSpPr/>
          <p:nvPr/>
        </p:nvSpPr>
        <p:spPr>
          <a:xfrm>
            <a:off x="0" y="6537960"/>
            <a:ext cx="12191695" cy="320040"/>
          </a:xfrm>
          <a:prstGeom prst="rect">
            <a:avLst/>
          </a:prstGeom>
          <a:solidFill>
            <a:srgbClr val="0A0A0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nvGrpSpPr>
          <p:cNvPr id="343" name="Google Shape;343;p19"/>
          <p:cNvGrpSpPr/>
          <p:nvPr/>
        </p:nvGrpSpPr>
        <p:grpSpPr>
          <a:xfrm>
            <a:off x="12" y="6223211"/>
            <a:ext cx="634800" cy="634800"/>
            <a:chOff x="12" y="4508711"/>
            <a:chExt cx="634800" cy="634800"/>
          </a:xfrm>
        </p:grpSpPr>
        <p:sp>
          <p:nvSpPr>
            <p:cNvPr id="344" name="Google Shape;344;p19"/>
            <p:cNvSpPr/>
            <p:nvPr/>
          </p:nvSpPr>
          <p:spPr>
            <a:xfrm>
              <a:off x="12" y="4508711"/>
              <a:ext cx="634800" cy="634800"/>
            </a:xfrm>
            <a:prstGeom prst="round1Rect">
              <a:avLst>
                <a:gd fmla="val 28797" name="adj"/>
              </a:avLst>
            </a:prstGeom>
            <a:solidFill>
              <a:srgbClr val="FFD1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45" name="Google Shape;345;p19"/>
            <p:cNvPicPr preferRelativeResize="0"/>
            <p:nvPr/>
          </p:nvPicPr>
          <p:blipFill>
            <a:blip r:embed="rId3">
              <a:alphaModFix/>
            </a:blip>
            <a:stretch>
              <a:fillRect/>
            </a:stretch>
          </p:blipFill>
          <p:spPr>
            <a:xfrm>
              <a:off x="124673" y="4689253"/>
              <a:ext cx="397051" cy="273714"/>
            </a:xfrm>
            <a:prstGeom prst="rect">
              <a:avLst/>
            </a:prstGeom>
            <a:noFill/>
            <a:ln>
              <a:noFill/>
            </a:ln>
          </p:spPr>
        </p:pic>
      </p:grpSp>
      <p:sp>
        <p:nvSpPr>
          <p:cNvPr id="346" name="Google Shape;346;p19"/>
          <p:cNvSpPr/>
          <p:nvPr/>
        </p:nvSpPr>
        <p:spPr>
          <a:xfrm rot="10800000">
            <a:off x="11736276" y="0"/>
            <a:ext cx="455400" cy="421500"/>
          </a:xfrm>
          <a:prstGeom prst="corner">
            <a:avLst>
              <a:gd fmla="val 39228" name="adj1"/>
              <a:gd fmla="val 38336" name="adj2"/>
            </a:avLst>
          </a:prstGeom>
          <a:solidFill>
            <a:srgbClr val="FFD100"/>
          </a:solidFill>
          <a:ln>
            <a:noFill/>
          </a:ln>
        </p:spPr>
        <p:txBody>
          <a:bodyPr anchorCtr="0" anchor="ctr" bIns="60950" lIns="60950" spcFirstLastPara="1" rIns="60950" wrap="square" tIns="60950">
            <a:noAutofit/>
          </a:bodyPr>
          <a:lstStyle/>
          <a:p>
            <a:pPr indent="0" lvl="0" marL="0" rtl="0" algn="l">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20"/>
          <p:cNvSpPr/>
          <p:nvPr/>
        </p:nvSpPr>
        <p:spPr>
          <a:xfrm>
            <a:off x="0" y="0"/>
            <a:ext cx="12191695" cy="6858000"/>
          </a:xfrm>
          <a:prstGeom prst="rect">
            <a:avLst/>
          </a:prstGeom>
          <a:solidFill>
            <a:srgbClr val="1A1A1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2" name="Google Shape;352;p20"/>
          <p:cNvSpPr/>
          <p:nvPr/>
        </p:nvSpPr>
        <p:spPr>
          <a:xfrm>
            <a:off x="502920" y="457200"/>
            <a:ext cx="54864" cy="777240"/>
          </a:xfrm>
          <a:prstGeom prst="rect">
            <a:avLst/>
          </a:prstGeom>
          <a:solidFill>
            <a:srgbClr val="FECE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3" name="Google Shape;353;p20"/>
          <p:cNvSpPr txBox="1"/>
          <p:nvPr/>
        </p:nvSpPr>
        <p:spPr>
          <a:xfrm>
            <a:off x="685800" y="457200"/>
            <a:ext cx="1051560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300" u="none" cap="none" strike="noStrike">
                <a:solidFill>
                  <a:srgbClr val="B0B0B0"/>
                </a:solidFill>
                <a:latin typeface="Arial"/>
                <a:ea typeface="Arial"/>
                <a:cs typeface="Arial"/>
                <a:sym typeface="Arial"/>
              </a:rPr>
              <a:t>01_EDA — CONCLUSIONES</a:t>
            </a:r>
            <a:endParaRPr/>
          </a:p>
        </p:txBody>
      </p:sp>
      <p:sp>
        <p:nvSpPr>
          <p:cNvPr id="354" name="Google Shape;354;p20"/>
          <p:cNvSpPr txBox="1"/>
          <p:nvPr/>
        </p:nvSpPr>
        <p:spPr>
          <a:xfrm>
            <a:off x="658368" y="749808"/>
            <a:ext cx="10607040" cy="5943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600" u="none" cap="none" strike="noStrike">
                <a:solidFill>
                  <a:srgbClr val="FFFFFF"/>
                </a:solidFill>
                <a:latin typeface="Arial"/>
                <a:ea typeface="Arial"/>
                <a:cs typeface="Arial"/>
                <a:sym typeface="Arial"/>
              </a:rPr>
              <a:t>VARIABLES CANDIDATAS PARA EL MODELO</a:t>
            </a:r>
            <a:endParaRPr/>
          </a:p>
        </p:txBody>
      </p:sp>
      <p:sp>
        <p:nvSpPr>
          <p:cNvPr id="355" name="Google Shape;355;p20"/>
          <p:cNvSpPr/>
          <p:nvPr/>
        </p:nvSpPr>
        <p:spPr>
          <a:xfrm>
            <a:off x="640080" y="1691640"/>
            <a:ext cx="5294376" cy="3429000"/>
          </a:xfrm>
          <a:prstGeom prst="rect">
            <a:avLst/>
          </a:prstGeom>
          <a:solidFill>
            <a:srgbClr val="111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6" name="Google Shape;356;p20"/>
          <p:cNvSpPr txBox="1"/>
          <p:nvPr/>
        </p:nvSpPr>
        <p:spPr>
          <a:xfrm>
            <a:off x="868680" y="1874520"/>
            <a:ext cx="4837176"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B0B0B0"/>
                </a:solidFill>
                <a:latin typeface="Arial"/>
                <a:ea typeface="Arial"/>
                <a:cs typeface="Arial"/>
                <a:sym typeface="Arial"/>
              </a:rPr>
              <a:t>ASOCIACIÓN CATEGÓRICA (V DE CRAMÉR)</a:t>
            </a:r>
            <a:endParaRPr/>
          </a:p>
        </p:txBody>
      </p:sp>
      <p:sp>
        <p:nvSpPr>
          <p:cNvPr id="357" name="Google Shape;357;p20"/>
          <p:cNvSpPr txBox="1"/>
          <p:nvPr/>
        </p:nvSpPr>
        <p:spPr>
          <a:xfrm>
            <a:off x="868680" y="2365735"/>
            <a:ext cx="155319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00" u="none" cap="none" strike="noStrike">
                <a:solidFill>
                  <a:srgbClr val="FFFFFF"/>
                </a:solidFill>
                <a:latin typeface="Arial"/>
                <a:ea typeface="Arial"/>
                <a:cs typeface="Arial"/>
                <a:sym typeface="Arial"/>
              </a:rPr>
              <a:t>j</a:t>
            </a:r>
            <a:endParaRPr/>
          </a:p>
        </p:txBody>
      </p:sp>
      <p:sp>
        <p:nvSpPr>
          <p:cNvPr id="358" name="Google Shape;358;p20"/>
          <p:cNvSpPr/>
          <p:nvPr/>
        </p:nvSpPr>
        <p:spPr>
          <a:xfrm>
            <a:off x="2513319" y="2660446"/>
            <a:ext cx="2552456" cy="285780"/>
          </a:xfrm>
          <a:prstGeom prst="rect">
            <a:avLst/>
          </a:prstGeom>
          <a:solidFill>
            <a:srgbClr val="08080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9" name="Google Shape;359;p20"/>
          <p:cNvSpPr/>
          <p:nvPr/>
        </p:nvSpPr>
        <p:spPr>
          <a:xfrm>
            <a:off x="2513319" y="2660446"/>
            <a:ext cx="2187819" cy="285780"/>
          </a:xfrm>
          <a:prstGeom prst="rect">
            <a:avLst/>
          </a:prstGeom>
          <a:solidFill>
            <a:srgbClr val="FECE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0" name="Google Shape;360;p20"/>
          <p:cNvSpPr txBox="1"/>
          <p:nvPr/>
        </p:nvSpPr>
        <p:spPr>
          <a:xfrm>
            <a:off x="5120639" y="2597932"/>
            <a:ext cx="59436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50" u="none" cap="none" strike="noStrike">
                <a:solidFill>
                  <a:srgbClr val="FECE00"/>
                </a:solidFill>
                <a:latin typeface="Arial"/>
                <a:ea typeface="Arial"/>
                <a:cs typeface="Arial"/>
                <a:sym typeface="Arial"/>
              </a:rPr>
              <a:t>0.3</a:t>
            </a:r>
            <a:endParaRPr/>
          </a:p>
        </p:txBody>
      </p:sp>
      <p:sp>
        <p:nvSpPr>
          <p:cNvPr id="361" name="Google Shape;361;p20"/>
          <p:cNvSpPr txBox="1"/>
          <p:nvPr/>
        </p:nvSpPr>
        <p:spPr>
          <a:xfrm>
            <a:off x="868680" y="3258799"/>
            <a:ext cx="155319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00" u="none" cap="none" strike="noStrike">
                <a:solidFill>
                  <a:srgbClr val="FFFFFF"/>
                </a:solidFill>
                <a:latin typeface="Arial"/>
                <a:ea typeface="Arial"/>
                <a:cs typeface="Arial"/>
                <a:sym typeface="Arial"/>
              </a:rPr>
              <a:t>o</a:t>
            </a:r>
            <a:endParaRPr/>
          </a:p>
        </p:txBody>
      </p:sp>
      <p:sp>
        <p:nvSpPr>
          <p:cNvPr id="362" name="Google Shape;362;p20"/>
          <p:cNvSpPr/>
          <p:nvPr/>
        </p:nvSpPr>
        <p:spPr>
          <a:xfrm>
            <a:off x="2513319" y="3553510"/>
            <a:ext cx="2552456" cy="285780"/>
          </a:xfrm>
          <a:prstGeom prst="rect">
            <a:avLst/>
          </a:prstGeom>
          <a:solidFill>
            <a:srgbClr val="08080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3" name="Google Shape;363;p20"/>
          <p:cNvSpPr/>
          <p:nvPr/>
        </p:nvSpPr>
        <p:spPr>
          <a:xfrm>
            <a:off x="2513319" y="3553510"/>
            <a:ext cx="2114892" cy="285780"/>
          </a:xfrm>
          <a:prstGeom prst="rect">
            <a:avLst/>
          </a:prstGeom>
          <a:solidFill>
            <a:srgbClr val="FECE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4" name="Google Shape;364;p20"/>
          <p:cNvSpPr txBox="1"/>
          <p:nvPr/>
        </p:nvSpPr>
        <p:spPr>
          <a:xfrm>
            <a:off x="5120639" y="3490996"/>
            <a:ext cx="59436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50" u="none" cap="none" strike="noStrike">
                <a:solidFill>
                  <a:srgbClr val="FECE00"/>
                </a:solidFill>
                <a:latin typeface="Arial"/>
                <a:ea typeface="Arial"/>
                <a:cs typeface="Arial"/>
                <a:sym typeface="Arial"/>
              </a:rPr>
              <a:t>0.29</a:t>
            </a:r>
            <a:endParaRPr/>
          </a:p>
        </p:txBody>
      </p:sp>
      <p:sp>
        <p:nvSpPr>
          <p:cNvPr id="365" name="Google Shape;365;p20"/>
          <p:cNvSpPr txBox="1"/>
          <p:nvPr/>
        </p:nvSpPr>
        <p:spPr>
          <a:xfrm>
            <a:off x="868680" y="4151863"/>
            <a:ext cx="155319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00" u="none" cap="none" strike="noStrike">
                <a:solidFill>
                  <a:srgbClr val="FFFFFF"/>
                </a:solidFill>
                <a:latin typeface="Arial"/>
                <a:ea typeface="Arial"/>
                <a:cs typeface="Arial"/>
                <a:sym typeface="Arial"/>
              </a:rPr>
              <a:t>n</a:t>
            </a:r>
            <a:endParaRPr/>
          </a:p>
        </p:txBody>
      </p:sp>
      <p:sp>
        <p:nvSpPr>
          <p:cNvPr id="366" name="Google Shape;366;p20"/>
          <p:cNvSpPr/>
          <p:nvPr/>
        </p:nvSpPr>
        <p:spPr>
          <a:xfrm>
            <a:off x="2513319" y="4446574"/>
            <a:ext cx="2552456" cy="285780"/>
          </a:xfrm>
          <a:prstGeom prst="rect">
            <a:avLst/>
          </a:prstGeom>
          <a:solidFill>
            <a:srgbClr val="08080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7" name="Google Shape;367;p20"/>
          <p:cNvSpPr/>
          <p:nvPr/>
        </p:nvSpPr>
        <p:spPr>
          <a:xfrm>
            <a:off x="2513319" y="4446574"/>
            <a:ext cx="1239764" cy="285780"/>
          </a:xfrm>
          <a:prstGeom prst="rect">
            <a:avLst/>
          </a:prstGeom>
          <a:solidFill>
            <a:srgbClr val="FECE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8" name="Google Shape;368;p20"/>
          <p:cNvSpPr txBox="1"/>
          <p:nvPr/>
        </p:nvSpPr>
        <p:spPr>
          <a:xfrm>
            <a:off x="5120639" y="4384060"/>
            <a:ext cx="59436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50" u="none" cap="none" strike="noStrike">
                <a:solidFill>
                  <a:srgbClr val="FECE00"/>
                </a:solidFill>
                <a:latin typeface="Arial"/>
                <a:ea typeface="Arial"/>
                <a:cs typeface="Arial"/>
                <a:sym typeface="Arial"/>
              </a:rPr>
              <a:t>0.17</a:t>
            </a:r>
            <a:endParaRPr/>
          </a:p>
        </p:txBody>
      </p:sp>
      <p:sp>
        <p:nvSpPr>
          <p:cNvPr id="369" name="Google Shape;369;p20"/>
          <p:cNvSpPr/>
          <p:nvPr/>
        </p:nvSpPr>
        <p:spPr>
          <a:xfrm>
            <a:off x="6254496" y="1691640"/>
            <a:ext cx="5294376" cy="3429000"/>
          </a:xfrm>
          <a:prstGeom prst="rect">
            <a:avLst/>
          </a:prstGeom>
          <a:solidFill>
            <a:srgbClr val="111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0" name="Google Shape;370;p20"/>
          <p:cNvSpPr txBox="1"/>
          <p:nvPr/>
        </p:nvSpPr>
        <p:spPr>
          <a:xfrm>
            <a:off x="6483096" y="1874520"/>
            <a:ext cx="4837176"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B0B0B0"/>
                </a:solidFill>
                <a:latin typeface="Arial"/>
                <a:ea typeface="Arial"/>
                <a:cs typeface="Arial"/>
                <a:sym typeface="Arial"/>
              </a:rPr>
              <a:t>FRAUD RATE POR CATEGORÍA DE RIESGO</a:t>
            </a:r>
            <a:endParaRPr/>
          </a:p>
        </p:txBody>
      </p:sp>
      <p:sp>
        <p:nvSpPr>
          <p:cNvPr id="371" name="Google Shape;371;p20"/>
          <p:cNvSpPr txBox="1"/>
          <p:nvPr/>
        </p:nvSpPr>
        <p:spPr>
          <a:xfrm>
            <a:off x="6483096" y="2365735"/>
            <a:ext cx="155319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00" u="none" cap="none" strike="noStrike">
                <a:solidFill>
                  <a:srgbClr val="FFFFFF"/>
                </a:solidFill>
                <a:latin typeface="Arial"/>
                <a:ea typeface="Arial"/>
                <a:cs typeface="Arial"/>
                <a:sym typeface="Arial"/>
              </a:rPr>
              <a:t>o = "N"</a:t>
            </a:r>
            <a:endParaRPr/>
          </a:p>
        </p:txBody>
      </p:sp>
      <p:sp>
        <p:nvSpPr>
          <p:cNvPr id="372" name="Google Shape;372;p20"/>
          <p:cNvSpPr/>
          <p:nvPr/>
        </p:nvSpPr>
        <p:spPr>
          <a:xfrm>
            <a:off x="8127735" y="2660446"/>
            <a:ext cx="2552456" cy="285780"/>
          </a:xfrm>
          <a:prstGeom prst="rect">
            <a:avLst/>
          </a:prstGeom>
          <a:solidFill>
            <a:srgbClr val="08080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3" name="Google Shape;373;p20"/>
          <p:cNvSpPr/>
          <p:nvPr/>
        </p:nvSpPr>
        <p:spPr>
          <a:xfrm>
            <a:off x="8127735" y="2660446"/>
            <a:ext cx="2327840" cy="285780"/>
          </a:xfrm>
          <a:prstGeom prst="rect">
            <a:avLst/>
          </a:prstGeom>
          <a:solidFill>
            <a:srgbClr val="01B1E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4" name="Google Shape;374;p20"/>
          <p:cNvSpPr txBox="1"/>
          <p:nvPr/>
        </p:nvSpPr>
        <p:spPr>
          <a:xfrm>
            <a:off x="10735056" y="2597932"/>
            <a:ext cx="59436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50" u="none" cap="none" strike="noStrike">
                <a:solidFill>
                  <a:srgbClr val="01B1EC"/>
                </a:solidFill>
                <a:latin typeface="Arial"/>
                <a:ea typeface="Arial"/>
                <a:cs typeface="Arial"/>
                <a:sym typeface="Arial"/>
              </a:rPr>
              <a:t>22.8%</a:t>
            </a:r>
            <a:endParaRPr/>
          </a:p>
        </p:txBody>
      </p:sp>
      <p:sp>
        <p:nvSpPr>
          <p:cNvPr id="375" name="Google Shape;375;p20"/>
          <p:cNvSpPr txBox="1"/>
          <p:nvPr/>
        </p:nvSpPr>
        <p:spPr>
          <a:xfrm>
            <a:off x="6483096" y="3258799"/>
            <a:ext cx="155319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00" u="none" cap="none" strike="noStrike">
                <a:solidFill>
                  <a:srgbClr val="FFFFFF"/>
                </a:solidFill>
                <a:latin typeface="Arial"/>
                <a:ea typeface="Arial"/>
                <a:cs typeface="Arial"/>
                <a:sym typeface="Arial"/>
              </a:rPr>
              <a:t>n = 0</a:t>
            </a:r>
            <a:endParaRPr/>
          </a:p>
        </p:txBody>
      </p:sp>
      <p:sp>
        <p:nvSpPr>
          <p:cNvPr id="376" name="Google Shape;376;p20"/>
          <p:cNvSpPr/>
          <p:nvPr/>
        </p:nvSpPr>
        <p:spPr>
          <a:xfrm>
            <a:off x="8127735" y="3553510"/>
            <a:ext cx="2552456" cy="285780"/>
          </a:xfrm>
          <a:prstGeom prst="rect">
            <a:avLst/>
          </a:prstGeom>
          <a:solidFill>
            <a:srgbClr val="08080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7" name="Google Shape;377;p20"/>
          <p:cNvSpPr/>
          <p:nvPr/>
        </p:nvSpPr>
        <p:spPr>
          <a:xfrm>
            <a:off x="8127735" y="3553510"/>
            <a:ext cx="1715250" cy="285780"/>
          </a:xfrm>
          <a:prstGeom prst="rect">
            <a:avLst/>
          </a:prstGeom>
          <a:solidFill>
            <a:srgbClr val="01B1E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8" name="Google Shape;378;p20"/>
          <p:cNvSpPr txBox="1"/>
          <p:nvPr/>
        </p:nvSpPr>
        <p:spPr>
          <a:xfrm>
            <a:off x="10735056" y="3490996"/>
            <a:ext cx="59436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50" u="none" cap="none" strike="noStrike">
                <a:solidFill>
                  <a:srgbClr val="01B1EC"/>
                </a:solidFill>
                <a:latin typeface="Arial"/>
                <a:ea typeface="Arial"/>
                <a:cs typeface="Arial"/>
                <a:sym typeface="Arial"/>
              </a:rPr>
              <a:t>16.8%</a:t>
            </a:r>
            <a:endParaRPr/>
          </a:p>
        </p:txBody>
      </p:sp>
      <p:sp>
        <p:nvSpPr>
          <p:cNvPr id="379" name="Google Shape;379;p20"/>
          <p:cNvSpPr txBox="1"/>
          <p:nvPr/>
        </p:nvSpPr>
        <p:spPr>
          <a:xfrm>
            <a:off x="6483096" y="4151863"/>
            <a:ext cx="155319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00" u="none" cap="none" strike="noStrike">
                <a:solidFill>
                  <a:srgbClr val="FFFFFF"/>
                </a:solidFill>
                <a:latin typeface="Arial"/>
                <a:ea typeface="Arial"/>
                <a:cs typeface="Arial"/>
                <a:sym typeface="Arial"/>
              </a:rPr>
              <a:t>base global</a:t>
            </a:r>
            <a:endParaRPr/>
          </a:p>
        </p:txBody>
      </p:sp>
      <p:sp>
        <p:nvSpPr>
          <p:cNvPr id="380" name="Google Shape;380;p20"/>
          <p:cNvSpPr/>
          <p:nvPr/>
        </p:nvSpPr>
        <p:spPr>
          <a:xfrm>
            <a:off x="8127735" y="4446574"/>
            <a:ext cx="2552456" cy="285780"/>
          </a:xfrm>
          <a:prstGeom prst="rect">
            <a:avLst/>
          </a:prstGeom>
          <a:solidFill>
            <a:srgbClr val="08080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1" name="Google Shape;381;p20"/>
          <p:cNvSpPr/>
          <p:nvPr/>
        </p:nvSpPr>
        <p:spPr>
          <a:xfrm>
            <a:off x="8127735" y="4446574"/>
            <a:ext cx="510491" cy="285780"/>
          </a:xfrm>
          <a:prstGeom prst="rect">
            <a:avLst/>
          </a:prstGeom>
          <a:solidFill>
            <a:srgbClr val="01B1E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2" name="Google Shape;382;p20"/>
          <p:cNvSpPr txBox="1"/>
          <p:nvPr/>
        </p:nvSpPr>
        <p:spPr>
          <a:xfrm>
            <a:off x="10735056" y="4384060"/>
            <a:ext cx="59436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50" u="none" cap="none" strike="noStrike">
                <a:solidFill>
                  <a:srgbClr val="01B1EC"/>
                </a:solidFill>
                <a:latin typeface="Arial"/>
                <a:ea typeface="Arial"/>
                <a:cs typeface="Arial"/>
                <a:sym typeface="Arial"/>
              </a:rPr>
              <a:t>5%</a:t>
            </a:r>
            <a:endParaRPr/>
          </a:p>
        </p:txBody>
      </p:sp>
      <p:sp>
        <p:nvSpPr>
          <p:cNvPr id="383" name="Google Shape;383;p20"/>
          <p:cNvSpPr/>
          <p:nvPr/>
        </p:nvSpPr>
        <p:spPr>
          <a:xfrm>
            <a:off x="640080" y="5394959"/>
            <a:ext cx="10908792" cy="914400"/>
          </a:xfrm>
          <a:prstGeom prst="rect">
            <a:avLst/>
          </a:prstGeom>
          <a:solidFill>
            <a:srgbClr val="1412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4" name="Google Shape;384;p20"/>
          <p:cNvSpPr/>
          <p:nvPr/>
        </p:nvSpPr>
        <p:spPr>
          <a:xfrm>
            <a:off x="640080" y="5394959"/>
            <a:ext cx="54864" cy="914400"/>
          </a:xfrm>
          <a:prstGeom prst="rect">
            <a:avLst/>
          </a:prstGeom>
          <a:solidFill>
            <a:srgbClr val="FECE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5" name="Google Shape;385;p20"/>
          <p:cNvSpPr txBox="1"/>
          <p:nvPr/>
        </p:nvSpPr>
        <p:spPr>
          <a:xfrm>
            <a:off x="868680" y="5532120"/>
            <a:ext cx="10424160" cy="64008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1200" u="none" cap="none" strike="noStrike">
                <a:solidFill>
                  <a:srgbClr val="FFFFFF"/>
                </a:solidFill>
                <a:latin typeface="Arial"/>
                <a:ea typeface="Arial"/>
                <a:cs typeface="Arial"/>
                <a:sym typeface="Arial"/>
              </a:rPr>
              <a:t>Variables continuas sin riesgo de multicolinealidad severa (VIF≤1.61): pueden incluirse todas. El EDA confirma señales categóricas y numéricas suficientemente fuertes para justificar el feature engineering dirigido.</a:t>
            </a:r>
            <a:endParaRPr/>
          </a:p>
        </p:txBody>
      </p:sp>
      <p:sp>
        <p:nvSpPr>
          <p:cNvPr id="386" name="Google Shape;386;p20"/>
          <p:cNvSpPr/>
          <p:nvPr/>
        </p:nvSpPr>
        <p:spPr>
          <a:xfrm>
            <a:off x="0" y="6537960"/>
            <a:ext cx="12191695" cy="320040"/>
          </a:xfrm>
          <a:prstGeom prst="rect">
            <a:avLst/>
          </a:prstGeom>
          <a:solidFill>
            <a:srgbClr val="0A0A0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nvGrpSpPr>
          <p:cNvPr id="387" name="Google Shape;387;p20"/>
          <p:cNvGrpSpPr/>
          <p:nvPr/>
        </p:nvGrpSpPr>
        <p:grpSpPr>
          <a:xfrm>
            <a:off x="12" y="6223211"/>
            <a:ext cx="634800" cy="634800"/>
            <a:chOff x="12" y="4508711"/>
            <a:chExt cx="634800" cy="634800"/>
          </a:xfrm>
        </p:grpSpPr>
        <p:sp>
          <p:nvSpPr>
            <p:cNvPr id="388" name="Google Shape;388;p20"/>
            <p:cNvSpPr/>
            <p:nvPr/>
          </p:nvSpPr>
          <p:spPr>
            <a:xfrm>
              <a:off x="12" y="4508711"/>
              <a:ext cx="634800" cy="634800"/>
            </a:xfrm>
            <a:prstGeom prst="round1Rect">
              <a:avLst>
                <a:gd fmla="val 28797" name="adj"/>
              </a:avLst>
            </a:prstGeom>
            <a:solidFill>
              <a:srgbClr val="FFD1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89" name="Google Shape;389;p20"/>
            <p:cNvPicPr preferRelativeResize="0"/>
            <p:nvPr/>
          </p:nvPicPr>
          <p:blipFill>
            <a:blip r:embed="rId3">
              <a:alphaModFix/>
            </a:blip>
            <a:stretch>
              <a:fillRect/>
            </a:stretch>
          </p:blipFill>
          <p:spPr>
            <a:xfrm>
              <a:off x="124673" y="4689253"/>
              <a:ext cx="397051" cy="273714"/>
            </a:xfrm>
            <a:prstGeom prst="rect">
              <a:avLst/>
            </a:prstGeom>
            <a:noFill/>
            <a:ln>
              <a:noFill/>
            </a:ln>
          </p:spPr>
        </p:pic>
      </p:grpSp>
      <p:sp>
        <p:nvSpPr>
          <p:cNvPr id="390" name="Google Shape;390;p20"/>
          <p:cNvSpPr/>
          <p:nvPr/>
        </p:nvSpPr>
        <p:spPr>
          <a:xfrm rot="10800000">
            <a:off x="11736276" y="0"/>
            <a:ext cx="455400" cy="421500"/>
          </a:xfrm>
          <a:prstGeom prst="corner">
            <a:avLst>
              <a:gd fmla="val 39228" name="adj1"/>
              <a:gd fmla="val 38336" name="adj2"/>
            </a:avLst>
          </a:prstGeom>
          <a:solidFill>
            <a:srgbClr val="FFD100"/>
          </a:solidFill>
          <a:ln>
            <a:noFill/>
          </a:ln>
        </p:spPr>
        <p:txBody>
          <a:bodyPr anchorCtr="0" anchor="ctr" bIns="60950" lIns="60950" spcFirstLastPara="1" rIns="60950" wrap="square" tIns="60950">
            <a:noAutofit/>
          </a:bodyPr>
          <a:lstStyle/>
          <a:p>
            <a:pPr indent="0" lvl="0" marL="0" rtl="0" algn="l">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21"/>
          <p:cNvSpPr/>
          <p:nvPr/>
        </p:nvSpPr>
        <p:spPr>
          <a:xfrm>
            <a:off x="0" y="0"/>
            <a:ext cx="12191695" cy="6858000"/>
          </a:xfrm>
          <a:prstGeom prst="rect">
            <a:avLst/>
          </a:prstGeom>
          <a:solidFill>
            <a:srgbClr val="1A1A1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6" name="Google Shape;396;p21"/>
          <p:cNvSpPr/>
          <p:nvPr/>
        </p:nvSpPr>
        <p:spPr>
          <a:xfrm>
            <a:off x="502920" y="457200"/>
            <a:ext cx="54864" cy="777240"/>
          </a:xfrm>
          <a:prstGeom prst="rect">
            <a:avLst/>
          </a:prstGeom>
          <a:solidFill>
            <a:srgbClr val="FECE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7" name="Google Shape;397;p21"/>
          <p:cNvSpPr txBox="1"/>
          <p:nvPr/>
        </p:nvSpPr>
        <p:spPr>
          <a:xfrm>
            <a:off x="685800" y="457200"/>
            <a:ext cx="1051560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300" u="none" cap="none" strike="noStrike">
                <a:solidFill>
                  <a:srgbClr val="B0B0B0"/>
                </a:solidFill>
                <a:latin typeface="Arial"/>
                <a:ea typeface="Arial"/>
                <a:cs typeface="Arial"/>
                <a:sym typeface="Arial"/>
              </a:rPr>
              <a:t>02_FEATURE_ENGINEER — 00_feat_engineer_initial.ipynb</a:t>
            </a:r>
            <a:endParaRPr/>
          </a:p>
        </p:txBody>
      </p:sp>
      <p:sp>
        <p:nvSpPr>
          <p:cNvPr id="398" name="Google Shape;398;p21"/>
          <p:cNvSpPr txBox="1"/>
          <p:nvPr/>
        </p:nvSpPr>
        <p:spPr>
          <a:xfrm>
            <a:off x="658368" y="749808"/>
            <a:ext cx="10607040" cy="5943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600" u="none" cap="none" strike="noStrike">
                <a:solidFill>
                  <a:srgbClr val="FFFFFF"/>
                </a:solidFill>
                <a:latin typeface="Arial"/>
                <a:ea typeface="Arial"/>
                <a:cs typeface="Arial"/>
                <a:sym typeface="Arial"/>
              </a:rPr>
              <a:t>CONSTRUCCIÓN DE NUEVAS VARIABLES</a:t>
            </a:r>
            <a:endParaRPr/>
          </a:p>
        </p:txBody>
      </p:sp>
      <p:sp>
        <p:nvSpPr>
          <p:cNvPr id="399" name="Google Shape;399;p21"/>
          <p:cNvSpPr/>
          <p:nvPr/>
        </p:nvSpPr>
        <p:spPr>
          <a:xfrm>
            <a:off x="640080" y="1691640"/>
            <a:ext cx="3422904" cy="3566160"/>
          </a:xfrm>
          <a:prstGeom prst="rect">
            <a:avLst/>
          </a:prstGeom>
          <a:solidFill>
            <a:srgbClr val="111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0" name="Google Shape;400;p21"/>
          <p:cNvSpPr/>
          <p:nvPr/>
        </p:nvSpPr>
        <p:spPr>
          <a:xfrm>
            <a:off x="640080" y="1691640"/>
            <a:ext cx="3422904" cy="73152"/>
          </a:xfrm>
          <a:prstGeom prst="rect">
            <a:avLst/>
          </a:prstGeom>
          <a:solidFill>
            <a:srgbClr val="FECE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1" name="Google Shape;401;p21"/>
          <p:cNvSpPr txBox="1"/>
          <p:nvPr/>
        </p:nvSpPr>
        <p:spPr>
          <a:xfrm>
            <a:off x="868680" y="1856232"/>
            <a:ext cx="2965704" cy="4572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i="0" lang="en-US" sz="1300" u="none" cap="none" strike="noStrike">
                <a:solidFill>
                  <a:srgbClr val="FECE00"/>
                </a:solidFill>
                <a:latin typeface="Arial"/>
                <a:ea typeface="Arial"/>
                <a:cs typeface="Arial"/>
                <a:sym typeface="Arial"/>
              </a:rPr>
              <a:t>CALIDAD Y DISTRIBUCIÓN</a:t>
            </a:r>
            <a:endParaRPr/>
          </a:p>
        </p:txBody>
      </p:sp>
      <p:sp>
        <p:nvSpPr>
          <p:cNvPr id="402" name="Google Shape;402;p21"/>
          <p:cNvSpPr/>
          <p:nvPr/>
        </p:nvSpPr>
        <p:spPr>
          <a:xfrm>
            <a:off x="896112" y="2432304"/>
            <a:ext cx="82296" cy="82296"/>
          </a:xfrm>
          <a:prstGeom prst="ellipse">
            <a:avLst/>
          </a:prstGeom>
          <a:solidFill>
            <a:srgbClr val="01B1E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3" name="Google Shape;403;p21"/>
          <p:cNvSpPr txBox="1"/>
          <p:nvPr/>
        </p:nvSpPr>
        <p:spPr>
          <a:xfrm>
            <a:off x="1078992" y="2395728"/>
            <a:ext cx="2782824" cy="5212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100" u="none" cap="none" strike="noStrike">
                <a:solidFill>
                  <a:srgbClr val="FFFFFF"/>
                </a:solidFill>
                <a:latin typeface="Arial"/>
                <a:ea typeface="Arial"/>
                <a:cs typeface="Arial"/>
                <a:sym typeface="Arial"/>
              </a:rPr>
              <a:t>missing_flag</a:t>
            </a:r>
            <a:endParaRPr/>
          </a:p>
        </p:txBody>
      </p:sp>
      <p:sp>
        <p:nvSpPr>
          <p:cNvPr id="404" name="Google Shape;404;p21"/>
          <p:cNvSpPr/>
          <p:nvPr/>
        </p:nvSpPr>
        <p:spPr>
          <a:xfrm>
            <a:off x="896112" y="3008376"/>
            <a:ext cx="82296" cy="82296"/>
          </a:xfrm>
          <a:prstGeom prst="ellipse">
            <a:avLst/>
          </a:prstGeom>
          <a:solidFill>
            <a:srgbClr val="01B1E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5" name="Google Shape;405;p21"/>
          <p:cNvSpPr txBox="1"/>
          <p:nvPr/>
        </p:nvSpPr>
        <p:spPr>
          <a:xfrm>
            <a:off x="1078992" y="2971800"/>
            <a:ext cx="2782824" cy="5212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100" u="none" cap="none" strike="noStrike">
                <a:solidFill>
                  <a:srgbClr val="FFFFFF"/>
                </a:solidFill>
                <a:latin typeface="Arial"/>
                <a:ea typeface="Arial"/>
                <a:cs typeface="Arial"/>
                <a:sym typeface="Arial"/>
              </a:rPr>
              <a:t>zero_flag</a:t>
            </a:r>
            <a:endParaRPr/>
          </a:p>
        </p:txBody>
      </p:sp>
      <p:sp>
        <p:nvSpPr>
          <p:cNvPr id="406" name="Google Shape;406;p21"/>
          <p:cNvSpPr/>
          <p:nvPr/>
        </p:nvSpPr>
        <p:spPr>
          <a:xfrm>
            <a:off x="896112" y="3584448"/>
            <a:ext cx="82296" cy="82296"/>
          </a:xfrm>
          <a:prstGeom prst="ellipse">
            <a:avLst/>
          </a:prstGeom>
          <a:solidFill>
            <a:srgbClr val="01B1E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7" name="Google Shape;407;p21"/>
          <p:cNvSpPr txBox="1"/>
          <p:nvPr/>
        </p:nvSpPr>
        <p:spPr>
          <a:xfrm>
            <a:off x="1078992" y="3547872"/>
            <a:ext cx="2782824" cy="5212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100" u="none" cap="none" strike="noStrike">
                <a:solidFill>
                  <a:srgbClr val="FFFFFF"/>
                </a:solidFill>
                <a:latin typeface="Arial"/>
                <a:ea typeface="Arial"/>
                <a:cs typeface="Arial"/>
                <a:sym typeface="Arial"/>
              </a:rPr>
              <a:t>top_percentile_flag (q=0.99)</a:t>
            </a:r>
            <a:endParaRPr/>
          </a:p>
        </p:txBody>
      </p:sp>
      <p:sp>
        <p:nvSpPr>
          <p:cNvPr id="408" name="Google Shape;408;p21"/>
          <p:cNvSpPr/>
          <p:nvPr/>
        </p:nvSpPr>
        <p:spPr>
          <a:xfrm>
            <a:off x="896112" y="4160520"/>
            <a:ext cx="82296" cy="82296"/>
          </a:xfrm>
          <a:prstGeom prst="ellipse">
            <a:avLst/>
          </a:prstGeom>
          <a:solidFill>
            <a:srgbClr val="01B1E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9" name="Google Shape;409;p21"/>
          <p:cNvSpPr txBox="1"/>
          <p:nvPr/>
        </p:nvSpPr>
        <p:spPr>
          <a:xfrm>
            <a:off x="1078992" y="4123944"/>
            <a:ext cx="2782824" cy="5212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100" u="none" cap="none" strike="noStrike">
                <a:solidFill>
                  <a:srgbClr val="FFFFFF"/>
                </a:solidFill>
                <a:latin typeface="Arial"/>
                <a:ea typeface="Arial"/>
                <a:cs typeface="Arial"/>
                <a:sym typeface="Arial"/>
              </a:rPr>
              <a:t>log_feature (log1p)</a:t>
            </a:r>
            <a:endParaRPr/>
          </a:p>
        </p:txBody>
      </p:sp>
      <p:sp>
        <p:nvSpPr>
          <p:cNvPr id="410" name="Google Shape;410;p21"/>
          <p:cNvSpPr/>
          <p:nvPr/>
        </p:nvSpPr>
        <p:spPr>
          <a:xfrm>
            <a:off x="896112" y="4736592"/>
            <a:ext cx="82296" cy="82296"/>
          </a:xfrm>
          <a:prstGeom prst="ellipse">
            <a:avLst/>
          </a:prstGeom>
          <a:solidFill>
            <a:srgbClr val="01B1E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1" name="Google Shape;411;p21"/>
          <p:cNvSpPr txBox="1"/>
          <p:nvPr/>
        </p:nvSpPr>
        <p:spPr>
          <a:xfrm>
            <a:off x="1078992" y="4700016"/>
            <a:ext cx="2782824" cy="5212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100" u="none" cap="none" strike="noStrike">
                <a:solidFill>
                  <a:srgbClr val="FFFFFF"/>
                </a:solidFill>
                <a:latin typeface="Arial"/>
                <a:ea typeface="Arial"/>
                <a:cs typeface="Arial"/>
                <a:sym typeface="Arial"/>
              </a:rPr>
              <a:t>quantile_bins_dropna (5 bins)</a:t>
            </a:r>
            <a:endParaRPr/>
          </a:p>
        </p:txBody>
      </p:sp>
      <p:sp>
        <p:nvSpPr>
          <p:cNvPr id="412" name="Google Shape;412;p21"/>
          <p:cNvSpPr/>
          <p:nvPr/>
        </p:nvSpPr>
        <p:spPr>
          <a:xfrm>
            <a:off x="4383024" y="1691640"/>
            <a:ext cx="3422904" cy="3566160"/>
          </a:xfrm>
          <a:prstGeom prst="rect">
            <a:avLst/>
          </a:prstGeom>
          <a:solidFill>
            <a:srgbClr val="111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3" name="Google Shape;413;p21"/>
          <p:cNvSpPr/>
          <p:nvPr/>
        </p:nvSpPr>
        <p:spPr>
          <a:xfrm>
            <a:off x="4383024" y="1691640"/>
            <a:ext cx="3422904" cy="73152"/>
          </a:xfrm>
          <a:prstGeom prst="rect">
            <a:avLst/>
          </a:prstGeom>
          <a:solidFill>
            <a:srgbClr val="FECE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4" name="Google Shape;414;p21"/>
          <p:cNvSpPr txBox="1"/>
          <p:nvPr/>
        </p:nvSpPr>
        <p:spPr>
          <a:xfrm>
            <a:off x="4611624" y="1856232"/>
            <a:ext cx="2965704" cy="4572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i="0" lang="en-US" sz="1300" u="none" cap="none" strike="noStrike">
                <a:solidFill>
                  <a:srgbClr val="FECE00"/>
                </a:solidFill>
                <a:latin typeface="Arial"/>
                <a:ea typeface="Arial"/>
                <a:cs typeface="Arial"/>
                <a:sym typeface="Arial"/>
              </a:rPr>
              <a:t>ENCODING CATEGÓRICO</a:t>
            </a:r>
            <a:endParaRPr/>
          </a:p>
        </p:txBody>
      </p:sp>
      <p:sp>
        <p:nvSpPr>
          <p:cNvPr id="415" name="Google Shape;415;p21"/>
          <p:cNvSpPr/>
          <p:nvPr/>
        </p:nvSpPr>
        <p:spPr>
          <a:xfrm>
            <a:off x="4639056" y="2432304"/>
            <a:ext cx="82296" cy="82296"/>
          </a:xfrm>
          <a:prstGeom prst="ellipse">
            <a:avLst/>
          </a:prstGeom>
          <a:solidFill>
            <a:srgbClr val="01B1E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6" name="Google Shape;416;p21"/>
          <p:cNvSpPr txBox="1"/>
          <p:nvPr/>
        </p:nvSpPr>
        <p:spPr>
          <a:xfrm>
            <a:off x="4821936" y="2395728"/>
            <a:ext cx="2782824" cy="90525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100" u="none" cap="none" strike="noStrike">
                <a:solidFill>
                  <a:srgbClr val="FFFFFF"/>
                </a:solidFill>
                <a:latin typeface="Arial"/>
                <a:ea typeface="Arial"/>
                <a:cs typeface="Arial"/>
                <a:sym typeface="Arial"/>
              </a:rPr>
              <a:t>frequency_encoding</a:t>
            </a:r>
            <a:endParaRPr/>
          </a:p>
        </p:txBody>
      </p:sp>
      <p:sp>
        <p:nvSpPr>
          <p:cNvPr id="417" name="Google Shape;417;p21"/>
          <p:cNvSpPr/>
          <p:nvPr/>
        </p:nvSpPr>
        <p:spPr>
          <a:xfrm>
            <a:off x="4639056" y="3392424"/>
            <a:ext cx="82296" cy="82296"/>
          </a:xfrm>
          <a:prstGeom prst="ellipse">
            <a:avLst/>
          </a:prstGeom>
          <a:solidFill>
            <a:srgbClr val="01B1E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8" name="Google Shape;418;p21"/>
          <p:cNvSpPr txBox="1"/>
          <p:nvPr/>
        </p:nvSpPr>
        <p:spPr>
          <a:xfrm>
            <a:off x="4821936" y="3355848"/>
            <a:ext cx="2782824" cy="90525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100" u="none" cap="none" strike="noStrike">
                <a:solidFill>
                  <a:srgbClr val="FFFFFF"/>
                </a:solidFill>
                <a:latin typeface="Arial"/>
                <a:ea typeface="Arial"/>
                <a:cs typeface="Arial"/>
                <a:sym typeface="Arial"/>
              </a:rPr>
              <a:t>rare_grouping</a:t>
            </a:r>
            <a:endParaRPr/>
          </a:p>
        </p:txBody>
      </p:sp>
      <p:sp>
        <p:nvSpPr>
          <p:cNvPr id="419" name="Google Shape;419;p21"/>
          <p:cNvSpPr/>
          <p:nvPr/>
        </p:nvSpPr>
        <p:spPr>
          <a:xfrm>
            <a:off x="4639056" y="4352544"/>
            <a:ext cx="82296" cy="82296"/>
          </a:xfrm>
          <a:prstGeom prst="ellipse">
            <a:avLst/>
          </a:prstGeom>
          <a:solidFill>
            <a:srgbClr val="01B1E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0" name="Google Shape;420;p21"/>
          <p:cNvSpPr txBox="1"/>
          <p:nvPr/>
        </p:nvSpPr>
        <p:spPr>
          <a:xfrm>
            <a:off x="4821936" y="4315968"/>
            <a:ext cx="2782824" cy="90525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100" u="none" cap="none" strike="noStrike">
                <a:solidFill>
                  <a:srgbClr val="FFFFFF"/>
                </a:solidFill>
                <a:latin typeface="Arial"/>
                <a:ea typeface="Arial"/>
                <a:cs typeface="Arial"/>
                <a:sym typeface="Arial"/>
              </a:rPr>
              <a:t>target_encoding_with_cross_val</a:t>
            </a:r>
            <a:endParaRPr/>
          </a:p>
        </p:txBody>
      </p:sp>
      <p:sp>
        <p:nvSpPr>
          <p:cNvPr id="421" name="Google Shape;421;p21"/>
          <p:cNvSpPr/>
          <p:nvPr/>
        </p:nvSpPr>
        <p:spPr>
          <a:xfrm>
            <a:off x="8125968" y="1691640"/>
            <a:ext cx="3422904" cy="3566160"/>
          </a:xfrm>
          <a:prstGeom prst="rect">
            <a:avLst/>
          </a:prstGeom>
          <a:solidFill>
            <a:srgbClr val="111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2" name="Google Shape;422;p21"/>
          <p:cNvSpPr/>
          <p:nvPr/>
        </p:nvSpPr>
        <p:spPr>
          <a:xfrm>
            <a:off x="8125968" y="1691640"/>
            <a:ext cx="3422904" cy="73152"/>
          </a:xfrm>
          <a:prstGeom prst="rect">
            <a:avLst/>
          </a:prstGeom>
          <a:solidFill>
            <a:srgbClr val="FECE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3" name="Google Shape;423;p21"/>
          <p:cNvSpPr txBox="1"/>
          <p:nvPr/>
        </p:nvSpPr>
        <p:spPr>
          <a:xfrm>
            <a:off x="8354568" y="1856232"/>
            <a:ext cx="2965704" cy="4572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i="0" lang="en-US" sz="1300" u="none" cap="none" strike="noStrike">
                <a:solidFill>
                  <a:srgbClr val="FECE00"/>
                </a:solidFill>
                <a:latin typeface="Arial"/>
                <a:ea typeface="Arial"/>
                <a:cs typeface="Arial"/>
                <a:sym typeface="Arial"/>
              </a:rPr>
              <a:t>TEMPORALES Y COMBINACIÓN</a:t>
            </a:r>
            <a:endParaRPr/>
          </a:p>
        </p:txBody>
      </p:sp>
      <p:sp>
        <p:nvSpPr>
          <p:cNvPr id="424" name="Google Shape;424;p21"/>
          <p:cNvSpPr/>
          <p:nvPr/>
        </p:nvSpPr>
        <p:spPr>
          <a:xfrm>
            <a:off x="8381999" y="2432304"/>
            <a:ext cx="82296" cy="82296"/>
          </a:xfrm>
          <a:prstGeom prst="ellipse">
            <a:avLst/>
          </a:prstGeom>
          <a:solidFill>
            <a:srgbClr val="01B1E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5" name="Google Shape;425;p21"/>
          <p:cNvSpPr txBox="1"/>
          <p:nvPr/>
        </p:nvSpPr>
        <p:spPr>
          <a:xfrm>
            <a:off x="8564880" y="2395728"/>
            <a:ext cx="2782824" cy="5212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100" u="none" cap="none" strike="noStrike">
                <a:solidFill>
                  <a:srgbClr val="FFFFFF"/>
                </a:solidFill>
                <a:latin typeface="Arial"/>
                <a:ea typeface="Arial"/>
                <a:cs typeface="Arial"/>
                <a:sym typeface="Arial"/>
              </a:rPr>
              <a:t>hour / weekday</a:t>
            </a:r>
            <a:endParaRPr/>
          </a:p>
        </p:txBody>
      </p:sp>
      <p:sp>
        <p:nvSpPr>
          <p:cNvPr id="426" name="Google Shape;426;p21"/>
          <p:cNvSpPr/>
          <p:nvPr/>
        </p:nvSpPr>
        <p:spPr>
          <a:xfrm>
            <a:off x="8381999" y="3008376"/>
            <a:ext cx="82296" cy="82296"/>
          </a:xfrm>
          <a:prstGeom prst="ellipse">
            <a:avLst/>
          </a:prstGeom>
          <a:solidFill>
            <a:srgbClr val="01B1E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7" name="Google Shape;427;p21"/>
          <p:cNvSpPr txBox="1"/>
          <p:nvPr/>
        </p:nvSpPr>
        <p:spPr>
          <a:xfrm>
            <a:off x="8564880" y="2971800"/>
            <a:ext cx="2782824" cy="5212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100" u="none" cap="none" strike="noStrike">
                <a:solidFill>
                  <a:srgbClr val="FFFFFF"/>
                </a:solidFill>
                <a:latin typeface="Arial"/>
                <a:ea typeface="Arial"/>
                <a:cs typeface="Arial"/>
                <a:sym typeface="Arial"/>
              </a:rPr>
              <a:t>is_weekend_flag</a:t>
            </a:r>
            <a:endParaRPr/>
          </a:p>
        </p:txBody>
      </p:sp>
      <p:sp>
        <p:nvSpPr>
          <p:cNvPr id="428" name="Google Shape;428;p21"/>
          <p:cNvSpPr/>
          <p:nvPr/>
        </p:nvSpPr>
        <p:spPr>
          <a:xfrm>
            <a:off x="8381999" y="3584448"/>
            <a:ext cx="82296" cy="82296"/>
          </a:xfrm>
          <a:prstGeom prst="ellipse">
            <a:avLst/>
          </a:prstGeom>
          <a:solidFill>
            <a:srgbClr val="01B1E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9" name="Google Shape;429;p21"/>
          <p:cNvSpPr txBox="1"/>
          <p:nvPr/>
        </p:nvSpPr>
        <p:spPr>
          <a:xfrm>
            <a:off x="8564880" y="3547872"/>
            <a:ext cx="2782824" cy="5212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100" u="none" cap="none" strike="noStrike">
                <a:solidFill>
                  <a:srgbClr val="FFFFFF"/>
                </a:solidFill>
                <a:latin typeface="Arial"/>
                <a:ea typeface="Arial"/>
                <a:cs typeface="Arial"/>
                <a:sym typeface="Arial"/>
              </a:rPr>
              <a:t>hour_cyclic_sin_cos</a:t>
            </a:r>
            <a:endParaRPr/>
          </a:p>
        </p:txBody>
      </p:sp>
      <p:sp>
        <p:nvSpPr>
          <p:cNvPr id="430" name="Google Shape;430;p21"/>
          <p:cNvSpPr/>
          <p:nvPr/>
        </p:nvSpPr>
        <p:spPr>
          <a:xfrm>
            <a:off x="8381999" y="4160520"/>
            <a:ext cx="82296" cy="82296"/>
          </a:xfrm>
          <a:prstGeom prst="ellipse">
            <a:avLst/>
          </a:prstGeom>
          <a:solidFill>
            <a:srgbClr val="01B1E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1" name="Google Shape;431;p21"/>
          <p:cNvSpPr txBox="1"/>
          <p:nvPr/>
        </p:nvSpPr>
        <p:spPr>
          <a:xfrm>
            <a:off x="8564880" y="4123944"/>
            <a:ext cx="2782824" cy="5212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100" u="none" cap="none" strike="noStrike">
                <a:solidFill>
                  <a:srgbClr val="FFFFFF"/>
                </a:solidFill>
                <a:latin typeface="Arial"/>
                <a:ea typeface="Arial"/>
                <a:cs typeface="Arial"/>
                <a:sym typeface="Arial"/>
              </a:rPr>
              <a:t>pca_components (d+m → 1 comp.)</a:t>
            </a:r>
            <a:endParaRPr/>
          </a:p>
        </p:txBody>
      </p:sp>
      <p:sp>
        <p:nvSpPr>
          <p:cNvPr id="432" name="Google Shape;432;p21"/>
          <p:cNvSpPr/>
          <p:nvPr/>
        </p:nvSpPr>
        <p:spPr>
          <a:xfrm>
            <a:off x="8381999" y="4736592"/>
            <a:ext cx="82296" cy="82296"/>
          </a:xfrm>
          <a:prstGeom prst="ellipse">
            <a:avLst/>
          </a:prstGeom>
          <a:solidFill>
            <a:srgbClr val="01B1E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3" name="Google Shape;433;p21"/>
          <p:cNvSpPr txBox="1"/>
          <p:nvPr/>
        </p:nvSpPr>
        <p:spPr>
          <a:xfrm>
            <a:off x="8564880" y="4700016"/>
            <a:ext cx="2782824" cy="5212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100" u="none" cap="none" strike="noStrike">
                <a:solidFill>
                  <a:srgbClr val="FFFFFF"/>
                </a:solidFill>
                <a:latin typeface="Arial"/>
                <a:ea typeface="Arial"/>
                <a:cs typeface="Arial"/>
                <a:sym typeface="Arial"/>
              </a:rPr>
              <a:t>ratio (monto / l)</a:t>
            </a:r>
            <a:endParaRPr/>
          </a:p>
        </p:txBody>
      </p:sp>
      <p:sp>
        <p:nvSpPr>
          <p:cNvPr id="434" name="Google Shape;434;p21"/>
          <p:cNvSpPr/>
          <p:nvPr/>
        </p:nvSpPr>
        <p:spPr>
          <a:xfrm>
            <a:off x="640080" y="5486400"/>
            <a:ext cx="10908792" cy="822960"/>
          </a:xfrm>
          <a:prstGeom prst="rect">
            <a:avLst/>
          </a:prstGeom>
          <a:solidFill>
            <a:srgbClr val="14141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5" name="Google Shape;435;p21"/>
          <p:cNvSpPr txBox="1"/>
          <p:nvPr/>
        </p:nvSpPr>
        <p:spPr>
          <a:xfrm>
            <a:off x="868680" y="5596128"/>
            <a:ext cx="10424160" cy="603504"/>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1" lang="en-US" sz="1100" u="none" cap="none" strike="noStrike">
                <a:solidFill>
                  <a:srgbClr val="B0B0B0"/>
                </a:solidFill>
                <a:latin typeface="Arial"/>
                <a:ea typeface="Arial"/>
                <a:cs typeface="Arial"/>
                <a:sym typeface="Arial"/>
              </a:rPr>
              <a:t>Enfoque config-driven (feature_engineer_config.yml + preprocessing.apply_transformations): cada técnica se aplica solo cuando es estructuralmente compatible y no degenerada (p.ej. no se agrega missing_flag si la variable no tiene nulos) — 61 features derivadas en total.</a:t>
            </a:r>
            <a:endParaRPr/>
          </a:p>
        </p:txBody>
      </p:sp>
      <p:sp>
        <p:nvSpPr>
          <p:cNvPr id="436" name="Google Shape;436;p21"/>
          <p:cNvSpPr/>
          <p:nvPr/>
        </p:nvSpPr>
        <p:spPr>
          <a:xfrm>
            <a:off x="0" y="6537960"/>
            <a:ext cx="12191695" cy="320040"/>
          </a:xfrm>
          <a:prstGeom prst="rect">
            <a:avLst/>
          </a:prstGeom>
          <a:solidFill>
            <a:srgbClr val="0A0A0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nvGrpSpPr>
          <p:cNvPr id="437" name="Google Shape;437;p21"/>
          <p:cNvGrpSpPr/>
          <p:nvPr/>
        </p:nvGrpSpPr>
        <p:grpSpPr>
          <a:xfrm>
            <a:off x="12" y="6223211"/>
            <a:ext cx="634800" cy="634800"/>
            <a:chOff x="12" y="4508711"/>
            <a:chExt cx="634800" cy="634800"/>
          </a:xfrm>
        </p:grpSpPr>
        <p:sp>
          <p:nvSpPr>
            <p:cNvPr id="438" name="Google Shape;438;p21"/>
            <p:cNvSpPr/>
            <p:nvPr/>
          </p:nvSpPr>
          <p:spPr>
            <a:xfrm>
              <a:off x="12" y="4508711"/>
              <a:ext cx="634800" cy="634800"/>
            </a:xfrm>
            <a:prstGeom prst="round1Rect">
              <a:avLst>
                <a:gd fmla="val 28797" name="adj"/>
              </a:avLst>
            </a:prstGeom>
            <a:solidFill>
              <a:srgbClr val="FFD1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39" name="Google Shape;439;p21"/>
            <p:cNvPicPr preferRelativeResize="0"/>
            <p:nvPr/>
          </p:nvPicPr>
          <p:blipFill>
            <a:blip r:embed="rId3">
              <a:alphaModFix/>
            </a:blip>
            <a:stretch>
              <a:fillRect/>
            </a:stretch>
          </p:blipFill>
          <p:spPr>
            <a:xfrm>
              <a:off x="124673" y="4689253"/>
              <a:ext cx="397051" cy="273714"/>
            </a:xfrm>
            <a:prstGeom prst="rect">
              <a:avLst/>
            </a:prstGeom>
            <a:noFill/>
            <a:ln>
              <a:noFill/>
            </a:ln>
          </p:spPr>
        </p:pic>
      </p:grpSp>
      <p:sp>
        <p:nvSpPr>
          <p:cNvPr id="440" name="Google Shape;440;p21"/>
          <p:cNvSpPr/>
          <p:nvPr/>
        </p:nvSpPr>
        <p:spPr>
          <a:xfrm rot="10800000">
            <a:off x="11736276" y="0"/>
            <a:ext cx="455400" cy="421500"/>
          </a:xfrm>
          <a:prstGeom prst="corner">
            <a:avLst>
              <a:gd fmla="val 39228" name="adj1"/>
              <a:gd fmla="val 38336" name="adj2"/>
            </a:avLst>
          </a:prstGeom>
          <a:solidFill>
            <a:srgbClr val="FFD100"/>
          </a:solidFill>
          <a:ln>
            <a:noFill/>
          </a:ln>
        </p:spPr>
        <p:txBody>
          <a:bodyPr anchorCtr="0" anchor="ctr" bIns="60950" lIns="60950" spcFirstLastPara="1" rIns="60950" wrap="square" tIns="60950">
            <a:noAutofit/>
          </a:bodyPr>
          <a:lstStyle/>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22"/>
          <p:cNvSpPr/>
          <p:nvPr/>
        </p:nvSpPr>
        <p:spPr>
          <a:xfrm>
            <a:off x="0" y="0"/>
            <a:ext cx="12191695" cy="6858000"/>
          </a:xfrm>
          <a:prstGeom prst="rect">
            <a:avLst/>
          </a:prstGeom>
          <a:solidFill>
            <a:srgbClr val="1A1A1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6" name="Google Shape;446;p22"/>
          <p:cNvSpPr/>
          <p:nvPr/>
        </p:nvSpPr>
        <p:spPr>
          <a:xfrm>
            <a:off x="502920" y="457200"/>
            <a:ext cx="54864" cy="777240"/>
          </a:xfrm>
          <a:prstGeom prst="rect">
            <a:avLst/>
          </a:prstGeom>
          <a:solidFill>
            <a:srgbClr val="FECE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7" name="Google Shape;447;p22"/>
          <p:cNvSpPr txBox="1"/>
          <p:nvPr/>
        </p:nvSpPr>
        <p:spPr>
          <a:xfrm>
            <a:off x="685800" y="457200"/>
            <a:ext cx="1051560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300" u="none" cap="none" strike="noStrike">
                <a:solidFill>
                  <a:srgbClr val="B0B0B0"/>
                </a:solidFill>
                <a:latin typeface="Arial"/>
                <a:ea typeface="Arial"/>
                <a:cs typeface="Arial"/>
                <a:sym typeface="Arial"/>
              </a:rPr>
              <a:t>02_FEATURE_ENGINEER — 01_statistical_analysis.ipynb</a:t>
            </a:r>
            <a:endParaRPr/>
          </a:p>
        </p:txBody>
      </p:sp>
      <p:sp>
        <p:nvSpPr>
          <p:cNvPr id="448" name="Google Shape;448;p22"/>
          <p:cNvSpPr txBox="1"/>
          <p:nvPr/>
        </p:nvSpPr>
        <p:spPr>
          <a:xfrm>
            <a:off x="658368" y="749808"/>
            <a:ext cx="10607040" cy="5943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600" u="none" cap="none" strike="noStrike">
                <a:solidFill>
                  <a:srgbClr val="FFFFFF"/>
                </a:solidFill>
                <a:latin typeface="Arial"/>
                <a:ea typeface="Arial"/>
                <a:cs typeface="Arial"/>
                <a:sym typeface="Arial"/>
              </a:rPr>
              <a:t>PRUEBAS ESTADÍSTICAS DE RELEVANCIA</a:t>
            </a:r>
            <a:endParaRPr/>
          </a:p>
        </p:txBody>
      </p:sp>
      <p:sp>
        <p:nvSpPr>
          <p:cNvPr id="449" name="Google Shape;449;p22"/>
          <p:cNvSpPr/>
          <p:nvPr/>
        </p:nvSpPr>
        <p:spPr>
          <a:xfrm>
            <a:off x="640080" y="1691640"/>
            <a:ext cx="5294376" cy="3566160"/>
          </a:xfrm>
          <a:prstGeom prst="rect">
            <a:avLst/>
          </a:prstGeom>
          <a:solidFill>
            <a:srgbClr val="111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0" name="Google Shape;450;p22"/>
          <p:cNvSpPr/>
          <p:nvPr/>
        </p:nvSpPr>
        <p:spPr>
          <a:xfrm>
            <a:off x="640080" y="1691640"/>
            <a:ext cx="5294376" cy="73152"/>
          </a:xfrm>
          <a:prstGeom prst="rect">
            <a:avLst/>
          </a:prstGeom>
          <a:solidFill>
            <a:srgbClr val="FECE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1" name="Google Shape;451;p22"/>
          <p:cNvSpPr txBox="1"/>
          <p:nvPr/>
        </p:nvSpPr>
        <p:spPr>
          <a:xfrm>
            <a:off x="868680" y="1856232"/>
            <a:ext cx="4837176" cy="4572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i="0" lang="en-US" sz="1300" u="none" cap="none" strike="noStrike">
                <a:solidFill>
                  <a:srgbClr val="FECE00"/>
                </a:solidFill>
                <a:latin typeface="Arial"/>
                <a:ea typeface="Arial"/>
                <a:cs typeface="Arial"/>
                <a:sym typeface="Arial"/>
              </a:rPr>
              <a:t>VARIABLES CONTINUAS</a:t>
            </a:r>
            <a:endParaRPr/>
          </a:p>
        </p:txBody>
      </p:sp>
      <p:sp>
        <p:nvSpPr>
          <p:cNvPr id="452" name="Google Shape;452;p22"/>
          <p:cNvSpPr/>
          <p:nvPr/>
        </p:nvSpPr>
        <p:spPr>
          <a:xfrm>
            <a:off x="896112" y="2432304"/>
            <a:ext cx="82296" cy="82296"/>
          </a:xfrm>
          <a:prstGeom prst="ellipse">
            <a:avLst/>
          </a:prstGeom>
          <a:solidFill>
            <a:srgbClr val="01B1E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3" name="Google Shape;453;p22"/>
          <p:cNvSpPr txBox="1"/>
          <p:nvPr/>
        </p:nvSpPr>
        <p:spPr>
          <a:xfrm>
            <a:off x="1078992" y="2395728"/>
            <a:ext cx="4654296" cy="4251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100" u="none" cap="none" strike="noStrike">
                <a:solidFill>
                  <a:srgbClr val="FFFFFF"/>
                </a:solidFill>
                <a:latin typeface="Arial"/>
                <a:ea typeface="Arial"/>
                <a:cs typeface="Arial"/>
                <a:sym typeface="Arial"/>
              </a:rPr>
              <a:t>Mann-Whitney U</a:t>
            </a:r>
            <a:endParaRPr/>
          </a:p>
        </p:txBody>
      </p:sp>
      <p:sp>
        <p:nvSpPr>
          <p:cNvPr id="454" name="Google Shape;454;p22"/>
          <p:cNvSpPr/>
          <p:nvPr/>
        </p:nvSpPr>
        <p:spPr>
          <a:xfrm>
            <a:off x="896112" y="2912364"/>
            <a:ext cx="82296" cy="82296"/>
          </a:xfrm>
          <a:prstGeom prst="ellipse">
            <a:avLst/>
          </a:prstGeom>
          <a:solidFill>
            <a:srgbClr val="01B1E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5" name="Google Shape;455;p22"/>
          <p:cNvSpPr txBox="1"/>
          <p:nvPr/>
        </p:nvSpPr>
        <p:spPr>
          <a:xfrm>
            <a:off x="1078992" y="2875788"/>
            <a:ext cx="4654296" cy="4251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100" u="none" cap="none" strike="noStrike">
                <a:solidFill>
                  <a:srgbClr val="FFFFFF"/>
                </a:solidFill>
                <a:latin typeface="Arial"/>
                <a:ea typeface="Arial"/>
                <a:cs typeface="Arial"/>
                <a:sym typeface="Arial"/>
              </a:rPr>
              <a:t>Kolmogorov-Smirnov</a:t>
            </a:r>
            <a:endParaRPr/>
          </a:p>
        </p:txBody>
      </p:sp>
      <p:sp>
        <p:nvSpPr>
          <p:cNvPr id="456" name="Google Shape;456;p22"/>
          <p:cNvSpPr/>
          <p:nvPr/>
        </p:nvSpPr>
        <p:spPr>
          <a:xfrm>
            <a:off x="896112" y="3392424"/>
            <a:ext cx="82296" cy="82296"/>
          </a:xfrm>
          <a:prstGeom prst="ellipse">
            <a:avLst/>
          </a:prstGeom>
          <a:solidFill>
            <a:srgbClr val="01B1E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7" name="Google Shape;457;p22"/>
          <p:cNvSpPr txBox="1"/>
          <p:nvPr/>
        </p:nvSpPr>
        <p:spPr>
          <a:xfrm>
            <a:off x="1078992" y="3355848"/>
            <a:ext cx="4654296" cy="4251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100" u="none" cap="none" strike="noStrike">
                <a:solidFill>
                  <a:srgbClr val="FFFFFF"/>
                </a:solidFill>
                <a:latin typeface="Arial"/>
                <a:ea typeface="Arial"/>
                <a:cs typeface="Arial"/>
                <a:sym typeface="Arial"/>
              </a:rPr>
              <a:t>Punto-biserial</a:t>
            </a:r>
            <a:endParaRPr/>
          </a:p>
        </p:txBody>
      </p:sp>
      <p:sp>
        <p:nvSpPr>
          <p:cNvPr id="458" name="Google Shape;458;p22"/>
          <p:cNvSpPr/>
          <p:nvPr/>
        </p:nvSpPr>
        <p:spPr>
          <a:xfrm>
            <a:off x="896112" y="3872484"/>
            <a:ext cx="82296" cy="82296"/>
          </a:xfrm>
          <a:prstGeom prst="ellipse">
            <a:avLst/>
          </a:prstGeom>
          <a:solidFill>
            <a:srgbClr val="01B1E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9" name="Google Shape;459;p22"/>
          <p:cNvSpPr txBox="1"/>
          <p:nvPr/>
        </p:nvSpPr>
        <p:spPr>
          <a:xfrm>
            <a:off x="1078992" y="3835908"/>
            <a:ext cx="4654296" cy="4251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100" u="none" cap="none" strike="noStrike">
                <a:solidFill>
                  <a:srgbClr val="FFFFFF"/>
                </a:solidFill>
                <a:latin typeface="Arial"/>
                <a:ea typeface="Arial"/>
                <a:cs typeface="Arial"/>
                <a:sym typeface="Arial"/>
              </a:rPr>
              <a:t>ROC-AUC univariado</a:t>
            </a:r>
            <a:endParaRPr/>
          </a:p>
        </p:txBody>
      </p:sp>
      <p:sp>
        <p:nvSpPr>
          <p:cNvPr id="460" name="Google Shape;460;p22"/>
          <p:cNvSpPr/>
          <p:nvPr/>
        </p:nvSpPr>
        <p:spPr>
          <a:xfrm>
            <a:off x="896112" y="4352544"/>
            <a:ext cx="82296" cy="82296"/>
          </a:xfrm>
          <a:prstGeom prst="ellipse">
            <a:avLst/>
          </a:prstGeom>
          <a:solidFill>
            <a:srgbClr val="01B1E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1" name="Google Shape;461;p22"/>
          <p:cNvSpPr txBox="1"/>
          <p:nvPr/>
        </p:nvSpPr>
        <p:spPr>
          <a:xfrm>
            <a:off x="1078992" y="4315968"/>
            <a:ext cx="4654296" cy="4251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100" u="none" cap="none" strike="noStrike">
                <a:solidFill>
                  <a:srgbClr val="FFFFFF"/>
                </a:solidFill>
                <a:latin typeface="Arial"/>
                <a:ea typeface="Arial"/>
                <a:cs typeface="Arial"/>
                <a:sym typeface="Arial"/>
              </a:rPr>
              <a:t>Cohen's d</a:t>
            </a:r>
            <a:endParaRPr/>
          </a:p>
        </p:txBody>
      </p:sp>
      <p:sp>
        <p:nvSpPr>
          <p:cNvPr id="462" name="Google Shape;462;p22"/>
          <p:cNvSpPr/>
          <p:nvPr/>
        </p:nvSpPr>
        <p:spPr>
          <a:xfrm>
            <a:off x="896112" y="4832603"/>
            <a:ext cx="82296" cy="82296"/>
          </a:xfrm>
          <a:prstGeom prst="ellipse">
            <a:avLst/>
          </a:prstGeom>
          <a:solidFill>
            <a:srgbClr val="01B1E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3" name="Google Shape;463;p22"/>
          <p:cNvSpPr txBox="1"/>
          <p:nvPr/>
        </p:nvSpPr>
        <p:spPr>
          <a:xfrm>
            <a:off x="1078992" y="4796027"/>
            <a:ext cx="4654296" cy="4251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100" u="none" cap="none" strike="noStrike">
                <a:solidFill>
                  <a:srgbClr val="FFFFFF"/>
                </a:solidFill>
                <a:latin typeface="Arial"/>
                <a:ea typeface="Arial"/>
                <a:cs typeface="Arial"/>
                <a:sym typeface="Arial"/>
              </a:rPr>
              <a:t>Wald (logit)</a:t>
            </a:r>
            <a:endParaRPr/>
          </a:p>
        </p:txBody>
      </p:sp>
      <p:sp>
        <p:nvSpPr>
          <p:cNvPr id="464" name="Google Shape;464;p22"/>
          <p:cNvSpPr/>
          <p:nvPr/>
        </p:nvSpPr>
        <p:spPr>
          <a:xfrm>
            <a:off x="6254496" y="1691640"/>
            <a:ext cx="5294376" cy="3566160"/>
          </a:xfrm>
          <a:prstGeom prst="rect">
            <a:avLst/>
          </a:prstGeom>
          <a:solidFill>
            <a:srgbClr val="111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5" name="Google Shape;465;p22"/>
          <p:cNvSpPr/>
          <p:nvPr/>
        </p:nvSpPr>
        <p:spPr>
          <a:xfrm>
            <a:off x="6254496" y="1691640"/>
            <a:ext cx="5294376" cy="73152"/>
          </a:xfrm>
          <a:prstGeom prst="rect">
            <a:avLst/>
          </a:prstGeom>
          <a:solidFill>
            <a:srgbClr val="FECE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6" name="Google Shape;466;p22"/>
          <p:cNvSpPr txBox="1"/>
          <p:nvPr/>
        </p:nvSpPr>
        <p:spPr>
          <a:xfrm>
            <a:off x="6483096" y="1856232"/>
            <a:ext cx="4837176" cy="4572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i="0" lang="en-US" sz="1300" u="none" cap="none" strike="noStrike">
                <a:solidFill>
                  <a:srgbClr val="FECE00"/>
                </a:solidFill>
                <a:latin typeface="Arial"/>
                <a:ea typeface="Arial"/>
                <a:cs typeface="Arial"/>
                <a:sym typeface="Arial"/>
              </a:rPr>
              <a:t>VARIABLES CATEGÓRICAS</a:t>
            </a:r>
            <a:endParaRPr/>
          </a:p>
        </p:txBody>
      </p:sp>
      <p:sp>
        <p:nvSpPr>
          <p:cNvPr id="467" name="Google Shape;467;p22"/>
          <p:cNvSpPr/>
          <p:nvPr/>
        </p:nvSpPr>
        <p:spPr>
          <a:xfrm>
            <a:off x="6510528" y="2432304"/>
            <a:ext cx="82296" cy="82296"/>
          </a:xfrm>
          <a:prstGeom prst="ellipse">
            <a:avLst/>
          </a:prstGeom>
          <a:solidFill>
            <a:srgbClr val="01B1E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8" name="Google Shape;468;p22"/>
          <p:cNvSpPr txBox="1"/>
          <p:nvPr/>
        </p:nvSpPr>
        <p:spPr>
          <a:xfrm>
            <a:off x="6693408" y="2395728"/>
            <a:ext cx="4654296" cy="5212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100" u="none" cap="none" strike="noStrike">
                <a:solidFill>
                  <a:srgbClr val="FFFFFF"/>
                </a:solidFill>
                <a:latin typeface="Arial"/>
                <a:ea typeface="Arial"/>
                <a:cs typeface="Arial"/>
                <a:sym typeface="Arial"/>
              </a:rPr>
              <a:t>Chi-cuadrado</a:t>
            </a:r>
            <a:endParaRPr/>
          </a:p>
        </p:txBody>
      </p:sp>
      <p:sp>
        <p:nvSpPr>
          <p:cNvPr id="469" name="Google Shape;469;p22"/>
          <p:cNvSpPr/>
          <p:nvPr/>
        </p:nvSpPr>
        <p:spPr>
          <a:xfrm>
            <a:off x="6510528" y="3008376"/>
            <a:ext cx="82296" cy="82296"/>
          </a:xfrm>
          <a:prstGeom prst="ellipse">
            <a:avLst/>
          </a:prstGeom>
          <a:solidFill>
            <a:srgbClr val="01B1E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0" name="Google Shape;470;p22"/>
          <p:cNvSpPr txBox="1"/>
          <p:nvPr/>
        </p:nvSpPr>
        <p:spPr>
          <a:xfrm>
            <a:off x="6693408" y="2971800"/>
            <a:ext cx="4654296" cy="5212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100" u="none" cap="none" strike="noStrike">
                <a:solidFill>
                  <a:srgbClr val="FFFFFF"/>
                </a:solidFill>
                <a:latin typeface="Arial"/>
                <a:ea typeface="Arial"/>
                <a:cs typeface="Arial"/>
                <a:sym typeface="Arial"/>
              </a:rPr>
              <a:t>V de Cramér</a:t>
            </a:r>
            <a:endParaRPr/>
          </a:p>
        </p:txBody>
      </p:sp>
      <p:sp>
        <p:nvSpPr>
          <p:cNvPr id="471" name="Google Shape;471;p22"/>
          <p:cNvSpPr/>
          <p:nvPr/>
        </p:nvSpPr>
        <p:spPr>
          <a:xfrm>
            <a:off x="6510528" y="3584448"/>
            <a:ext cx="82296" cy="82296"/>
          </a:xfrm>
          <a:prstGeom prst="ellipse">
            <a:avLst/>
          </a:prstGeom>
          <a:solidFill>
            <a:srgbClr val="01B1E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2" name="Google Shape;472;p22"/>
          <p:cNvSpPr txBox="1"/>
          <p:nvPr/>
        </p:nvSpPr>
        <p:spPr>
          <a:xfrm>
            <a:off x="6693408" y="3547872"/>
            <a:ext cx="4654296" cy="5212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100" u="none" cap="none" strike="noStrike">
                <a:solidFill>
                  <a:srgbClr val="FFFFFF"/>
                </a:solidFill>
                <a:latin typeface="Arial"/>
                <a:ea typeface="Arial"/>
                <a:cs typeface="Arial"/>
                <a:sym typeface="Arial"/>
              </a:rPr>
              <a:t>Information Value</a:t>
            </a:r>
            <a:endParaRPr/>
          </a:p>
        </p:txBody>
      </p:sp>
      <p:sp>
        <p:nvSpPr>
          <p:cNvPr id="473" name="Google Shape;473;p22"/>
          <p:cNvSpPr/>
          <p:nvPr/>
        </p:nvSpPr>
        <p:spPr>
          <a:xfrm>
            <a:off x="6510528" y="4160520"/>
            <a:ext cx="82296" cy="82296"/>
          </a:xfrm>
          <a:prstGeom prst="ellipse">
            <a:avLst/>
          </a:prstGeom>
          <a:solidFill>
            <a:srgbClr val="01B1E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4" name="Google Shape;474;p22"/>
          <p:cNvSpPr txBox="1"/>
          <p:nvPr/>
        </p:nvSpPr>
        <p:spPr>
          <a:xfrm>
            <a:off x="6693408" y="4123944"/>
            <a:ext cx="4654296" cy="5212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100" u="none" cap="none" strike="noStrike">
                <a:solidFill>
                  <a:srgbClr val="FFFFFF"/>
                </a:solidFill>
                <a:latin typeface="Arial"/>
                <a:ea typeface="Arial"/>
                <a:cs typeface="Arial"/>
                <a:sym typeface="Arial"/>
              </a:rPr>
              <a:t>Weight of Evidence</a:t>
            </a:r>
            <a:endParaRPr/>
          </a:p>
        </p:txBody>
      </p:sp>
      <p:sp>
        <p:nvSpPr>
          <p:cNvPr id="475" name="Google Shape;475;p22"/>
          <p:cNvSpPr/>
          <p:nvPr/>
        </p:nvSpPr>
        <p:spPr>
          <a:xfrm>
            <a:off x="6510528" y="4736592"/>
            <a:ext cx="82296" cy="82296"/>
          </a:xfrm>
          <a:prstGeom prst="ellipse">
            <a:avLst/>
          </a:prstGeom>
          <a:solidFill>
            <a:srgbClr val="01B1E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6" name="Google Shape;476;p22"/>
          <p:cNvSpPr txBox="1"/>
          <p:nvPr/>
        </p:nvSpPr>
        <p:spPr>
          <a:xfrm>
            <a:off x="6693408" y="4700016"/>
            <a:ext cx="4654296" cy="5212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100" u="none" cap="none" strike="noStrike">
                <a:solidFill>
                  <a:srgbClr val="FFFFFF"/>
                </a:solidFill>
                <a:latin typeface="Arial"/>
                <a:ea typeface="Arial"/>
                <a:cs typeface="Arial"/>
                <a:sym typeface="Arial"/>
              </a:rPr>
              <a:t>LR test (logit)</a:t>
            </a:r>
            <a:endParaRPr/>
          </a:p>
        </p:txBody>
      </p:sp>
      <p:sp>
        <p:nvSpPr>
          <p:cNvPr id="477" name="Google Shape;477;p22"/>
          <p:cNvSpPr/>
          <p:nvPr/>
        </p:nvSpPr>
        <p:spPr>
          <a:xfrm>
            <a:off x="640080" y="5486400"/>
            <a:ext cx="10908792" cy="822960"/>
          </a:xfrm>
          <a:prstGeom prst="rect">
            <a:avLst/>
          </a:prstGeom>
          <a:solidFill>
            <a:srgbClr val="14141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8" name="Google Shape;478;p22"/>
          <p:cNvSpPr txBox="1"/>
          <p:nvPr/>
        </p:nvSpPr>
        <p:spPr>
          <a:xfrm>
            <a:off x="868680" y="5596128"/>
            <a:ext cx="10424160" cy="603504"/>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1" lang="en-US" sz="1100" u="none" cap="none" strike="noStrike">
                <a:solidFill>
                  <a:srgbClr val="B0B0B0"/>
                </a:solidFill>
                <a:latin typeface="Arial"/>
                <a:ea typeface="Arial"/>
                <a:cs typeface="Arial"/>
                <a:sym typeface="Arial"/>
              </a:rPr>
              <a:t>Implementado en FeatureStatTests (src/feature_engineer_utils/statistical_tests.py) — estandariza el cálculo de todas las pruebas por feature, cuantificando la relevancia de cada variable antes del modelado.</a:t>
            </a:r>
            <a:endParaRPr/>
          </a:p>
        </p:txBody>
      </p:sp>
      <p:sp>
        <p:nvSpPr>
          <p:cNvPr id="479" name="Google Shape;479;p22"/>
          <p:cNvSpPr/>
          <p:nvPr/>
        </p:nvSpPr>
        <p:spPr>
          <a:xfrm>
            <a:off x="0" y="6537960"/>
            <a:ext cx="12191695" cy="320040"/>
          </a:xfrm>
          <a:prstGeom prst="rect">
            <a:avLst/>
          </a:prstGeom>
          <a:solidFill>
            <a:srgbClr val="0A0A0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nvGrpSpPr>
          <p:cNvPr id="480" name="Google Shape;480;p22"/>
          <p:cNvGrpSpPr/>
          <p:nvPr/>
        </p:nvGrpSpPr>
        <p:grpSpPr>
          <a:xfrm>
            <a:off x="12" y="6223211"/>
            <a:ext cx="634800" cy="634800"/>
            <a:chOff x="12" y="4508711"/>
            <a:chExt cx="634800" cy="634800"/>
          </a:xfrm>
        </p:grpSpPr>
        <p:sp>
          <p:nvSpPr>
            <p:cNvPr id="481" name="Google Shape;481;p22"/>
            <p:cNvSpPr/>
            <p:nvPr/>
          </p:nvSpPr>
          <p:spPr>
            <a:xfrm>
              <a:off x="12" y="4508711"/>
              <a:ext cx="634800" cy="634800"/>
            </a:xfrm>
            <a:prstGeom prst="round1Rect">
              <a:avLst>
                <a:gd fmla="val 28797" name="adj"/>
              </a:avLst>
            </a:prstGeom>
            <a:solidFill>
              <a:srgbClr val="FFD1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82" name="Google Shape;482;p22"/>
            <p:cNvPicPr preferRelativeResize="0"/>
            <p:nvPr/>
          </p:nvPicPr>
          <p:blipFill>
            <a:blip r:embed="rId3">
              <a:alphaModFix/>
            </a:blip>
            <a:stretch>
              <a:fillRect/>
            </a:stretch>
          </p:blipFill>
          <p:spPr>
            <a:xfrm>
              <a:off x="124673" y="4689253"/>
              <a:ext cx="397051" cy="273714"/>
            </a:xfrm>
            <a:prstGeom prst="rect">
              <a:avLst/>
            </a:prstGeom>
            <a:noFill/>
            <a:ln>
              <a:noFill/>
            </a:ln>
          </p:spPr>
        </p:pic>
      </p:grpSp>
      <p:sp>
        <p:nvSpPr>
          <p:cNvPr id="483" name="Google Shape;483;p22"/>
          <p:cNvSpPr/>
          <p:nvPr/>
        </p:nvSpPr>
        <p:spPr>
          <a:xfrm rot="10800000">
            <a:off x="11736276" y="0"/>
            <a:ext cx="455400" cy="421500"/>
          </a:xfrm>
          <a:prstGeom prst="corner">
            <a:avLst>
              <a:gd fmla="val 39228" name="adj1"/>
              <a:gd fmla="val 38336" name="adj2"/>
            </a:avLst>
          </a:prstGeom>
          <a:solidFill>
            <a:srgbClr val="FFD100"/>
          </a:solidFill>
          <a:ln>
            <a:noFill/>
          </a:ln>
        </p:spPr>
        <p:txBody>
          <a:bodyPr anchorCtr="0" anchor="ctr" bIns="60950" lIns="60950" spcFirstLastPara="1" rIns="60950" wrap="square" tIns="60950">
            <a:noAutofit/>
          </a:bodyPr>
          <a:lstStyle/>
          <a:p>
            <a:pPr indent="0" lvl="0" marL="0" rtl="0" algn="l">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23"/>
          <p:cNvSpPr/>
          <p:nvPr/>
        </p:nvSpPr>
        <p:spPr>
          <a:xfrm>
            <a:off x="0" y="0"/>
            <a:ext cx="12191695" cy="6858000"/>
          </a:xfrm>
          <a:prstGeom prst="rect">
            <a:avLst/>
          </a:prstGeom>
          <a:solidFill>
            <a:srgbClr val="1A1A1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9" name="Google Shape;489;p23"/>
          <p:cNvSpPr/>
          <p:nvPr/>
        </p:nvSpPr>
        <p:spPr>
          <a:xfrm>
            <a:off x="502920" y="457200"/>
            <a:ext cx="54864" cy="777240"/>
          </a:xfrm>
          <a:prstGeom prst="rect">
            <a:avLst/>
          </a:prstGeom>
          <a:solidFill>
            <a:srgbClr val="FECE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0" name="Google Shape;490;p23"/>
          <p:cNvSpPr txBox="1"/>
          <p:nvPr/>
        </p:nvSpPr>
        <p:spPr>
          <a:xfrm>
            <a:off x="685800" y="457200"/>
            <a:ext cx="1051560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300" u="none" cap="none" strike="noStrike">
                <a:solidFill>
                  <a:srgbClr val="B0B0B0"/>
                </a:solidFill>
                <a:latin typeface="Arial"/>
                <a:ea typeface="Arial"/>
                <a:cs typeface="Arial"/>
                <a:sym typeface="Arial"/>
              </a:rPr>
              <a:t>02_FEATURE_ENGINEER — 02_aggregation_features.ipynb</a:t>
            </a:r>
            <a:endParaRPr/>
          </a:p>
        </p:txBody>
      </p:sp>
      <p:sp>
        <p:nvSpPr>
          <p:cNvPr id="491" name="Google Shape;491;p23"/>
          <p:cNvSpPr txBox="1"/>
          <p:nvPr/>
        </p:nvSpPr>
        <p:spPr>
          <a:xfrm>
            <a:off x="658368" y="749808"/>
            <a:ext cx="10607040" cy="5943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600" u="none" cap="none" strike="noStrike">
                <a:solidFill>
                  <a:srgbClr val="FFFFFF"/>
                </a:solidFill>
                <a:latin typeface="Arial"/>
                <a:ea typeface="Arial"/>
                <a:cs typeface="Arial"/>
                <a:sym typeface="Arial"/>
              </a:rPr>
              <a:t>AGREGACIONES TEMPORALES (ROLLING WINDOWS)</a:t>
            </a:r>
            <a:endParaRPr/>
          </a:p>
        </p:txBody>
      </p:sp>
      <p:sp>
        <p:nvSpPr>
          <p:cNvPr id="492" name="Google Shape;492;p23"/>
          <p:cNvSpPr txBox="1"/>
          <p:nvPr/>
        </p:nvSpPr>
        <p:spPr>
          <a:xfrm>
            <a:off x="640080" y="1600200"/>
            <a:ext cx="1090879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00" u="none" cap="none" strike="noStrike">
                <a:solidFill>
                  <a:srgbClr val="B0B0B0"/>
                </a:solidFill>
                <a:latin typeface="Arial"/>
                <a:ea typeface="Arial"/>
                <a:cs typeface="Arial"/>
                <a:sym typeface="Arial"/>
              </a:rPr>
              <a:t>VENTANAS TEMPORALES (agrupado por j, sobre monto)</a:t>
            </a:r>
            <a:endParaRPr/>
          </a:p>
        </p:txBody>
      </p:sp>
      <p:sp>
        <p:nvSpPr>
          <p:cNvPr id="493" name="Google Shape;493;p23"/>
          <p:cNvSpPr/>
          <p:nvPr/>
        </p:nvSpPr>
        <p:spPr>
          <a:xfrm>
            <a:off x="640080" y="1929384"/>
            <a:ext cx="2064715" cy="548640"/>
          </a:xfrm>
          <a:prstGeom prst="rect">
            <a:avLst/>
          </a:prstGeom>
          <a:solidFill>
            <a:srgbClr val="111111"/>
          </a:solidFill>
          <a:ln cap="flat" cmpd="sng" w="12700">
            <a:solidFill>
              <a:srgbClr val="FECE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4" name="Google Shape;494;p23"/>
          <p:cNvSpPr txBox="1"/>
          <p:nvPr/>
        </p:nvSpPr>
        <p:spPr>
          <a:xfrm>
            <a:off x="694944" y="1929384"/>
            <a:ext cx="1954987" cy="54864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None/>
            </a:pPr>
            <a:r>
              <a:rPr b="1" i="0" lang="en-US" sz="1050" u="none" cap="none" strike="noStrike">
                <a:solidFill>
                  <a:srgbClr val="FFFFFF"/>
                </a:solidFill>
                <a:latin typeface="Arial"/>
                <a:ea typeface="Arial"/>
                <a:cs typeface="Arial"/>
                <a:sym typeface="Arial"/>
              </a:rPr>
              <a:t>1h</a:t>
            </a:r>
            <a:endParaRPr/>
          </a:p>
        </p:txBody>
      </p:sp>
      <p:sp>
        <p:nvSpPr>
          <p:cNvPr id="495" name="Google Shape;495;p23"/>
          <p:cNvSpPr/>
          <p:nvPr/>
        </p:nvSpPr>
        <p:spPr>
          <a:xfrm>
            <a:off x="2851099" y="1929384"/>
            <a:ext cx="2064715" cy="548640"/>
          </a:xfrm>
          <a:prstGeom prst="rect">
            <a:avLst/>
          </a:prstGeom>
          <a:solidFill>
            <a:srgbClr val="111111"/>
          </a:solidFill>
          <a:ln cap="flat" cmpd="sng" w="12700">
            <a:solidFill>
              <a:srgbClr val="FECE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6" name="Google Shape;496;p23"/>
          <p:cNvSpPr txBox="1"/>
          <p:nvPr/>
        </p:nvSpPr>
        <p:spPr>
          <a:xfrm>
            <a:off x="2905963" y="1929384"/>
            <a:ext cx="1954987" cy="54864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None/>
            </a:pPr>
            <a:r>
              <a:rPr b="1" i="0" lang="en-US" sz="1050" u="none" cap="none" strike="noStrike">
                <a:solidFill>
                  <a:srgbClr val="FFFFFF"/>
                </a:solidFill>
                <a:latin typeface="Arial"/>
                <a:ea typeface="Arial"/>
                <a:cs typeface="Arial"/>
                <a:sym typeface="Arial"/>
              </a:rPr>
              <a:t>1d</a:t>
            </a:r>
            <a:endParaRPr/>
          </a:p>
        </p:txBody>
      </p:sp>
      <p:sp>
        <p:nvSpPr>
          <p:cNvPr id="497" name="Google Shape;497;p23"/>
          <p:cNvSpPr/>
          <p:nvPr/>
        </p:nvSpPr>
        <p:spPr>
          <a:xfrm>
            <a:off x="5062118" y="1929384"/>
            <a:ext cx="2064715" cy="548640"/>
          </a:xfrm>
          <a:prstGeom prst="rect">
            <a:avLst/>
          </a:prstGeom>
          <a:solidFill>
            <a:srgbClr val="111111"/>
          </a:solidFill>
          <a:ln cap="flat" cmpd="sng" w="12700">
            <a:solidFill>
              <a:srgbClr val="FECE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8" name="Google Shape;498;p23"/>
          <p:cNvSpPr txBox="1"/>
          <p:nvPr/>
        </p:nvSpPr>
        <p:spPr>
          <a:xfrm>
            <a:off x="5116982" y="1929384"/>
            <a:ext cx="1954987" cy="54864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None/>
            </a:pPr>
            <a:r>
              <a:rPr b="1" i="0" lang="en-US" sz="1050" u="none" cap="none" strike="noStrike">
                <a:solidFill>
                  <a:srgbClr val="FFFFFF"/>
                </a:solidFill>
                <a:latin typeface="Arial"/>
                <a:ea typeface="Arial"/>
                <a:cs typeface="Arial"/>
                <a:sym typeface="Arial"/>
              </a:rPr>
              <a:t>3d</a:t>
            </a:r>
            <a:endParaRPr/>
          </a:p>
        </p:txBody>
      </p:sp>
      <p:sp>
        <p:nvSpPr>
          <p:cNvPr id="499" name="Google Shape;499;p23"/>
          <p:cNvSpPr/>
          <p:nvPr/>
        </p:nvSpPr>
        <p:spPr>
          <a:xfrm>
            <a:off x="7273137" y="1929384"/>
            <a:ext cx="2064715" cy="548640"/>
          </a:xfrm>
          <a:prstGeom prst="rect">
            <a:avLst/>
          </a:prstGeom>
          <a:solidFill>
            <a:srgbClr val="111111"/>
          </a:solidFill>
          <a:ln cap="flat" cmpd="sng" w="12700">
            <a:solidFill>
              <a:srgbClr val="FECE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00" name="Google Shape;500;p23"/>
          <p:cNvSpPr txBox="1"/>
          <p:nvPr/>
        </p:nvSpPr>
        <p:spPr>
          <a:xfrm>
            <a:off x="7328001" y="1929384"/>
            <a:ext cx="1954987" cy="54864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None/>
            </a:pPr>
            <a:r>
              <a:rPr b="1" i="0" lang="en-US" sz="1050" u="none" cap="none" strike="noStrike">
                <a:solidFill>
                  <a:srgbClr val="FFFFFF"/>
                </a:solidFill>
                <a:latin typeface="Arial"/>
                <a:ea typeface="Arial"/>
                <a:cs typeface="Arial"/>
                <a:sym typeface="Arial"/>
              </a:rPr>
              <a:t>7d</a:t>
            </a:r>
            <a:endParaRPr/>
          </a:p>
        </p:txBody>
      </p:sp>
      <p:sp>
        <p:nvSpPr>
          <p:cNvPr id="501" name="Google Shape;501;p23"/>
          <p:cNvSpPr/>
          <p:nvPr/>
        </p:nvSpPr>
        <p:spPr>
          <a:xfrm>
            <a:off x="9484156" y="1929384"/>
            <a:ext cx="2064715" cy="548640"/>
          </a:xfrm>
          <a:prstGeom prst="rect">
            <a:avLst/>
          </a:prstGeom>
          <a:solidFill>
            <a:srgbClr val="111111"/>
          </a:solidFill>
          <a:ln cap="flat" cmpd="sng" w="12700">
            <a:solidFill>
              <a:srgbClr val="FECE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02" name="Google Shape;502;p23"/>
          <p:cNvSpPr txBox="1"/>
          <p:nvPr/>
        </p:nvSpPr>
        <p:spPr>
          <a:xfrm>
            <a:off x="9539020" y="1929384"/>
            <a:ext cx="1954987" cy="54864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None/>
            </a:pPr>
            <a:r>
              <a:rPr b="1" i="0" lang="en-US" sz="1050" u="none" cap="none" strike="noStrike">
                <a:solidFill>
                  <a:srgbClr val="FFFFFF"/>
                </a:solidFill>
                <a:latin typeface="Arial"/>
                <a:ea typeface="Arial"/>
                <a:cs typeface="Arial"/>
                <a:sym typeface="Arial"/>
              </a:rPr>
              <a:t>10d</a:t>
            </a:r>
            <a:endParaRPr/>
          </a:p>
        </p:txBody>
      </p:sp>
      <p:sp>
        <p:nvSpPr>
          <p:cNvPr id="503" name="Google Shape;503;p23"/>
          <p:cNvSpPr/>
          <p:nvPr/>
        </p:nvSpPr>
        <p:spPr>
          <a:xfrm>
            <a:off x="640080" y="2706624"/>
            <a:ext cx="10908792" cy="3694176"/>
          </a:xfrm>
          <a:prstGeom prst="rect">
            <a:avLst/>
          </a:prstGeom>
          <a:solidFill>
            <a:srgbClr val="111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04" name="Google Shape;504;p23"/>
          <p:cNvSpPr/>
          <p:nvPr/>
        </p:nvSpPr>
        <p:spPr>
          <a:xfrm>
            <a:off x="896112" y="2980944"/>
            <a:ext cx="146304" cy="146304"/>
          </a:xfrm>
          <a:prstGeom prst="ellipse">
            <a:avLst/>
          </a:prstGeom>
          <a:noFill/>
          <a:ln cap="flat" cmpd="sng" w="158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05" name="Google Shape;505;p23"/>
          <p:cNvSpPr txBox="1"/>
          <p:nvPr/>
        </p:nvSpPr>
        <p:spPr>
          <a:xfrm>
            <a:off x="1207008" y="2935224"/>
            <a:ext cx="1008583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50" u="none" cap="none" strike="noStrike">
                <a:solidFill>
                  <a:srgbClr val="FFFFFF"/>
                </a:solidFill>
                <a:latin typeface="Arial"/>
                <a:ea typeface="Arial"/>
                <a:cs typeface="Arial"/>
                <a:sym typeface="Arial"/>
              </a:rPr>
              <a:t>Ventanas evaluadas</a:t>
            </a:r>
            <a:endParaRPr/>
          </a:p>
        </p:txBody>
      </p:sp>
      <p:sp>
        <p:nvSpPr>
          <p:cNvPr id="506" name="Google Shape;506;p23"/>
          <p:cNvSpPr txBox="1"/>
          <p:nvPr/>
        </p:nvSpPr>
        <p:spPr>
          <a:xfrm>
            <a:off x="1207008" y="3209544"/>
            <a:ext cx="10085832" cy="521208"/>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150" u="none" cap="none" strike="noStrike">
                <a:solidFill>
                  <a:srgbClr val="B0B0B0"/>
                </a:solidFill>
                <a:latin typeface="Arial"/>
                <a:ea typeface="Arial"/>
                <a:cs typeface="Arial"/>
                <a:sym typeface="Arial"/>
              </a:rPr>
              <a:t>1h, 1d, 3d, 7d y 10d, aplicadas sobre monto y agrupadas por la entidad categórica j.</a:t>
            </a:r>
            <a:endParaRPr/>
          </a:p>
        </p:txBody>
      </p:sp>
      <p:cxnSp>
        <p:nvCxnSpPr>
          <p:cNvPr id="507" name="Google Shape;507;p23"/>
          <p:cNvCxnSpPr/>
          <p:nvPr/>
        </p:nvCxnSpPr>
        <p:spPr>
          <a:xfrm>
            <a:off x="969264" y="3703320"/>
            <a:ext cx="0" cy="73152"/>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8039"/>
              </a:srgbClr>
            </a:outerShdw>
          </a:effectLst>
        </p:spPr>
      </p:cxnSp>
      <p:sp>
        <p:nvSpPr>
          <p:cNvPr id="508" name="Google Shape;508;p23"/>
          <p:cNvSpPr/>
          <p:nvPr/>
        </p:nvSpPr>
        <p:spPr>
          <a:xfrm>
            <a:off x="896112" y="3776472"/>
            <a:ext cx="146304" cy="146304"/>
          </a:xfrm>
          <a:prstGeom prst="ellipse">
            <a:avLst/>
          </a:prstGeom>
          <a:noFill/>
          <a:ln cap="flat" cmpd="sng" w="158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09" name="Google Shape;509;p23"/>
          <p:cNvSpPr txBox="1"/>
          <p:nvPr/>
        </p:nvSpPr>
        <p:spPr>
          <a:xfrm>
            <a:off x="1207008" y="3730752"/>
            <a:ext cx="1008583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50" u="none" cap="none" strike="noStrike">
                <a:solidFill>
                  <a:srgbClr val="FFFFFF"/>
                </a:solidFill>
                <a:latin typeface="Arial"/>
                <a:ea typeface="Arial"/>
                <a:cs typeface="Arial"/>
                <a:sym typeface="Arial"/>
              </a:rPr>
              <a:t>Estadísticos calculados</a:t>
            </a:r>
            <a:endParaRPr/>
          </a:p>
        </p:txBody>
      </p:sp>
      <p:sp>
        <p:nvSpPr>
          <p:cNvPr id="510" name="Google Shape;510;p23"/>
          <p:cNvSpPr txBox="1"/>
          <p:nvPr/>
        </p:nvSpPr>
        <p:spPr>
          <a:xfrm>
            <a:off x="1207008" y="4005072"/>
            <a:ext cx="10085832" cy="521208"/>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150" u="none" cap="none" strike="noStrike">
                <a:solidFill>
                  <a:srgbClr val="B0B0B0"/>
                </a:solidFill>
                <a:latin typeface="Arial"/>
                <a:ea typeface="Arial"/>
                <a:cs typeface="Arial"/>
                <a:sym typeface="Arial"/>
              </a:rPr>
              <a:t>suma, promedio, mediana, máximo y mínimo por ventana — 5 estadísticos x 5 ventanas.</a:t>
            </a:r>
            <a:endParaRPr/>
          </a:p>
        </p:txBody>
      </p:sp>
      <p:cxnSp>
        <p:nvCxnSpPr>
          <p:cNvPr id="511" name="Google Shape;511;p23"/>
          <p:cNvCxnSpPr/>
          <p:nvPr/>
        </p:nvCxnSpPr>
        <p:spPr>
          <a:xfrm>
            <a:off x="969264" y="4498848"/>
            <a:ext cx="0" cy="73152"/>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8039"/>
              </a:srgbClr>
            </a:outerShdw>
          </a:effectLst>
        </p:spPr>
      </p:cxnSp>
      <p:sp>
        <p:nvSpPr>
          <p:cNvPr id="512" name="Google Shape;512;p23"/>
          <p:cNvSpPr/>
          <p:nvPr/>
        </p:nvSpPr>
        <p:spPr>
          <a:xfrm>
            <a:off x="896112" y="4572000"/>
            <a:ext cx="146304" cy="146304"/>
          </a:xfrm>
          <a:prstGeom prst="ellipse">
            <a:avLst/>
          </a:prstGeom>
          <a:noFill/>
          <a:ln cap="flat" cmpd="sng" w="158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3" name="Google Shape;513;p23"/>
          <p:cNvSpPr txBox="1"/>
          <p:nvPr/>
        </p:nvSpPr>
        <p:spPr>
          <a:xfrm>
            <a:off x="1207008" y="4526280"/>
            <a:ext cx="1008583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50" u="none" cap="none" strike="noStrike">
                <a:solidFill>
                  <a:srgbClr val="FFFFFF"/>
                </a:solidFill>
                <a:latin typeface="Arial"/>
                <a:ea typeface="Arial"/>
                <a:cs typeface="Arial"/>
                <a:sym typeface="Arial"/>
              </a:rPr>
              <a:t>Diseño causal</a:t>
            </a:r>
            <a:endParaRPr/>
          </a:p>
        </p:txBody>
      </p:sp>
      <p:sp>
        <p:nvSpPr>
          <p:cNvPr id="514" name="Google Shape;514;p23"/>
          <p:cNvSpPr txBox="1"/>
          <p:nvPr/>
        </p:nvSpPr>
        <p:spPr>
          <a:xfrm>
            <a:off x="1207008" y="4800600"/>
            <a:ext cx="10085832" cy="521208"/>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150" u="none" cap="none" strike="noStrike">
                <a:solidFill>
                  <a:srgbClr val="B0B0B0"/>
                </a:solidFill>
                <a:latin typeface="Arial"/>
                <a:ea typeface="Arial"/>
                <a:cs typeface="Arial"/>
                <a:sym typeface="Arial"/>
              </a:rPr>
              <a:t>cada agregación usa únicamente información estrictamente anterior a la transacción actual, evitando data leakage hacia el futuro.</a:t>
            </a:r>
            <a:endParaRPr/>
          </a:p>
        </p:txBody>
      </p:sp>
      <p:cxnSp>
        <p:nvCxnSpPr>
          <p:cNvPr id="515" name="Google Shape;515;p23"/>
          <p:cNvCxnSpPr/>
          <p:nvPr/>
        </p:nvCxnSpPr>
        <p:spPr>
          <a:xfrm>
            <a:off x="969264" y="5294376"/>
            <a:ext cx="0" cy="73152"/>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8039"/>
              </a:srgbClr>
            </a:outerShdw>
          </a:effectLst>
        </p:spPr>
      </p:cxnSp>
      <p:sp>
        <p:nvSpPr>
          <p:cNvPr id="516" name="Google Shape;516;p23"/>
          <p:cNvSpPr/>
          <p:nvPr/>
        </p:nvSpPr>
        <p:spPr>
          <a:xfrm>
            <a:off x="896112" y="5367527"/>
            <a:ext cx="146304" cy="146304"/>
          </a:xfrm>
          <a:prstGeom prst="ellipse">
            <a:avLst/>
          </a:prstGeom>
          <a:noFill/>
          <a:ln cap="flat" cmpd="sng" w="158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7" name="Google Shape;517;p23"/>
          <p:cNvSpPr txBox="1"/>
          <p:nvPr/>
        </p:nvSpPr>
        <p:spPr>
          <a:xfrm>
            <a:off x="1207008" y="5321807"/>
            <a:ext cx="1008583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50" u="none" cap="none" strike="noStrike">
                <a:solidFill>
                  <a:srgbClr val="FFFFFF"/>
                </a:solidFill>
                <a:latin typeface="Arial"/>
                <a:ea typeface="Arial"/>
                <a:cs typeface="Arial"/>
                <a:sym typeface="Arial"/>
              </a:rPr>
              <a:t>Relevancia</a:t>
            </a:r>
            <a:endParaRPr/>
          </a:p>
        </p:txBody>
      </p:sp>
      <p:sp>
        <p:nvSpPr>
          <p:cNvPr id="518" name="Google Shape;518;p23"/>
          <p:cNvSpPr txBox="1"/>
          <p:nvPr/>
        </p:nvSpPr>
        <p:spPr>
          <a:xfrm>
            <a:off x="1207008" y="5596127"/>
            <a:ext cx="10085832" cy="521208"/>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150" u="none" cap="none" strike="noStrike">
                <a:solidFill>
                  <a:srgbClr val="B0B0B0"/>
                </a:solidFill>
                <a:latin typeface="Arial"/>
                <a:ea typeface="Arial"/>
                <a:cs typeface="Arial"/>
                <a:sym typeface="Arial"/>
              </a:rPr>
              <a:t>estas features capturan el comportamiento histórico reciente de una entidad (j), un patrón de alto valor predictivo en fraude transaccional.</a:t>
            </a:r>
            <a:endParaRPr/>
          </a:p>
        </p:txBody>
      </p:sp>
      <p:sp>
        <p:nvSpPr>
          <p:cNvPr id="519" name="Google Shape;519;p23"/>
          <p:cNvSpPr/>
          <p:nvPr/>
        </p:nvSpPr>
        <p:spPr>
          <a:xfrm>
            <a:off x="0" y="6537960"/>
            <a:ext cx="12191695" cy="320040"/>
          </a:xfrm>
          <a:prstGeom prst="rect">
            <a:avLst/>
          </a:prstGeom>
          <a:solidFill>
            <a:srgbClr val="0A0A0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nvGrpSpPr>
          <p:cNvPr id="520" name="Google Shape;520;p23"/>
          <p:cNvGrpSpPr/>
          <p:nvPr/>
        </p:nvGrpSpPr>
        <p:grpSpPr>
          <a:xfrm>
            <a:off x="12" y="6223211"/>
            <a:ext cx="634800" cy="634800"/>
            <a:chOff x="12" y="4508711"/>
            <a:chExt cx="634800" cy="634800"/>
          </a:xfrm>
        </p:grpSpPr>
        <p:sp>
          <p:nvSpPr>
            <p:cNvPr id="521" name="Google Shape;521;p23"/>
            <p:cNvSpPr/>
            <p:nvPr/>
          </p:nvSpPr>
          <p:spPr>
            <a:xfrm>
              <a:off x="12" y="4508711"/>
              <a:ext cx="634800" cy="634800"/>
            </a:xfrm>
            <a:prstGeom prst="round1Rect">
              <a:avLst>
                <a:gd fmla="val 28797" name="adj"/>
              </a:avLst>
            </a:prstGeom>
            <a:solidFill>
              <a:srgbClr val="FFD1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22" name="Google Shape;522;p23"/>
            <p:cNvPicPr preferRelativeResize="0"/>
            <p:nvPr/>
          </p:nvPicPr>
          <p:blipFill>
            <a:blip r:embed="rId3">
              <a:alphaModFix/>
            </a:blip>
            <a:stretch>
              <a:fillRect/>
            </a:stretch>
          </p:blipFill>
          <p:spPr>
            <a:xfrm>
              <a:off x="124673" y="4689253"/>
              <a:ext cx="397051" cy="273714"/>
            </a:xfrm>
            <a:prstGeom prst="rect">
              <a:avLst/>
            </a:prstGeom>
            <a:noFill/>
            <a:ln>
              <a:noFill/>
            </a:ln>
          </p:spPr>
        </p:pic>
      </p:grpSp>
      <p:sp>
        <p:nvSpPr>
          <p:cNvPr id="523" name="Google Shape;523;p23"/>
          <p:cNvSpPr/>
          <p:nvPr/>
        </p:nvSpPr>
        <p:spPr>
          <a:xfrm rot="10800000">
            <a:off x="11736276" y="0"/>
            <a:ext cx="455400" cy="421500"/>
          </a:xfrm>
          <a:prstGeom prst="corner">
            <a:avLst>
              <a:gd fmla="val 39228" name="adj1"/>
              <a:gd fmla="val 38336" name="adj2"/>
            </a:avLst>
          </a:prstGeom>
          <a:solidFill>
            <a:srgbClr val="FFD100"/>
          </a:solidFill>
          <a:ln>
            <a:noFill/>
          </a:ln>
        </p:spPr>
        <p:txBody>
          <a:bodyPr anchorCtr="0" anchor="ctr" bIns="60950" lIns="60950" spcFirstLastPara="1" rIns="60950" wrap="square" tIns="60950">
            <a:noAutofit/>
          </a:bodyPr>
          <a:lstStyle/>
          <a:p>
            <a:pPr indent="0" lvl="0" marL="0" rtl="0" algn="l">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24"/>
          <p:cNvSpPr/>
          <p:nvPr/>
        </p:nvSpPr>
        <p:spPr>
          <a:xfrm>
            <a:off x="0" y="0"/>
            <a:ext cx="12191695" cy="6858000"/>
          </a:xfrm>
          <a:prstGeom prst="rect">
            <a:avLst/>
          </a:prstGeom>
          <a:solidFill>
            <a:srgbClr val="1A1A1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29" name="Google Shape;529;p24"/>
          <p:cNvSpPr/>
          <p:nvPr/>
        </p:nvSpPr>
        <p:spPr>
          <a:xfrm>
            <a:off x="502920" y="457200"/>
            <a:ext cx="54864" cy="777240"/>
          </a:xfrm>
          <a:prstGeom prst="rect">
            <a:avLst/>
          </a:prstGeom>
          <a:solidFill>
            <a:srgbClr val="FECE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30" name="Google Shape;530;p24"/>
          <p:cNvSpPr txBox="1"/>
          <p:nvPr/>
        </p:nvSpPr>
        <p:spPr>
          <a:xfrm>
            <a:off x="685800" y="457200"/>
            <a:ext cx="1051560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300" u="none" cap="none" strike="noStrike">
                <a:solidFill>
                  <a:srgbClr val="B0B0B0"/>
                </a:solidFill>
                <a:latin typeface="Arial"/>
                <a:ea typeface="Arial"/>
                <a:cs typeface="Arial"/>
                <a:sym typeface="Arial"/>
              </a:rPr>
              <a:t>03_MODEL_SELECTION — 00_train_models.ipynb</a:t>
            </a:r>
            <a:endParaRPr/>
          </a:p>
        </p:txBody>
      </p:sp>
      <p:sp>
        <p:nvSpPr>
          <p:cNvPr id="531" name="Google Shape;531;p24"/>
          <p:cNvSpPr txBox="1"/>
          <p:nvPr/>
        </p:nvSpPr>
        <p:spPr>
          <a:xfrm>
            <a:off x="658368" y="749808"/>
            <a:ext cx="10607040" cy="5943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600" u="none" cap="none" strike="noStrike">
                <a:solidFill>
                  <a:srgbClr val="FFFFFF"/>
                </a:solidFill>
                <a:latin typeface="Arial"/>
                <a:ea typeface="Arial"/>
                <a:cs typeface="Arial"/>
                <a:sym typeface="Arial"/>
              </a:rPr>
              <a:t>MODELOS ENTRENADOS</a:t>
            </a:r>
            <a:endParaRPr/>
          </a:p>
        </p:txBody>
      </p:sp>
      <p:sp>
        <p:nvSpPr>
          <p:cNvPr id="532" name="Google Shape;532;p24"/>
          <p:cNvSpPr txBox="1"/>
          <p:nvPr/>
        </p:nvSpPr>
        <p:spPr>
          <a:xfrm>
            <a:off x="640080" y="1600200"/>
            <a:ext cx="1090879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00" u="none" cap="none" strike="noStrike">
                <a:solidFill>
                  <a:srgbClr val="B0B0B0"/>
                </a:solidFill>
                <a:latin typeface="Arial"/>
                <a:ea typeface="Arial"/>
                <a:cs typeface="Arial"/>
                <a:sym typeface="Arial"/>
              </a:rPr>
              <a:t>MODELOS COMPARADOS</a:t>
            </a:r>
            <a:endParaRPr/>
          </a:p>
        </p:txBody>
      </p:sp>
      <p:sp>
        <p:nvSpPr>
          <p:cNvPr id="533" name="Google Shape;533;p24"/>
          <p:cNvSpPr/>
          <p:nvPr/>
        </p:nvSpPr>
        <p:spPr>
          <a:xfrm>
            <a:off x="640080" y="1929384"/>
            <a:ext cx="2064715" cy="548640"/>
          </a:xfrm>
          <a:prstGeom prst="rect">
            <a:avLst/>
          </a:prstGeom>
          <a:solidFill>
            <a:srgbClr val="111111"/>
          </a:solidFill>
          <a:ln cap="flat" cmpd="sng" w="12700">
            <a:solidFill>
              <a:srgbClr val="FECE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34" name="Google Shape;534;p24"/>
          <p:cNvSpPr txBox="1"/>
          <p:nvPr/>
        </p:nvSpPr>
        <p:spPr>
          <a:xfrm>
            <a:off x="694944" y="1929384"/>
            <a:ext cx="1954987" cy="54864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None/>
            </a:pPr>
            <a:r>
              <a:rPr b="1" i="0" lang="en-US" sz="950" u="none" cap="none" strike="noStrike">
                <a:solidFill>
                  <a:srgbClr val="FFFFFF"/>
                </a:solidFill>
                <a:latin typeface="Arial"/>
                <a:ea typeface="Arial"/>
                <a:cs typeface="Arial"/>
                <a:sym typeface="Arial"/>
              </a:rPr>
              <a:t>Logistic Regression</a:t>
            </a:r>
            <a:endParaRPr/>
          </a:p>
        </p:txBody>
      </p:sp>
      <p:sp>
        <p:nvSpPr>
          <p:cNvPr id="535" name="Google Shape;535;p24"/>
          <p:cNvSpPr/>
          <p:nvPr/>
        </p:nvSpPr>
        <p:spPr>
          <a:xfrm>
            <a:off x="2851099" y="1929384"/>
            <a:ext cx="2064715" cy="548640"/>
          </a:xfrm>
          <a:prstGeom prst="rect">
            <a:avLst/>
          </a:prstGeom>
          <a:solidFill>
            <a:srgbClr val="111111"/>
          </a:solidFill>
          <a:ln cap="flat" cmpd="sng" w="12700">
            <a:solidFill>
              <a:srgbClr val="FECE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36" name="Google Shape;536;p24"/>
          <p:cNvSpPr txBox="1"/>
          <p:nvPr/>
        </p:nvSpPr>
        <p:spPr>
          <a:xfrm>
            <a:off x="2905963" y="1929384"/>
            <a:ext cx="1954987" cy="54864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None/>
            </a:pPr>
            <a:r>
              <a:rPr b="1" i="0" lang="en-US" sz="950" u="none" cap="none" strike="noStrike">
                <a:solidFill>
                  <a:srgbClr val="FFFFFF"/>
                </a:solidFill>
                <a:latin typeface="Arial"/>
                <a:ea typeface="Arial"/>
                <a:cs typeface="Arial"/>
                <a:sym typeface="Arial"/>
              </a:rPr>
              <a:t>Random Forest</a:t>
            </a:r>
            <a:endParaRPr/>
          </a:p>
        </p:txBody>
      </p:sp>
      <p:sp>
        <p:nvSpPr>
          <p:cNvPr id="537" name="Google Shape;537;p24"/>
          <p:cNvSpPr/>
          <p:nvPr/>
        </p:nvSpPr>
        <p:spPr>
          <a:xfrm>
            <a:off x="5062118" y="1929384"/>
            <a:ext cx="2064715" cy="548640"/>
          </a:xfrm>
          <a:prstGeom prst="rect">
            <a:avLst/>
          </a:prstGeom>
          <a:solidFill>
            <a:srgbClr val="111111"/>
          </a:solidFill>
          <a:ln cap="flat" cmpd="sng" w="12700">
            <a:solidFill>
              <a:srgbClr val="FECE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38" name="Google Shape;538;p24"/>
          <p:cNvSpPr txBox="1"/>
          <p:nvPr/>
        </p:nvSpPr>
        <p:spPr>
          <a:xfrm>
            <a:off x="5116982" y="1929384"/>
            <a:ext cx="1954987" cy="54864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None/>
            </a:pPr>
            <a:r>
              <a:rPr b="1" i="0" lang="en-US" sz="950" u="none" cap="none" strike="noStrike">
                <a:solidFill>
                  <a:srgbClr val="FFFFFF"/>
                </a:solidFill>
                <a:latin typeface="Arial"/>
                <a:ea typeface="Arial"/>
                <a:cs typeface="Arial"/>
                <a:sym typeface="Arial"/>
              </a:rPr>
              <a:t>LightGBM</a:t>
            </a:r>
            <a:endParaRPr/>
          </a:p>
        </p:txBody>
      </p:sp>
      <p:sp>
        <p:nvSpPr>
          <p:cNvPr id="539" name="Google Shape;539;p24"/>
          <p:cNvSpPr/>
          <p:nvPr/>
        </p:nvSpPr>
        <p:spPr>
          <a:xfrm>
            <a:off x="7273137" y="1929384"/>
            <a:ext cx="2064715" cy="548640"/>
          </a:xfrm>
          <a:prstGeom prst="rect">
            <a:avLst/>
          </a:prstGeom>
          <a:solidFill>
            <a:srgbClr val="111111"/>
          </a:solidFill>
          <a:ln cap="flat" cmpd="sng" w="12700">
            <a:solidFill>
              <a:srgbClr val="FECE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0" name="Google Shape;540;p24"/>
          <p:cNvSpPr txBox="1"/>
          <p:nvPr/>
        </p:nvSpPr>
        <p:spPr>
          <a:xfrm>
            <a:off x="7328001" y="1929384"/>
            <a:ext cx="1954987" cy="54864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None/>
            </a:pPr>
            <a:r>
              <a:rPr b="1" i="0" lang="en-US" sz="950" u="none" cap="none" strike="noStrike">
                <a:solidFill>
                  <a:srgbClr val="FFFFFF"/>
                </a:solidFill>
                <a:latin typeface="Arial"/>
                <a:ea typeface="Arial"/>
                <a:cs typeface="Arial"/>
                <a:sym typeface="Arial"/>
              </a:rPr>
              <a:t>CatBoost</a:t>
            </a:r>
            <a:endParaRPr/>
          </a:p>
        </p:txBody>
      </p:sp>
      <p:sp>
        <p:nvSpPr>
          <p:cNvPr id="541" name="Google Shape;541;p24"/>
          <p:cNvSpPr/>
          <p:nvPr/>
        </p:nvSpPr>
        <p:spPr>
          <a:xfrm>
            <a:off x="9484156" y="1929384"/>
            <a:ext cx="2064715" cy="548640"/>
          </a:xfrm>
          <a:prstGeom prst="rect">
            <a:avLst/>
          </a:prstGeom>
          <a:solidFill>
            <a:srgbClr val="111111"/>
          </a:solidFill>
          <a:ln cap="flat" cmpd="sng" w="12700">
            <a:solidFill>
              <a:srgbClr val="FECE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2" name="Google Shape;542;p24"/>
          <p:cNvSpPr txBox="1"/>
          <p:nvPr/>
        </p:nvSpPr>
        <p:spPr>
          <a:xfrm>
            <a:off x="9539020" y="1929384"/>
            <a:ext cx="1954987" cy="54864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None/>
            </a:pPr>
            <a:r>
              <a:rPr b="1" i="0" lang="en-US" sz="950" u="none" cap="none" strike="noStrike">
                <a:solidFill>
                  <a:srgbClr val="FFFFFF"/>
                </a:solidFill>
                <a:latin typeface="Arial"/>
                <a:ea typeface="Arial"/>
                <a:cs typeface="Arial"/>
                <a:sym typeface="Arial"/>
              </a:rPr>
              <a:t>XGBoost</a:t>
            </a:r>
            <a:endParaRPr/>
          </a:p>
        </p:txBody>
      </p:sp>
      <p:sp>
        <p:nvSpPr>
          <p:cNvPr id="543" name="Google Shape;543;p24"/>
          <p:cNvSpPr txBox="1"/>
          <p:nvPr/>
        </p:nvSpPr>
        <p:spPr>
          <a:xfrm>
            <a:off x="640080" y="2706624"/>
            <a:ext cx="10908792" cy="21945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B0B0B0"/>
                </a:solidFill>
                <a:latin typeface="Arial"/>
                <a:ea typeface="Arial"/>
                <a:cs typeface="Arial"/>
                <a:sym typeface="Arial"/>
              </a:rPr>
              <a:t>FEATURES DEL BASELINE (23) — mismo conjunto para los 5 modelos, vía filter_config_by_features</a:t>
            </a:r>
            <a:endParaRPr/>
          </a:p>
        </p:txBody>
      </p:sp>
      <p:sp>
        <p:nvSpPr>
          <p:cNvPr id="544" name="Google Shape;544;p24"/>
          <p:cNvSpPr txBox="1"/>
          <p:nvPr/>
        </p:nvSpPr>
        <p:spPr>
          <a:xfrm>
            <a:off x="640080" y="3017520"/>
            <a:ext cx="10908792" cy="1828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00" u="none" cap="none" strike="noStrike">
                <a:solidFill>
                  <a:srgbClr val="FECE00"/>
                </a:solidFill>
                <a:latin typeface="Arial"/>
                <a:ea typeface="Arial"/>
                <a:cs typeface="Arial"/>
                <a:sym typeface="Arial"/>
              </a:rPr>
              <a:t>Variables crudas (passthrough)</a:t>
            </a:r>
            <a:endParaRPr/>
          </a:p>
        </p:txBody>
      </p:sp>
      <p:sp>
        <p:nvSpPr>
          <p:cNvPr id="545" name="Google Shape;545;p24"/>
          <p:cNvSpPr/>
          <p:nvPr/>
        </p:nvSpPr>
        <p:spPr>
          <a:xfrm>
            <a:off x="640080" y="3255263"/>
            <a:ext cx="434340" cy="274320"/>
          </a:xfrm>
          <a:prstGeom prst="rect">
            <a:avLst/>
          </a:prstGeom>
          <a:solidFill>
            <a:srgbClr val="111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6" name="Google Shape;546;p24"/>
          <p:cNvSpPr/>
          <p:nvPr/>
        </p:nvSpPr>
        <p:spPr>
          <a:xfrm>
            <a:off x="640080" y="3255263"/>
            <a:ext cx="45720" cy="274320"/>
          </a:xfrm>
          <a:prstGeom prst="rect">
            <a:avLst/>
          </a:prstGeom>
          <a:solidFill>
            <a:srgbClr val="FECE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7" name="Google Shape;547;p24"/>
          <p:cNvSpPr txBox="1"/>
          <p:nvPr/>
        </p:nvSpPr>
        <p:spPr>
          <a:xfrm>
            <a:off x="768096" y="3296411"/>
            <a:ext cx="269748" cy="21945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950" u="none" cap="none" strike="noStrike">
                <a:solidFill>
                  <a:srgbClr val="FFFFFF"/>
                </a:solidFill>
                <a:latin typeface="Arial"/>
                <a:ea typeface="Arial"/>
                <a:cs typeface="Arial"/>
                <a:sym typeface="Arial"/>
              </a:rPr>
              <a:t>a</a:t>
            </a:r>
            <a:endParaRPr/>
          </a:p>
        </p:txBody>
      </p:sp>
      <p:sp>
        <p:nvSpPr>
          <p:cNvPr id="548" name="Google Shape;548;p24"/>
          <p:cNvSpPr/>
          <p:nvPr/>
        </p:nvSpPr>
        <p:spPr>
          <a:xfrm>
            <a:off x="1165860" y="3255263"/>
            <a:ext cx="434340" cy="274320"/>
          </a:xfrm>
          <a:prstGeom prst="rect">
            <a:avLst/>
          </a:prstGeom>
          <a:solidFill>
            <a:srgbClr val="111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9" name="Google Shape;549;p24"/>
          <p:cNvSpPr/>
          <p:nvPr/>
        </p:nvSpPr>
        <p:spPr>
          <a:xfrm>
            <a:off x="1165860" y="3255263"/>
            <a:ext cx="45720" cy="274320"/>
          </a:xfrm>
          <a:prstGeom prst="rect">
            <a:avLst/>
          </a:prstGeom>
          <a:solidFill>
            <a:srgbClr val="FECE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50" name="Google Shape;550;p24"/>
          <p:cNvSpPr txBox="1"/>
          <p:nvPr/>
        </p:nvSpPr>
        <p:spPr>
          <a:xfrm>
            <a:off x="1293876" y="3296411"/>
            <a:ext cx="269748" cy="21945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950" u="none" cap="none" strike="noStrike">
                <a:solidFill>
                  <a:srgbClr val="FFFFFF"/>
                </a:solidFill>
                <a:latin typeface="Arial"/>
                <a:ea typeface="Arial"/>
                <a:cs typeface="Arial"/>
                <a:sym typeface="Arial"/>
              </a:rPr>
              <a:t>b</a:t>
            </a:r>
            <a:endParaRPr/>
          </a:p>
        </p:txBody>
      </p:sp>
      <p:sp>
        <p:nvSpPr>
          <p:cNvPr id="551" name="Google Shape;551;p24"/>
          <p:cNvSpPr/>
          <p:nvPr/>
        </p:nvSpPr>
        <p:spPr>
          <a:xfrm>
            <a:off x="1691640" y="3255263"/>
            <a:ext cx="434340" cy="274320"/>
          </a:xfrm>
          <a:prstGeom prst="rect">
            <a:avLst/>
          </a:prstGeom>
          <a:solidFill>
            <a:srgbClr val="111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52" name="Google Shape;552;p24"/>
          <p:cNvSpPr/>
          <p:nvPr/>
        </p:nvSpPr>
        <p:spPr>
          <a:xfrm>
            <a:off x="1691640" y="3255263"/>
            <a:ext cx="45720" cy="274320"/>
          </a:xfrm>
          <a:prstGeom prst="rect">
            <a:avLst/>
          </a:prstGeom>
          <a:solidFill>
            <a:srgbClr val="FECE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53" name="Google Shape;553;p24"/>
          <p:cNvSpPr txBox="1"/>
          <p:nvPr/>
        </p:nvSpPr>
        <p:spPr>
          <a:xfrm>
            <a:off x="1819656" y="3296411"/>
            <a:ext cx="269748" cy="21945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950" u="none" cap="none" strike="noStrike">
                <a:solidFill>
                  <a:srgbClr val="FFFFFF"/>
                </a:solidFill>
                <a:latin typeface="Arial"/>
                <a:ea typeface="Arial"/>
                <a:cs typeface="Arial"/>
                <a:sym typeface="Arial"/>
              </a:rPr>
              <a:t>c</a:t>
            </a:r>
            <a:endParaRPr/>
          </a:p>
        </p:txBody>
      </p:sp>
      <p:sp>
        <p:nvSpPr>
          <p:cNvPr id="554" name="Google Shape;554;p24"/>
          <p:cNvSpPr/>
          <p:nvPr/>
        </p:nvSpPr>
        <p:spPr>
          <a:xfrm>
            <a:off x="2217420" y="3255263"/>
            <a:ext cx="434340" cy="274320"/>
          </a:xfrm>
          <a:prstGeom prst="rect">
            <a:avLst/>
          </a:prstGeom>
          <a:solidFill>
            <a:srgbClr val="111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55" name="Google Shape;555;p24"/>
          <p:cNvSpPr/>
          <p:nvPr/>
        </p:nvSpPr>
        <p:spPr>
          <a:xfrm>
            <a:off x="2217420" y="3255263"/>
            <a:ext cx="45720" cy="274320"/>
          </a:xfrm>
          <a:prstGeom prst="rect">
            <a:avLst/>
          </a:prstGeom>
          <a:solidFill>
            <a:srgbClr val="FECE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56" name="Google Shape;556;p24"/>
          <p:cNvSpPr txBox="1"/>
          <p:nvPr/>
        </p:nvSpPr>
        <p:spPr>
          <a:xfrm>
            <a:off x="2345436" y="3296411"/>
            <a:ext cx="269748" cy="21945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950" u="none" cap="none" strike="noStrike">
                <a:solidFill>
                  <a:srgbClr val="FFFFFF"/>
                </a:solidFill>
                <a:latin typeface="Arial"/>
                <a:ea typeface="Arial"/>
                <a:cs typeface="Arial"/>
                <a:sym typeface="Arial"/>
              </a:rPr>
              <a:t>d</a:t>
            </a:r>
            <a:endParaRPr/>
          </a:p>
        </p:txBody>
      </p:sp>
      <p:sp>
        <p:nvSpPr>
          <p:cNvPr id="557" name="Google Shape;557;p24"/>
          <p:cNvSpPr/>
          <p:nvPr/>
        </p:nvSpPr>
        <p:spPr>
          <a:xfrm>
            <a:off x="2743200" y="3255263"/>
            <a:ext cx="434340" cy="274320"/>
          </a:xfrm>
          <a:prstGeom prst="rect">
            <a:avLst/>
          </a:prstGeom>
          <a:solidFill>
            <a:srgbClr val="111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58" name="Google Shape;558;p24"/>
          <p:cNvSpPr/>
          <p:nvPr/>
        </p:nvSpPr>
        <p:spPr>
          <a:xfrm>
            <a:off x="2743200" y="3255263"/>
            <a:ext cx="45720" cy="274320"/>
          </a:xfrm>
          <a:prstGeom prst="rect">
            <a:avLst/>
          </a:prstGeom>
          <a:solidFill>
            <a:srgbClr val="FECE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59" name="Google Shape;559;p24"/>
          <p:cNvSpPr txBox="1"/>
          <p:nvPr/>
        </p:nvSpPr>
        <p:spPr>
          <a:xfrm>
            <a:off x="2871216" y="3296411"/>
            <a:ext cx="269748" cy="21945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950" u="none" cap="none" strike="noStrike">
                <a:solidFill>
                  <a:srgbClr val="FFFFFF"/>
                </a:solidFill>
                <a:latin typeface="Arial"/>
                <a:ea typeface="Arial"/>
                <a:cs typeface="Arial"/>
                <a:sym typeface="Arial"/>
              </a:rPr>
              <a:t>e</a:t>
            </a:r>
            <a:endParaRPr/>
          </a:p>
        </p:txBody>
      </p:sp>
      <p:sp>
        <p:nvSpPr>
          <p:cNvPr id="560" name="Google Shape;560;p24"/>
          <p:cNvSpPr/>
          <p:nvPr/>
        </p:nvSpPr>
        <p:spPr>
          <a:xfrm>
            <a:off x="3268980" y="3255263"/>
            <a:ext cx="434340" cy="274320"/>
          </a:xfrm>
          <a:prstGeom prst="rect">
            <a:avLst/>
          </a:prstGeom>
          <a:solidFill>
            <a:srgbClr val="111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61" name="Google Shape;561;p24"/>
          <p:cNvSpPr/>
          <p:nvPr/>
        </p:nvSpPr>
        <p:spPr>
          <a:xfrm>
            <a:off x="3268980" y="3255263"/>
            <a:ext cx="45720" cy="274320"/>
          </a:xfrm>
          <a:prstGeom prst="rect">
            <a:avLst/>
          </a:prstGeom>
          <a:solidFill>
            <a:srgbClr val="FECE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62" name="Google Shape;562;p24"/>
          <p:cNvSpPr txBox="1"/>
          <p:nvPr/>
        </p:nvSpPr>
        <p:spPr>
          <a:xfrm>
            <a:off x="3396996" y="3296411"/>
            <a:ext cx="269748" cy="21945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950" u="none" cap="none" strike="noStrike">
                <a:solidFill>
                  <a:srgbClr val="FFFFFF"/>
                </a:solidFill>
                <a:latin typeface="Arial"/>
                <a:ea typeface="Arial"/>
                <a:cs typeface="Arial"/>
                <a:sym typeface="Arial"/>
              </a:rPr>
              <a:t>f</a:t>
            </a:r>
            <a:endParaRPr/>
          </a:p>
        </p:txBody>
      </p:sp>
      <p:sp>
        <p:nvSpPr>
          <p:cNvPr id="563" name="Google Shape;563;p24"/>
          <p:cNvSpPr/>
          <p:nvPr/>
        </p:nvSpPr>
        <p:spPr>
          <a:xfrm>
            <a:off x="3794760" y="3255263"/>
            <a:ext cx="434340" cy="274320"/>
          </a:xfrm>
          <a:prstGeom prst="rect">
            <a:avLst/>
          </a:prstGeom>
          <a:solidFill>
            <a:srgbClr val="111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64" name="Google Shape;564;p24"/>
          <p:cNvSpPr/>
          <p:nvPr/>
        </p:nvSpPr>
        <p:spPr>
          <a:xfrm>
            <a:off x="3794760" y="3255263"/>
            <a:ext cx="45720" cy="274320"/>
          </a:xfrm>
          <a:prstGeom prst="rect">
            <a:avLst/>
          </a:prstGeom>
          <a:solidFill>
            <a:srgbClr val="FECE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65" name="Google Shape;565;p24"/>
          <p:cNvSpPr txBox="1"/>
          <p:nvPr/>
        </p:nvSpPr>
        <p:spPr>
          <a:xfrm>
            <a:off x="3922776" y="3296411"/>
            <a:ext cx="269748" cy="21945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950" u="none" cap="none" strike="noStrike">
                <a:solidFill>
                  <a:srgbClr val="FFFFFF"/>
                </a:solidFill>
                <a:latin typeface="Arial"/>
                <a:ea typeface="Arial"/>
                <a:cs typeface="Arial"/>
                <a:sym typeface="Arial"/>
              </a:rPr>
              <a:t>h</a:t>
            </a:r>
            <a:endParaRPr/>
          </a:p>
        </p:txBody>
      </p:sp>
      <p:sp>
        <p:nvSpPr>
          <p:cNvPr id="566" name="Google Shape;566;p24"/>
          <p:cNvSpPr/>
          <p:nvPr/>
        </p:nvSpPr>
        <p:spPr>
          <a:xfrm>
            <a:off x="4320540" y="3255263"/>
            <a:ext cx="434340" cy="274320"/>
          </a:xfrm>
          <a:prstGeom prst="rect">
            <a:avLst/>
          </a:prstGeom>
          <a:solidFill>
            <a:srgbClr val="111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67" name="Google Shape;567;p24"/>
          <p:cNvSpPr/>
          <p:nvPr/>
        </p:nvSpPr>
        <p:spPr>
          <a:xfrm>
            <a:off x="4320540" y="3255263"/>
            <a:ext cx="45720" cy="274320"/>
          </a:xfrm>
          <a:prstGeom prst="rect">
            <a:avLst/>
          </a:prstGeom>
          <a:solidFill>
            <a:srgbClr val="FECE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68" name="Google Shape;568;p24"/>
          <p:cNvSpPr txBox="1"/>
          <p:nvPr/>
        </p:nvSpPr>
        <p:spPr>
          <a:xfrm>
            <a:off x="4448556" y="3296411"/>
            <a:ext cx="269748" cy="21945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950" u="none" cap="none" strike="noStrike">
                <a:solidFill>
                  <a:srgbClr val="FFFFFF"/>
                </a:solidFill>
                <a:latin typeface="Arial"/>
                <a:ea typeface="Arial"/>
                <a:cs typeface="Arial"/>
                <a:sym typeface="Arial"/>
              </a:rPr>
              <a:t>l</a:t>
            </a:r>
            <a:endParaRPr/>
          </a:p>
        </p:txBody>
      </p:sp>
      <p:sp>
        <p:nvSpPr>
          <p:cNvPr id="569" name="Google Shape;569;p24"/>
          <p:cNvSpPr/>
          <p:nvPr/>
        </p:nvSpPr>
        <p:spPr>
          <a:xfrm>
            <a:off x="4846320" y="3255263"/>
            <a:ext cx="434340" cy="274320"/>
          </a:xfrm>
          <a:prstGeom prst="rect">
            <a:avLst/>
          </a:prstGeom>
          <a:solidFill>
            <a:srgbClr val="111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70" name="Google Shape;570;p24"/>
          <p:cNvSpPr/>
          <p:nvPr/>
        </p:nvSpPr>
        <p:spPr>
          <a:xfrm>
            <a:off x="4846320" y="3255263"/>
            <a:ext cx="45720" cy="274320"/>
          </a:xfrm>
          <a:prstGeom prst="rect">
            <a:avLst/>
          </a:prstGeom>
          <a:solidFill>
            <a:srgbClr val="FECE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71" name="Google Shape;571;p24"/>
          <p:cNvSpPr txBox="1"/>
          <p:nvPr/>
        </p:nvSpPr>
        <p:spPr>
          <a:xfrm>
            <a:off x="4974336" y="3296411"/>
            <a:ext cx="269748" cy="21945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950" u="none" cap="none" strike="noStrike">
                <a:solidFill>
                  <a:srgbClr val="FFFFFF"/>
                </a:solidFill>
                <a:latin typeface="Arial"/>
                <a:ea typeface="Arial"/>
                <a:cs typeface="Arial"/>
                <a:sym typeface="Arial"/>
              </a:rPr>
              <a:t>m</a:t>
            </a:r>
            <a:endParaRPr/>
          </a:p>
        </p:txBody>
      </p:sp>
      <p:sp>
        <p:nvSpPr>
          <p:cNvPr id="572" name="Google Shape;572;p24"/>
          <p:cNvSpPr/>
          <p:nvPr/>
        </p:nvSpPr>
        <p:spPr>
          <a:xfrm>
            <a:off x="5372100" y="3255263"/>
            <a:ext cx="434340" cy="274320"/>
          </a:xfrm>
          <a:prstGeom prst="rect">
            <a:avLst/>
          </a:prstGeom>
          <a:solidFill>
            <a:srgbClr val="111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73" name="Google Shape;573;p24"/>
          <p:cNvSpPr/>
          <p:nvPr/>
        </p:nvSpPr>
        <p:spPr>
          <a:xfrm>
            <a:off x="5372100" y="3255263"/>
            <a:ext cx="45720" cy="274320"/>
          </a:xfrm>
          <a:prstGeom prst="rect">
            <a:avLst/>
          </a:prstGeom>
          <a:solidFill>
            <a:srgbClr val="FECE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74" name="Google Shape;574;p24"/>
          <p:cNvSpPr txBox="1"/>
          <p:nvPr/>
        </p:nvSpPr>
        <p:spPr>
          <a:xfrm>
            <a:off x="5500116" y="3296411"/>
            <a:ext cx="269748" cy="21945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950" u="none" cap="none" strike="noStrike">
                <a:solidFill>
                  <a:srgbClr val="FFFFFF"/>
                </a:solidFill>
                <a:latin typeface="Arial"/>
                <a:ea typeface="Arial"/>
                <a:cs typeface="Arial"/>
                <a:sym typeface="Arial"/>
              </a:rPr>
              <a:t>n</a:t>
            </a:r>
            <a:endParaRPr/>
          </a:p>
        </p:txBody>
      </p:sp>
      <p:sp>
        <p:nvSpPr>
          <p:cNvPr id="575" name="Google Shape;575;p24"/>
          <p:cNvSpPr/>
          <p:nvPr/>
        </p:nvSpPr>
        <p:spPr>
          <a:xfrm>
            <a:off x="5897880" y="3255263"/>
            <a:ext cx="434340" cy="274320"/>
          </a:xfrm>
          <a:prstGeom prst="rect">
            <a:avLst/>
          </a:prstGeom>
          <a:solidFill>
            <a:srgbClr val="111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76" name="Google Shape;576;p24"/>
          <p:cNvSpPr/>
          <p:nvPr/>
        </p:nvSpPr>
        <p:spPr>
          <a:xfrm>
            <a:off x="5897880" y="3255263"/>
            <a:ext cx="45720" cy="274320"/>
          </a:xfrm>
          <a:prstGeom prst="rect">
            <a:avLst/>
          </a:prstGeom>
          <a:solidFill>
            <a:srgbClr val="FECE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77" name="Google Shape;577;p24"/>
          <p:cNvSpPr txBox="1"/>
          <p:nvPr/>
        </p:nvSpPr>
        <p:spPr>
          <a:xfrm>
            <a:off x="6025896" y="3296411"/>
            <a:ext cx="269748" cy="21945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950" u="none" cap="none" strike="noStrike">
                <a:solidFill>
                  <a:srgbClr val="FFFFFF"/>
                </a:solidFill>
                <a:latin typeface="Arial"/>
                <a:ea typeface="Arial"/>
                <a:cs typeface="Arial"/>
                <a:sym typeface="Arial"/>
              </a:rPr>
              <a:t>p</a:t>
            </a:r>
            <a:endParaRPr/>
          </a:p>
        </p:txBody>
      </p:sp>
      <p:sp>
        <p:nvSpPr>
          <p:cNvPr id="578" name="Google Shape;578;p24"/>
          <p:cNvSpPr/>
          <p:nvPr/>
        </p:nvSpPr>
        <p:spPr>
          <a:xfrm>
            <a:off x="6423660" y="3255263"/>
            <a:ext cx="745236" cy="274320"/>
          </a:xfrm>
          <a:prstGeom prst="rect">
            <a:avLst/>
          </a:prstGeom>
          <a:solidFill>
            <a:srgbClr val="111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79" name="Google Shape;579;p24"/>
          <p:cNvSpPr/>
          <p:nvPr/>
        </p:nvSpPr>
        <p:spPr>
          <a:xfrm>
            <a:off x="6423660" y="3255263"/>
            <a:ext cx="45720" cy="274320"/>
          </a:xfrm>
          <a:prstGeom prst="rect">
            <a:avLst/>
          </a:prstGeom>
          <a:solidFill>
            <a:srgbClr val="FECE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80" name="Google Shape;580;p24"/>
          <p:cNvSpPr txBox="1"/>
          <p:nvPr/>
        </p:nvSpPr>
        <p:spPr>
          <a:xfrm>
            <a:off x="6551676" y="3296411"/>
            <a:ext cx="580644" cy="21945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950" u="none" cap="none" strike="noStrike">
                <a:solidFill>
                  <a:srgbClr val="FFFFFF"/>
                </a:solidFill>
                <a:latin typeface="Arial"/>
                <a:ea typeface="Arial"/>
                <a:cs typeface="Arial"/>
                <a:sym typeface="Arial"/>
              </a:rPr>
              <a:t>monto</a:t>
            </a:r>
            <a:endParaRPr/>
          </a:p>
        </p:txBody>
      </p:sp>
      <p:sp>
        <p:nvSpPr>
          <p:cNvPr id="581" name="Google Shape;581;p24"/>
          <p:cNvSpPr/>
          <p:nvPr/>
        </p:nvSpPr>
        <p:spPr>
          <a:xfrm>
            <a:off x="7260336" y="3255263"/>
            <a:ext cx="745236" cy="274320"/>
          </a:xfrm>
          <a:prstGeom prst="rect">
            <a:avLst/>
          </a:prstGeom>
          <a:solidFill>
            <a:srgbClr val="111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82" name="Google Shape;582;p24"/>
          <p:cNvSpPr/>
          <p:nvPr/>
        </p:nvSpPr>
        <p:spPr>
          <a:xfrm>
            <a:off x="7260336" y="3255263"/>
            <a:ext cx="45720" cy="274320"/>
          </a:xfrm>
          <a:prstGeom prst="rect">
            <a:avLst/>
          </a:prstGeom>
          <a:solidFill>
            <a:srgbClr val="FECE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83" name="Google Shape;583;p24"/>
          <p:cNvSpPr txBox="1"/>
          <p:nvPr/>
        </p:nvSpPr>
        <p:spPr>
          <a:xfrm>
            <a:off x="7388352" y="3296411"/>
            <a:ext cx="580644" cy="21945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950" u="none" cap="none" strike="noStrike">
                <a:solidFill>
                  <a:srgbClr val="FFFFFF"/>
                </a:solidFill>
                <a:latin typeface="Arial"/>
                <a:ea typeface="Arial"/>
                <a:cs typeface="Arial"/>
                <a:sym typeface="Arial"/>
              </a:rPr>
              <a:t>score</a:t>
            </a:r>
            <a:endParaRPr/>
          </a:p>
        </p:txBody>
      </p:sp>
      <p:sp>
        <p:nvSpPr>
          <p:cNvPr id="584" name="Google Shape;584;p24"/>
          <p:cNvSpPr txBox="1"/>
          <p:nvPr/>
        </p:nvSpPr>
        <p:spPr>
          <a:xfrm>
            <a:off x="640080" y="3657599"/>
            <a:ext cx="10908792" cy="1828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00" u="none" cap="none" strike="noStrike">
                <a:solidFill>
                  <a:srgbClr val="01B1EC"/>
                </a:solidFill>
                <a:latin typeface="Arial"/>
                <a:ea typeface="Arial"/>
                <a:cs typeface="Arial"/>
                <a:sym typeface="Arial"/>
              </a:rPr>
              <a:t>Encoding categórico</a:t>
            </a:r>
            <a:endParaRPr/>
          </a:p>
        </p:txBody>
      </p:sp>
      <p:sp>
        <p:nvSpPr>
          <p:cNvPr id="585" name="Google Shape;585;p24"/>
          <p:cNvSpPr/>
          <p:nvPr/>
        </p:nvSpPr>
        <p:spPr>
          <a:xfrm>
            <a:off x="640080" y="3895344"/>
            <a:ext cx="1444752" cy="274320"/>
          </a:xfrm>
          <a:prstGeom prst="rect">
            <a:avLst/>
          </a:prstGeom>
          <a:solidFill>
            <a:srgbClr val="111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86" name="Google Shape;586;p24"/>
          <p:cNvSpPr/>
          <p:nvPr/>
        </p:nvSpPr>
        <p:spPr>
          <a:xfrm>
            <a:off x="640080" y="3895344"/>
            <a:ext cx="45720" cy="274320"/>
          </a:xfrm>
          <a:prstGeom prst="rect">
            <a:avLst/>
          </a:prstGeom>
          <a:solidFill>
            <a:srgbClr val="01B1E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87" name="Google Shape;587;p24"/>
          <p:cNvSpPr txBox="1"/>
          <p:nvPr/>
        </p:nvSpPr>
        <p:spPr>
          <a:xfrm>
            <a:off x="768096" y="3936491"/>
            <a:ext cx="1280160" cy="21945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950" u="none" cap="none" strike="noStrike">
                <a:solidFill>
                  <a:srgbClr val="FFFFFF"/>
                </a:solidFill>
                <a:latin typeface="Arial"/>
                <a:ea typeface="Arial"/>
                <a:cs typeface="Arial"/>
                <a:sym typeface="Arial"/>
              </a:rPr>
              <a:t>g_freq_encoded</a:t>
            </a:r>
            <a:endParaRPr/>
          </a:p>
        </p:txBody>
      </p:sp>
      <p:sp>
        <p:nvSpPr>
          <p:cNvPr id="588" name="Google Shape;588;p24"/>
          <p:cNvSpPr/>
          <p:nvPr/>
        </p:nvSpPr>
        <p:spPr>
          <a:xfrm>
            <a:off x="2176272" y="3895344"/>
            <a:ext cx="1444752" cy="274320"/>
          </a:xfrm>
          <a:prstGeom prst="rect">
            <a:avLst/>
          </a:prstGeom>
          <a:solidFill>
            <a:srgbClr val="111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89" name="Google Shape;589;p24"/>
          <p:cNvSpPr/>
          <p:nvPr/>
        </p:nvSpPr>
        <p:spPr>
          <a:xfrm>
            <a:off x="2176272" y="3895344"/>
            <a:ext cx="45720" cy="274320"/>
          </a:xfrm>
          <a:prstGeom prst="rect">
            <a:avLst/>
          </a:prstGeom>
          <a:solidFill>
            <a:srgbClr val="01B1E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90" name="Google Shape;590;p24"/>
          <p:cNvSpPr txBox="1"/>
          <p:nvPr/>
        </p:nvSpPr>
        <p:spPr>
          <a:xfrm>
            <a:off x="2304288" y="3936491"/>
            <a:ext cx="1280160" cy="21945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950" u="none" cap="none" strike="noStrike">
                <a:solidFill>
                  <a:srgbClr val="FFFFFF"/>
                </a:solidFill>
                <a:latin typeface="Arial"/>
                <a:ea typeface="Arial"/>
                <a:cs typeface="Arial"/>
                <a:sym typeface="Arial"/>
              </a:rPr>
              <a:t>j_freq_encoded</a:t>
            </a:r>
            <a:endParaRPr/>
          </a:p>
        </p:txBody>
      </p:sp>
      <p:sp>
        <p:nvSpPr>
          <p:cNvPr id="591" name="Google Shape;591;p24"/>
          <p:cNvSpPr/>
          <p:nvPr/>
        </p:nvSpPr>
        <p:spPr>
          <a:xfrm>
            <a:off x="3712464" y="3895344"/>
            <a:ext cx="1289304" cy="274320"/>
          </a:xfrm>
          <a:prstGeom prst="rect">
            <a:avLst/>
          </a:prstGeom>
          <a:solidFill>
            <a:srgbClr val="111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92" name="Google Shape;592;p24"/>
          <p:cNvSpPr/>
          <p:nvPr/>
        </p:nvSpPr>
        <p:spPr>
          <a:xfrm>
            <a:off x="3712464" y="3895344"/>
            <a:ext cx="45720" cy="274320"/>
          </a:xfrm>
          <a:prstGeom prst="rect">
            <a:avLst/>
          </a:prstGeom>
          <a:solidFill>
            <a:srgbClr val="01B1E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93" name="Google Shape;593;p24"/>
          <p:cNvSpPr txBox="1"/>
          <p:nvPr/>
        </p:nvSpPr>
        <p:spPr>
          <a:xfrm>
            <a:off x="3840480" y="3936491"/>
            <a:ext cx="1124712" cy="21945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950" u="none" cap="none" strike="noStrike">
                <a:solidFill>
                  <a:srgbClr val="FFFFFF"/>
                </a:solidFill>
                <a:latin typeface="Arial"/>
                <a:ea typeface="Arial"/>
                <a:cs typeface="Arial"/>
                <a:sym typeface="Arial"/>
              </a:rPr>
              <a:t>j_target_enc</a:t>
            </a:r>
            <a:endParaRPr/>
          </a:p>
        </p:txBody>
      </p:sp>
      <p:sp>
        <p:nvSpPr>
          <p:cNvPr id="594" name="Google Shape;594;p24"/>
          <p:cNvSpPr/>
          <p:nvPr/>
        </p:nvSpPr>
        <p:spPr>
          <a:xfrm>
            <a:off x="5093208" y="3895344"/>
            <a:ext cx="1444752" cy="274320"/>
          </a:xfrm>
          <a:prstGeom prst="rect">
            <a:avLst/>
          </a:prstGeom>
          <a:solidFill>
            <a:srgbClr val="111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95" name="Google Shape;595;p24"/>
          <p:cNvSpPr/>
          <p:nvPr/>
        </p:nvSpPr>
        <p:spPr>
          <a:xfrm>
            <a:off x="5093208" y="3895344"/>
            <a:ext cx="45720" cy="274320"/>
          </a:xfrm>
          <a:prstGeom prst="rect">
            <a:avLst/>
          </a:prstGeom>
          <a:solidFill>
            <a:srgbClr val="01B1E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96" name="Google Shape;596;p24"/>
          <p:cNvSpPr txBox="1"/>
          <p:nvPr/>
        </p:nvSpPr>
        <p:spPr>
          <a:xfrm>
            <a:off x="5221224" y="3936491"/>
            <a:ext cx="1280160" cy="21945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950" u="none" cap="none" strike="noStrike">
                <a:solidFill>
                  <a:srgbClr val="FFFFFF"/>
                </a:solidFill>
                <a:latin typeface="Arial"/>
                <a:ea typeface="Arial"/>
                <a:cs typeface="Arial"/>
                <a:sym typeface="Arial"/>
              </a:rPr>
              <a:t>o_freq_encoded</a:t>
            </a:r>
            <a:endParaRPr/>
          </a:p>
        </p:txBody>
      </p:sp>
      <p:sp>
        <p:nvSpPr>
          <p:cNvPr id="597" name="Google Shape;597;p24"/>
          <p:cNvSpPr/>
          <p:nvPr/>
        </p:nvSpPr>
        <p:spPr>
          <a:xfrm>
            <a:off x="6629400" y="3895344"/>
            <a:ext cx="1289304" cy="274320"/>
          </a:xfrm>
          <a:prstGeom prst="rect">
            <a:avLst/>
          </a:prstGeom>
          <a:solidFill>
            <a:srgbClr val="111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98" name="Google Shape;598;p24"/>
          <p:cNvSpPr/>
          <p:nvPr/>
        </p:nvSpPr>
        <p:spPr>
          <a:xfrm>
            <a:off x="6629400" y="3895344"/>
            <a:ext cx="45720" cy="274320"/>
          </a:xfrm>
          <a:prstGeom prst="rect">
            <a:avLst/>
          </a:prstGeom>
          <a:solidFill>
            <a:srgbClr val="01B1E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99" name="Google Shape;599;p24"/>
          <p:cNvSpPr txBox="1"/>
          <p:nvPr/>
        </p:nvSpPr>
        <p:spPr>
          <a:xfrm>
            <a:off x="6757416" y="3936491"/>
            <a:ext cx="1124712" cy="21945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950" u="none" cap="none" strike="noStrike">
                <a:solidFill>
                  <a:srgbClr val="FFFFFF"/>
                </a:solidFill>
                <a:latin typeface="Arial"/>
                <a:ea typeface="Arial"/>
                <a:cs typeface="Arial"/>
                <a:sym typeface="Arial"/>
              </a:rPr>
              <a:t>o_target_enc</a:t>
            </a:r>
            <a:endParaRPr/>
          </a:p>
        </p:txBody>
      </p:sp>
      <p:sp>
        <p:nvSpPr>
          <p:cNvPr id="600" name="Google Shape;600;p24"/>
          <p:cNvSpPr txBox="1"/>
          <p:nvPr/>
        </p:nvSpPr>
        <p:spPr>
          <a:xfrm>
            <a:off x="640080" y="4297679"/>
            <a:ext cx="10908792" cy="1828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00" u="none" cap="none" strike="noStrike">
                <a:solidFill>
                  <a:srgbClr val="46BE78"/>
                </a:solidFill>
                <a:latin typeface="Arial"/>
                <a:ea typeface="Arial"/>
                <a:cs typeface="Arial"/>
                <a:sym typeface="Arial"/>
              </a:rPr>
              <a:t>Features engineered</a:t>
            </a:r>
            <a:endParaRPr/>
          </a:p>
        </p:txBody>
      </p:sp>
      <p:sp>
        <p:nvSpPr>
          <p:cNvPr id="601" name="Google Shape;601;p24"/>
          <p:cNvSpPr/>
          <p:nvPr/>
        </p:nvSpPr>
        <p:spPr>
          <a:xfrm>
            <a:off x="640080" y="4535423"/>
            <a:ext cx="1056132" cy="274320"/>
          </a:xfrm>
          <a:prstGeom prst="rect">
            <a:avLst/>
          </a:prstGeom>
          <a:solidFill>
            <a:srgbClr val="111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02" name="Google Shape;602;p24"/>
          <p:cNvSpPr/>
          <p:nvPr/>
        </p:nvSpPr>
        <p:spPr>
          <a:xfrm>
            <a:off x="640080" y="4535423"/>
            <a:ext cx="45720" cy="274320"/>
          </a:xfrm>
          <a:prstGeom prst="rect">
            <a:avLst/>
          </a:prstGeom>
          <a:solidFill>
            <a:srgbClr val="46BE7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03" name="Google Shape;603;p24"/>
          <p:cNvSpPr txBox="1"/>
          <p:nvPr/>
        </p:nvSpPr>
        <p:spPr>
          <a:xfrm>
            <a:off x="768096" y="4576571"/>
            <a:ext cx="891540" cy="21945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950" u="none" cap="none" strike="noStrike">
                <a:solidFill>
                  <a:srgbClr val="FFFFFF"/>
                </a:solidFill>
                <a:latin typeface="Arial"/>
                <a:ea typeface="Arial"/>
                <a:cs typeface="Arial"/>
                <a:sym typeface="Arial"/>
              </a:rPr>
              <a:t>f_is_zero</a:t>
            </a:r>
            <a:endParaRPr/>
          </a:p>
        </p:txBody>
      </p:sp>
      <p:sp>
        <p:nvSpPr>
          <p:cNvPr id="604" name="Google Shape;604;p24"/>
          <p:cNvSpPr/>
          <p:nvPr/>
        </p:nvSpPr>
        <p:spPr>
          <a:xfrm>
            <a:off x="1787652" y="4535423"/>
            <a:ext cx="1677924" cy="274320"/>
          </a:xfrm>
          <a:prstGeom prst="rect">
            <a:avLst/>
          </a:prstGeom>
          <a:solidFill>
            <a:srgbClr val="111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05" name="Google Shape;605;p24"/>
          <p:cNvSpPr/>
          <p:nvPr/>
        </p:nvSpPr>
        <p:spPr>
          <a:xfrm>
            <a:off x="1787652" y="4535423"/>
            <a:ext cx="45720" cy="274320"/>
          </a:xfrm>
          <a:prstGeom prst="rect">
            <a:avLst/>
          </a:prstGeom>
          <a:solidFill>
            <a:srgbClr val="46BE7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06" name="Google Shape;606;p24"/>
          <p:cNvSpPr txBox="1"/>
          <p:nvPr/>
        </p:nvSpPr>
        <p:spPr>
          <a:xfrm>
            <a:off x="1915668" y="4576571"/>
            <a:ext cx="1513332" cy="21945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950" u="none" cap="none" strike="noStrike">
                <a:solidFill>
                  <a:srgbClr val="FFFFFF"/>
                </a:solidFill>
                <a:latin typeface="Arial"/>
                <a:ea typeface="Arial"/>
                <a:cs typeface="Arial"/>
                <a:sym typeface="Arial"/>
              </a:rPr>
              <a:t>score_qbin_dropna</a:t>
            </a:r>
            <a:endParaRPr/>
          </a:p>
        </p:txBody>
      </p:sp>
      <p:sp>
        <p:nvSpPr>
          <p:cNvPr id="607" name="Google Shape;607;p24"/>
          <p:cNvSpPr/>
          <p:nvPr/>
        </p:nvSpPr>
        <p:spPr>
          <a:xfrm>
            <a:off x="3557016" y="4535423"/>
            <a:ext cx="978408" cy="274320"/>
          </a:xfrm>
          <a:prstGeom prst="rect">
            <a:avLst/>
          </a:prstGeom>
          <a:solidFill>
            <a:srgbClr val="111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08" name="Google Shape;608;p24"/>
          <p:cNvSpPr/>
          <p:nvPr/>
        </p:nvSpPr>
        <p:spPr>
          <a:xfrm>
            <a:off x="3557016" y="4535423"/>
            <a:ext cx="45720" cy="274320"/>
          </a:xfrm>
          <a:prstGeom prst="rect">
            <a:avLst/>
          </a:prstGeom>
          <a:solidFill>
            <a:srgbClr val="46BE7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09" name="Google Shape;609;p24"/>
          <p:cNvSpPr txBox="1"/>
          <p:nvPr/>
        </p:nvSpPr>
        <p:spPr>
          <a:xfrm>
            <a:off x="3685032" y="4576571"/>
            <a:ext cx="813816" cy="21945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950" u="none" cap="none" strike="noStrike">
                <a:solidFill>
                  <a:srgbClr val="FFFFFF"/>
                </a:solidFill>
                <a:latin typeface="Arial"/>
                <a:ea typeface="Arial"/>
                <a:cs typeface="Arial"/>
                <a:sym typeface="Arial"/>
              </a:rPr>
              <a:t>pca_dm_1</a:t>
            </a:r>
            <a:endParaRPr/>
          </a:p>
        </p:txBody>
      </p:sp>
      <p:sp>
        <p:nvSpPr>
          <p:cNvPr id="610" name="Google Shape;610;p24"/>
          <p:cNvSpPr/>
          <p:nvPr/>
        </p:nvSpPr>
        <p:spPr>
          <a:xfrm>
            <a:off x="4626864" y="4535423"/>
            <a:ext cx="1211580" cy="274320"/>
          </a:xfrm>
          <a:prstGeom prst="rect">
            <a:avLst/>
          </a:prstGeom>
          <a:solidFill>
            <a:srgbClr val="111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11" name="Google Shape;611;p24"/>
          <p:cNvSpPr/>
          <p:nvPr/>
        </p:nvSpPr>
        <p:spPr>
          <a:xfrm>
            <a:off x="4626864" y="4535423"/>
            <a:ext cx="45720" cy="274320"/>
          </a:xfrm>
          <a:prstGeom prst="rect">
            <a:avLst/>
          </a:prstGeom>
          <a:solidFill>
            <a:srgbClr val="46BE7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12" name="Google Shape;612;p24"/>
          <p:cNvSpPr txBox="1"/>
          <p:nvPr/>
        </p:nvSpPr>
        <p:spPr>
          <a:xfrm>
            <a:off x="4754880" y="4576571"/>
            <a:ext cx="1046988" cy="21945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950" u="none" cap="none" strike="noStrike">
                <a:solidFill>
                  <a:srgbClr val="FFFFFF"/>
                </a:solidFill>
                <a:latin typeface="Arial"/>
                <a:ea typeface="Arial"/>
                <a:cs typeface="Arial"/>
                <a:sym typeface="Arial"/>
              </a:rPr>
              <a:t>monto_per_l</a:t>
            </a:r>
            <a:endParaRPr/>
          </a:p>
        </p:txBody>
      </p:sp>
      <p:sp>
        <p:nvSpPr>
          <p:cNvPr id="613" name="Google Shape;613;p24"/>
          <p:cNvSpPr txBox="1"/>
          <p:nvPr/>
        </p:nvSpPr>
        <p:spPr>
          <a:xfrm>
            <a:off x="640080" y="4937759"/>
            <a:ext cx="10908792" cy="1828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00" u="none" cap="none" strike="noStrike">
                <a:solidFill>
                  <a:srgbClr val="E6A52D"/>
                </a:solidFill>
                <a:latin typeface="Arial"/>
                <a:ea typeface="Arial"/>
                <a:cs typeface="Arial"/>
                <a:sym typeface="Arial"/>
              </a:rPr>
              <a:t>Agregación temporal</a:t>
            </a:r>
            <a:endParaRPr/>
          </a:p>
        </p:txBody>
      </p:sp>
      <p:sp>
        <p:nvSpPr>
          <p:cNvPr id="614" name="Google Shape;614;p24"/>
          <p:cNvSpPr/>
          <p:nvPr/>
        </p:nvSpPr>
        <p:spPr>
          <a:xfrm>
            <a:off x="640080" y="5175503"/>
            <a:ext cx="1367028" cy="274320"/>
          </a:xfrm>
          <a:prstGeom prst="rect">
            <a:avLst/>
          </a:prstGeom>
          <a:solidFill>
            <a:srgbClr val="111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15" name="Google Shape;615;p24"/>
          <p:cNvSpPr/>
          <p:nvPr/>
        </p:nvSpPr>
        <p:spPr>
          <a:xfrm>
            <a:off x="640080" y="5175503"/>
            <a:ext cx="45720" cy="274320"/>
          </a:xfrm>
          <a:prstGeom prst="rect">
            <a:avLst/>
          </a:prstGeom>
          <a:solidFill>
            <a:srgbClr val="E6A52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16" name="Google Shape;616;p24"/>
          <p:cNvSpPr txBox="1"/>
          <p:nvPr/>
        </p:nvSpPr>
        <p:spPr>
          <a:xfrm>
            <a:off x="768096" y="5216651"/>
            <a:ext cx="1202436" cy="21945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950" u="none" cap="none" strike="noStrike">
                <a:solidFill>
                  <a:srgbClr val="FFFFFF"/>
                </a:solidFill>
                <a:latin typeface="Arial"/>
                <a:ea typeface="Arial"/>
                <a:cs typeface="Arial"/>
                <a:sym typeface="Arial"/>
              </a:rPr>
              <a:t>monto_sum_15d</a:t>
            </a:r>
            <a:endParaRPr/>
          </a:p>
        </p:txBody>
      </p:sp>
      <p:sp>
        <p:nvSpPr>
          <p:cNvPr id="617" name="Google Shape;617;p24"/>
          <p:cNvSpPr txBox="1"/>
          <p:nvPr/>
        </p:nvSpPr>
        <p:spPr>
          <a:xfrm>
            <a:off x="640080" y="5632703"/>
            <a:ext cx="10908792" cy="3657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1" lang="en-US" sz="1050" u="none" cap="none" strike="noStrike">
                <a:solidFill>
                  <a:srgbClr val="01B1EC"/>
                </a:solidFill>
                <a:latin typeface="Arial"/>
                <a:ea typeface="Arial"/>
                <a:cs typeface="Arial"/>
                <a:sym typeface="Arial"/>
              </a:rPr>
              <a:t>Persistencia: cada modelo se guarda en su propia subcarpeta — pipeline completo vía joblib, más el formato nativo del algoritmo (.txt LightGBM, .json XGBoost, .cbm CatBoost).</a:t>
            </a:r>
            <a:endParaRPr/>
          </a:p>
        </p:txBody>
      </p:sp>
      <p:sp>
        <p:nvSpPr>
          <p:cNvPr id="618" name="Google Shape;618;p24"/>
          <p:cNvSpPr/>
          <p:nvPr/>
        </p:nvSpPr>
        <p:spPr>
          <a:xfrm>
            <a:off x="0" y="6537960"/>
            <a:ext cx="12191695" cy="320040"/>
          </a:xfrm>
          <a:prstGeom prst="rect">
            <a:avLst/>
          </a:prstGeom>
          <a:solidFill>
            <a:srgbClr val="0A0A0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nvGrpSpPr>
          <p:cNvPr id="619" name="Google Shape;619;p24"/>
          <p:cNvGrpSpPr/>
          <p:nvPr/>
        </p:nvGrpSpPr>
        <p:grpSpPr>
          <a:xfrm>
            <a:off x="12" y="6223211"/>
            <a:ext cx="634800" cy="634800"/>
            <a:chOff x="12" y="4508711"/>
            <a:chExt cx="634800" cy="634800"/>
          </a:xfrm>
        </p:grpSpPr>
        <p:sp>
          <p:nvSpPr>
            <p:cNvPr id="620" name="Google Shape;620;p24"/>
            <p:cNvSpPr/>
            <p:nvPr/>
          </p:nvSpPr>
          <p:spPr>
            <a:xfrm>
              <a:off x="12" y="4508711"/>
              <a:ext cx="634800" cy="634800"/>
            </a:xfrm>
            <a:prstGeom prst="round1Rect">
              <a:avLst>
                <a:gd fmla="val 28797" name="adj"/>
              </a:avLst>
            </a:prstGeom>
            <a:solidFill>
              <a:srgbClr val="FFD1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21" name="Google Shape;621;p24"/>
            <p:cNvPicPr preferRelativeResize="0"/>
            <p:nvPr/>
          </p:nvPicPr>
          <p:blipFill>
            <a:blip r:embed="rId3">
              <a:alphaModFix/>
            </a:blip>
            <a:stretch>
              <a:fillRect/>
            </a:stretch>
          </p:blipFill>
          <p:spPr>
            <a:xfrm>
              <a:off x="124673" y="4689253"/>
              <a:ext cx="397051" cy="273714"/>
            </a:xfrm>
            <a:prstGeom prst="rect">
              <a:avLst/>
            </a:prstGeom>
            <a:noFill/>
            <a:ln>
              <a:noFill/>
            </a:ln>
          </p:spPr>
        </p:pic>
      </p:grpSp>
      <p:sp>
        <p:nvSpPr>
          <p:cNvPr id="622" name="Google Shape;622;p24"/>
          <p:cNvSpPr/>
          <p:nvPr/>
        </p:nvSpPr>
        <p:spPr>
          <a:xfrm rot="10800000">
            <a:off x="11736276" y="0"/>
            <a:ext cx="455400" cy="421500"/>
          </a:xfrm>
          <a:prstGeom prst="corner">
            <a:avLst>
              <a:gd fmla="val 39228" name="adj1"/>
              <a:gd fmla="val 38336" name="adj2"/>
            </a:avLst>
          </a:prstGeom>
          <a:solidFill>
            <a:srgbClr val="FFD100"/>
          </a:solidFill>
          <a:ln>
            <a:noFill/>
          </a:ln>
        </p:spPr>
        <p:txBody>
          <a:bodyPr anchorCtr="0" anchor="ctr" bIns="60950" lIns="60950" spcFirstLastPara="1" rIns="60950" wrap="square" tIns="60950">
            <a:noAutofit/>
          </a:bodyPr>
          <a:lstStyle/>
          <a:p>
            <a:pPr indent="0" lvl="0" marL="0" rtl="0" algn="l">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p25"/>
          <p:cNvSpPr/>
          <p:nvPr/>
        </p:nvSpPr>
        <p:spPr>
          <a:xfrm>
            <a:off x="0" y="0"/>
            <a:ext cx="12191695" cy="6858000"/>
          </a:xfrm>
          <a:prstGeom prst="rect">
            <a:avLst/>
          </a:prstGeom>
          <a:solidFill>
            <a:srgbClr val="1A1A1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28" name="Google Shape;628;p25"/>
          <p:cNvSpPr/>
          <p:nvPr/>
        </p:nvSpPr>
        <p:spPr>
          <a:xfrm>
            <a:off x="502920" y="457200"/>
            <a:ext cx="54864" cy="777240"/>
          </a:xfrm>
          <a:prstGeom prst="rect">
            <a:avLst/>
          </a:prstGeom>
          <a:solidFill>
            <a:srgbClr val="FECE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29" name="Google Shape;629;p25"/>
          <p:cNvSpPr txBox="1"/>
          <p:nvPr/>
        </p:nvSpPr>
        <p:spPr>
          <a:xfrm>
            <a:off x="685800" y="457200"/>
            <a:ext cx="1051560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300" u="none" cap="none" strike="noStrike">
                <a:solidFill>
                  <a:srgbClr val="B0B0B0"/>
                </a:solidFill>
                <a:latin typeface="Arial"/>
                <a:ea typeface="Arial"/>
                <a:cs typeface="Arial"/>
                <a:sym typeface="Arial"/>
              </a:rPr>
              <a:t>03_MODEL_SELECTION — 01_evaluate_models.ipynb</a:t>
            </a:r>
            <a:endParaRPr/>
          </a:p>
        </p:txBody>
      </p:sp>
      <p:sp>
        <p:nvSpPr>
          <p:cNvPr id="630" name="Google Shape;630;p25"/>
          <p:cNvSpPr txBox="1"/>
          <p:nvPr/>
        </p:nvSpPr>
        <p:spPr>
          <a:xfrm>
            <a:off x="658368" y="749808"/>
            <a:ext cx="10607040" cy="5943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600" u="none" cap="none" strike="noStrike">
                <a:solidFill>
                  <a:srgbClr val="FFFFFF"/>
                </a:solidFill>
                <a:latin typeface="Arial"/>
                <a:ea typeface="Arial"/>
                <a:cs typeface="Arial"/>
                <a:sym typeface="Arial"/>
              </a:rPr>
              <a:t>APLICACIÓN DE LA FUNCIÓN DE GANANCIA (J)</a:t>
            </a:r>
            <a:endParaRPr/>
          </a:p>
        </p:txBody>
      </p:sp>
      <p:sp>
        <p:nvSpPr>
          <p:cNvPr id="631" name="Google Shape;631;p25"/>
          <p:cNvSpPr/>
          <p:nvPr/>
        </p:nvSpPr>
        <p:spPr>
          <a:xfrm>
            <a:off x="640080" y="1600200"/>
            <a:ext cx="6430975" cy="4800600"/>
          </a:xfrm>
          <a:prstGeom prst="rect">
            <a:avLst/>
          </a:prstGeom>
          <a:solidFill>
            <a:srgbClr val="111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2" name="Google Shape;632;p25"/>
          <p:cNvSpPr/>
          <p:nvPr/>
        </p:nvSpPr>
        <p:spPr>
          <a:xfrm>
            <a:off x="896112" y="1874520"/>
            <a:ext cx="146304" cy="146304"/>
          </a:xfrm>
          <a:prstGeom prst="ellipse">
            <a:avLst/>
          </a:prstGeom>
          <a:noFill/>
          <a:ln cap="flat" cmpd="sng" w="158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3" name="Google Shape;633;p25"/>
          <p:cNvSpPr txBox="1"/>
          <p:nvPr/>
        </p:nvSpPr>
        <p:spPr>
          <a:xfrm>
            <a:off x="1207008" y="1828800"/>
            <a:ext cx="5608015"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50" u="none" cap="none" strike="noStrike">
                <a:solidFill>
                  <a:srgbClr val="FFFFFF"/>
                </a:solidFill>
                <a:latin typeface="Arial"/>
                <a:ea typeface="Arial"/>
                <a:cs typeface="Arial"/>
                <a:sym typeface="Arial"/>
              </a:rPr>
              <a:t>TH fijo vs. TH óptimo</a:t>
            </a:r>
            <a:endParaRPr/>
          </a:p>
        </p:txBody>
      </p:sp>
      <p:sp>
        <p:nvSpPr>
          <p:cNvPr id="634" name="Google Shape;634;p25"/>
          <p:cNvSpPr txBox="1"/>
          <p:nvPr/>
        </p:nvSpPr>
        <p:spPr>
          <a:xfrm>
            <a:off x="1207008" y="2103120"/>
            <a:ext cx="5608015" cy="1155191"/>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150" u="none" cap="none" strike="noStrike">
                <a:solidFill>
                  <a:srgbClr val="B0B0B0"/>
                </a:solidFill>
                <a:latin typeface="Arial"/>
                <a:ea typeface="Arial"/>
                <a:cs typeface="Arial"/>
                <a:sym typeface="Arial"/>
              </a:rPr>
              <a:t>cada modelo se evalúa con umbral fijo (0.5) y un umbral óptimo calibrado vía sweep_business_profit.</a:t>
            </a:r>
            <a:endParaRPr/>
          </a:p>
        </p:txBody>
      </p:sp>
      <p:cxnSp>
        <p:nvCxnSpPr>
          <p:cNvPr id="635" name="Google Shape;635;p25"/>
          <p:cNvCxnSpPr/>
          <p:nvPr/>
        </p:nvCxnSpPr>
        <p:spPr>
          <a:xfrm>
            <a:off x="969264" y="3230880"/>
            <a:ext cx="0" cy="73152"/>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8039"/>
              </a:srgbClr>
            </a:outerShdw>
          </a:effectLst>
        </p:spPr>
      </p:cxnSp>
      <p:sp>
        <p:nvSpPr>
          <p:cNvPr id="636" name="Google Shape;636;p25"/>
          <p:cNvSpPr/>
          <p:nvPr/>
        </p:nvSpPr>
        <p:spPr>
          <a:xfrm>
            <a:off x="896112" y="3304032"/>
            <a:ext cx="146304" cy="146304"/>
          </a:xfrm>
          <a:prstGeom prst="ellipse">
            <a:avLst/>
          </a:prstGeom>
          <a:noFill/>
          <a:ln cap="flat" cmpd="sng" w="158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7" name="Google Shape;637;p25"/>
          <p:cNvSpPr txBox="1"/>
          <p:nvPr/>
        </p:nvSpPr>
        <p:spPr>
          <a:xfrm>
            <a:off x="1207008" y="3258312"/>
            <a:ext cx="5608015"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50" u="none" cap="none" strike="noStrike">
                <a:solidFill>
                  <a:srgbClr val="FFFFFF"/>
                </a:solidFill>
                <a:latin typeface="Arial"/>
                <a:ea typeface="Arial"/>
                <a:cs typeface="Arial"/>
                <a:sym typeface="Arial"/>
              </a:rPr>
              <a:t>Métrica ancla</a:t>
            </a:r>
            <a:endParaRPr/>
          </a:p>
        </p:txBody>
      </p:sp>
      <p:sp>
        <p:nvSpPr>
          <p:cNvPr id="638" name="Google Shape;638;p25"/>
          <p:cNvSpPr txBox="1"/>
          <p:nvPr/>
        </p:nvSpPr>
        <p:spPr>
          <a:xfrm>
            <a:off x="1207008" y="3532632"/>
            <a:ext cx="5608015" cy="1155191"/>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150" u="none" cap="none" strike="noStrike">
                <a:solidFill>
                  <a:srgbClr val="B0B0B0"/>
                </a:solidFill>
                <a:latin typeface="Arial"/>
                <a:ea typeface="Arial"/>
                <a:cs typeface="Arial"/>
                <a:sym typeface="Arial"/>
              </a:rPr>
              <a:t>J($) = -1.00·Σmonto(FN) - 0.25·Σmonto(FP), calculada sobre el conjunto de test real.</a:t>
            </a:r>
            <a:endParaRPr/>
          </a:p>
        </p:txBody>
      </p:sp>
      <p:cxnSp>
        <p:nvCxnSpPr>
          <p:cNvPr id="639" name="Google Shape;639;p25"/>
          <p:cNvCxnSpPr/>
          <p:nvPr/>
        </p:nvCxnSpPr>
        <p:spPr>
          <a:xfrm>
            <a:off x="969264" y="4660392"/>
            <a:ext cx="0" cy="73152"/>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8039"/>
              </a:srgbClr>
            </a:outerShdw>
          </a:effectLst>
        </p:spPr>
      </p:cxnSp>
      <p:sp>
        <p:nvSpPr>
          <p:cNvPr id="640" name="Google Shape;640;p25"/>
          <p:cNvSpPr/>
          <p:nvPr/>
        </p:nvSpPr>
        <p:spPr>
          <a:xfrm>
            <a:off x="896112" y="4733543"/>
            <a:ext cx="146304" cy="146304"/>
          </a:xfrm>
          <a:prstGeom prst="ellipse">
            <a:avLst/>
          </a:prstGeom>
          <a:noFill/>
          <a:ln cap="flat" cmpd="sng" w="158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1" name="Google Shape;641;p25"/>
          <p:cNvSpPr txBox="1"/>
          <p:nvPr/>
        </p:nvSpPr>
        <p:spPr>
          <a:xfrm>
            <a:off x="1207008" y="4687823"/>
            <a:ext cx="5608015"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50" u="none" cap="none" strike="noStrike">
                <a:solidFill>
                  <a:srgbClr val="FFFFFF"/>
                </a:solidFill>
                <a:latin typeface="Arial"/>
                <a:ea typeface="Arial"/>
                <a:cs typeface="Arial"/>
                <a:sym typeface="Arial"/>
              </a:rPr>
              <a:t>Escenario base "bloquear todo"</a:t>
            </a:r>
            <a:endParaRPr/>
          </a:p>
        </p:txBody>
      </p:sp>
      <p:sp>
        <p:nvSpPr>
          <p:cNvPr id="642" name="Google Shape;642;p25"/>
          <p:cNvSpPr txBox="1"/>
          <p:nvPr/>
        </p:nvSpPr>
        <p:spPr>
          <a:xfrm>
            <a:off x="1207008" y="4962143"/>
            <a:ext cx="5608015" cy="1155191"/>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150" u="none" cap="none" strike="noStrike">
                <a:solidFill>
                  <a:srgbClr val="B0B0B0"/>
                </a:solidFill>
                <a:latin typeface="Arial"/>
                <a:ea typeface="Arial"/>
                <a:cs typeface="Arial"/>
                <a:sym typeface="Arial"/>
              </a:rPr>
              <a:t>J = -$428,970.04 — referencia de costo de oportunidad de rechazar todas las transacciones.</a:t>
            </a:r>
            <a:endParaRPr/>
          </a:p>
        </p:txBody>
      </p:sp>
      <p:sp>
        <p:nvSpPr>
          <p:cNvPr id="643" name="Google Shape;643;p25"/>
          <p:cNvSpPr txBox="1"/>
          <p:nvPr/>
        </p:nvSpPr>
        <p:spPr>
          <a:xfrm>
            <a:off x="7345375" y="1600200"/>
            <a:ext cx="4206240"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B0B0B0"/>
                </a:solidFill>
                <a:latin typeface="Arial"/>
                <a:ea typeface="Arial"/>
                <a:cs typeface="Arial"/>
                <a:sym typeface="Arial"/>
              </a:rPr>
              <a:t>GANANCIA POR CALIBRACIÓN DE UMBRAL</a:t>
            </a:r>
            <a:endParaRPr/>
          </a:p>
        </p:txBody>
      </p:sp>
      <p:sp>
        <p:nvSpPr>
          <p:cNvPr id="644" name="Google Shape;644;p25"/>
          <p:cNvSpPr txBox="1"/>
          <p:nvPr/>
        </p:nvSpPr>
        <p:spPr>
          <a:xfrm>
            <a:off x="7345375" y="2090245"/>
            <a:ext cx="1338681"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00" u="none" cap="none" strike="noStrike">
                <a:solidFill>
                  <a:srgbClr val="FFFFFF"/>
                </a:solidFill>
                <a:latin typeface="Arial"/>
                <a:ea typeface="Arial"/>
                <a:cs typeface="Arial"/>
                <a:sym typeface="Arial"/>
              </a:rPr>
              <a:t>Logistic Regression</a:t>
            </a:r>
            <a:endParaRPr/>
          </a:p>
        </p:txBody>
      </p:sp>
      <p:sp>
        <p:nvSpPr>
          <p:cNvPr id="645" name="Google Shape;645;p25"/>
          <p:cNvSpPr/>
          <p:nvPr/>
        </p:nvSpPr>
        <p:spPr>
          <a:xfrm>
            <a:off x="8775496" y="2381737"/>
            <a:ext cx="2136038" cy="282659"/>
          </a:xfrm>
          <a:prstGeom prst="rect">
            <a:avLst/>
          </a:prstGeom>
          <a:solidFill>
            <a:srgbClr val="08080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6" name="Google Shape;646;p25"/>
          <p:cNvSpPr/>
          <p:nvPr/>
        </p:nvSpPr>
        <p:spPr>
          <a:xfrm>
            <a:off x="8775496" y="2381737"/>
            <a:ext cx="2114678" cy="282659"/>
          </a:xfrm>
          <a:prstGeom prst="rect">
            <a:avLst/>
          </a:prstGeom>
          <a:solidFill>
            <a:srgbClr val="FECE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7" name="Google Shape;647;p25"/>
          <p:cNvSpPr txBox="1"/>
          <p:nvPr/>
        </p:nvSpPr>
        <p:spPr>
          <a:xfrm>
            <a:off x="10966399" y="2319905"/>
            <a:ext cx="59436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50" u="none" cap="none" strike="noStrike">
                <a:solidFill>
                  <a:srgbClr val="FECE00"/>
                </a:solidFill>
                <a:latin typeface="Arial"/>
                <a:ea typeface="Arial"/>
                <a:cs typeface="Arial"/>
                <a:sym typeface="Arial"/>
              </a:rPr>
              <a:t>39.6%</a:t>
            </a:r>
            <a:endParaRPr/>
          </a:p>
        </p:txBody>
      </p:sp>
      <p:sp>
        <p:nvSpPr>
          <p:cNvPr id="648" name="Google Shape;648;p25"/>
          <p:cNvSpPr txBox="1"/>
          <p:nvPr/>
        </p:nvSpPr>
        <p:spPr>
          <a:xfrm>
            <a:off x="7345375" y="2973555"/>
            <a:ext cx="1338681"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00" u="none" cap="none" strike="noStrike">
                <a:solidFill>
                  <a:srgbClr val="FFFFFF"/>
                </a:solidFill>
                <a:latin typeface="Arial"/>
                <a:ea typeface="Arial"/>
                <a:cs typeface="Arial"/>
                <a:sym typeface="Arial"/>
              </a:rPr>
              <a:t>Random Forest</a:t>
            </a:r>
            <a:endParaRPr/>
          </a:p>
        </p:txBody>
      </p:sp>
      <p:sp>
        <p:nvSpPr>
          <p:cNvPr id="649" name="Google Shape;649;p25"/>
          <p:cNvSpPr/>
          <p:nvPr/>
        </p:nvSpPr>
        <p:spPr>
          <a:xfrm>
            <a:off x="8775496" y="3265048"/>
            <a:ext cx="2136038" cy="282659"/>
          </a:xfrm>
          <a:prstGeom prst="rect">
            <a:avLst/>
          </a:prstGeom>
          <a:solidFill>
            <a:srgbClr val="08080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50" name="Google Shape;650;p25"/>
          <p:cNvSpPr/>
          <p:nvPr/>
        </p:nvSpPr>
        <p:spPr>
          <a:xfrm>
            <a:off x="8775496" y="3265048"/>
            <a:ext cx="587410" cy="282659"/>
          </a:xfrm>
          <a:prstGeom prst="rect">
            <a:avLst/>
          </a:prstGeom>
          <a:solidFill>
            <a:srgbClr val="FECE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51" name="Google Shape;651;p25"/>
          <p:cNvSpPr txBox="1"/>
          <p:nvPr/>
        </p:nvSpPr>
        <p:spPr>
          <a:xfrm>
            <a:off x="10966399" y="3203216"/>
            <a:ext cx="59436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50" u="none" cap="none" strike="noStrike">
                <a:solidFill>
                  <a:srgbClr val="FECE00"/>
                </a:solidFill>
                <a:latin typeface="Arial"/>
                <a:ea typeface="Arial"/>
                <a:cs typeface="Arial"/>
                <a:sym typeface="Arial"/>
              </a:rPr>
              <a:t>11%</a:t>
            </a:r>
            <a:endParaRPr/>
          </a:p>
        </p:txBody>
      </p:sp>
      <p:sp>
        <p:nvSpPr>
          <p:cNvPr id="652" name="Google Shape;652;p25"/>
          <p:cNvSpPr txBox="1"/>
          <p:nvPr/>
        </p:nvSpPr>
        <p:spPr>
          <a:xfrm>
            <a:off x="7345375" y="3856866"/>
            <a:ext cx="1338681"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00" u="none" cap="none" strike="noStrike">
                <a:solidFill>
                  <a:srgbClr val="FFFFFF"/>
                </a:solidFill>
                <a:latin typeface="Arial"/>
                <a:ea typeface="Arial"/>
                <a:cs typeface="Arial"/>
                <a:sym typeface="Arial"/>
              </a:rPr>
              <a:t>LightGBM</a:t>
            </a:r>
            <a:endParaRPr/>
          </a:p>
        </p:txBody>
      </p:sp>
      <p:sp>
        <p:nvSpPr>
          <p:cNvPr id="653" name="Google Shape;653;p25"/>
          <p:cNvSpPr/>
          <p:nvPr/>
        </p:nvSpPr>
        <p:spPr>
          <a:xfrm>
            <a:off x="8775496" y="4148358"/>
            <a:ext cx="2136038" cy="282659"/>
          </a:xfrm>
          <a:prstGeom prst="rect">
            <a:avLst/>
          </a:prstGeom>
          <a:solidFill>
            <a:srgbClr val="08080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54" name="Google Shape;654;p25"/>
          <p:cNvSpPr/>
          <p:nvPr/>
        </p:nvSpPr>
        <p:spPr>
          <a:xfrm>
            <a:off x="8775496" y="4148358"/>
            <a:ext cx="320405" cy="282659"/>
          </a:xfrm>
          <a:prstGeom prst="rect">
            <a:avLst/>
          </a:prstGeom>
          <a:solidFill>
            <a:srgbClr val="FECE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55" name="Google Shape;655;p25"/>
          <p:cNvSpPr txBox="1"/>
          <p:nvPr/>
        </p:nvSpPr>
        <p:spPr>
          <a:xfrm>
            <a:off x="10966399" y="4086526"/>
            <a:ext cx="59436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50" u="none" cap="none" strike="noStrike">
                <a:solidFill>
                  <a:srgbClr val="FECE00"/>
                </a:solidFill>
                <a:latin typeface="Arial"/>
                <a:ea typeface="Arial"/>
                <a:cs typeface="Arial"/>
                <a:sym typeface="Arial"/>
              </a:rPr>
              <a:t>6%</a:t>
            </a:r>
            <a:endParaRPr/>
          </a:p>
        </p:txBody>
      </p:sp>
      <p:sp>
        <p:nvSpPr>
          <p:cNvPr id="656" name="Google Shape;656;p25"/>
          <p:cNvSpPr txBox="1"/>
          <p:nvPr/>
        </p:nvSpPr>
        <p:spPr>
          <a:xfrm>
            <a:off x="7345375" y="4740176"/>
            <a:ext cx="1338681"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00" u="none" cap="none" strike="noStrike">
                <a:solidFill>
                  <a:srgbClr val="FFFFFF"/>
                </a:solidFill>
                <a:latin typeface="Arial"/>
                <a:ea typeface="Arial"/>
                <a:cs typeface="Arial"/>
                <a:sym typeface="Arial"/>
              </a:rPr>
              <a:t>CatBoost</a:t>
            </a:r>
            <a:endParaRPr/>
          </a:p>
        </p:txBody>
      </p:sp>
      <p:sp>
        <p:nvSpPr>
          <p:cNvPr id="657" name="Google Shape;657;p25"/>
          <p:cNvSpPr/>
          <p:nvPr/>
        </p:nvSpPr>
        <p:spPr>
          <a:xfrm>
            <a:off x="8775496" y="5031668"/>
            <a:ext cx="2136038" cy="282659"/>
          </a:xfrm>
          <a:prstGeom prst="rect">
            <a:avLst/>
          </a:prstGeom>
          <a:solidFill>
            <a:srgbClr val="08080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58" name="Google Shape;658;p25"/>
          <p:cNvSpPr/>
          <p:nvPr/>
        </p:nvSpPr>
        <p:spPr>
          <a:xfrm>
            <a:off x="8775496" y="5031668"/>
            <a:ext cx="181563" cy="282659"/>
          </a:xfrm>
          <a:prstGeom prst="rect">
            <a:avLst/>
          </a:prstGeom>
          <a:solidFill>
            <a:srgbClr val="FECE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59" name="Google Shape;659;p25"/>
          <p:cNvSpPr txBox="1"/>
          <p:nvPr/>
        </p:nvSpPr>
        <p:spPr>
          <a:xfrm>
            <a:off x="10966399" y="4969837"/>
            <a:ext cx="59436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50" u="none" cap="none" strike="noStrike">
                <a:solidFill>
                  <a:srgbClr val="FECE00"/>
                </a:solidFill>
                <a:latin typeface="Arial"/>
                <a:ea typeface="Arial"/>
                <a:cs typeface="Arial"/>
                <a:sym typeface="Arial"/>
              </a:rPr>
              <a:t>3.4%</a:t>
            </a:r>
            <a:endParaRPr/>
          </a:p>
        </p:txBody>
      </p:sp>
      <p:sp>
        <p:nvSpPr>
          <p:cNvPr id="660" name="Google Shape;660;p25"/>
          <p:cNvSpPr txBox="1"/>
          <p:nvPr/>
        </p:nvSpPr>
        <p:spPr>
          <a:xfrm>
            <a:off x="7345375" y="5623486"/>
            <a:ext cx="1338681"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00" u="none" cap="none" strike="noStrike">
                <a:solidFill>
                  <a:srgbClr val="FFFFFF"/>
                </a:solidFill>
                <a:latin typeface="Arial"/>
                <a:ea typeface="Arial"/>
                <a:cs typeface="Arial"/>
                <a:sym typeface="Arial"/>
              </a:rPr>
              <a:t>XGBoost</a:t>
            </a:r>
            <a:endParaRPr/>
          </a:p>
        </p:txBody>
      </p:sp>
      <p:sp>
        <p:nvSpPr>
          <p:cNvPr id="661" name="Google Shape;661;p25"/>
          <p:cNvSpPr/>
          <p:nvPr/>
        </p:nvSpPr>
        <p:spPr>
          <a:xfrm>
            <a:off x="8775496" y="5914979"/>
            <a:ext cx="2136038" cy="282659"/>
          </a:xfrm>
          <a:prstGeom prst="rect">
            <a:avLst/>
          </a:prstGeom>
          <a:solidFill>
            <a:srgbClr val="08080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62" name="Google Shape;662;p25"/>
          <p:cNvSpPr/>
          <p:nvPr/>
        </p:nvSpPr>
        <p:spPr>
          <a:xfrm>
            <a:off x="8775496" y="5914979"/>
            <a:ext cx="69421" cy="282659"/>
          </a:xfrm>
          <a:prstGeom prst="rect">
            <a:avLst/>
          </a:prstGeom>
          <a:solidFill>
            <a:srgbClr val="FECE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63" name="Google Shape;663;p25"/>
          <p:cNvSpPr txBox="1"/>
          <p:nvPr/>
        </p:nvSpPr>
        <p:spPr>
          <a:xfrm>
            <a:off x="10966399" y="5853147"/>
            <a:ext cx="59436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50" u="none" cap="none" strike="noStrike">
                <a:solidFill>
                  <a:srgbClr val="FECE00"/>
                </a:solidFill>
                <a:latin typeface="Arial"/>
                <a:ea typeface="Arial"/>
                <a:cs typeface="Arial"/>
                <a:sym typeface="Arial"/>
              </a:rPr>
              <a:t>1.3%</a:t>
            </a:r>
            <a:endParaRPr/>
          </a:p>
        </p:txBody>
      </p:sp>
      <p:sp>
        <p:nvSpPr>
          <p:cNvPr id="664" name="Google Shape;664;p25"/>
          <p:cNvSpPr/>
          <p:nvPr/>
        </p:nvSpPr>
        <p:spPr>
          <a:xfrm>
            <a:off x="0" y="6537960"/>
            <a:ext cx="12191695" cy="320040"/>
          </a:xfrm>
          <a:prstGeom prst="rect">
            <a:avLst/>
          </a:prstGeom>
          <a:solidFill>
            <a:srgbClr val="0A0A0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nvGrpSpPr>
          <p:cNvPr id="665" name="Google Shape;665;p25"/>
          <p:cNvGrpSpPr/>
          <p:nvPr/>
        </p:nvGrpSpPr>
        <p:grpSpPr>
          <a:xfrm>
            <a:off x="12" y="6223211"/>
            <a:ext cx="634800" cy="634800"/>
            <a:chOff x="12" y="4508711"/>
            <a:chExt cx="634800" cy="634800"/>
          </a:xfrm>
        </p:grpSpPr>
        <p:sp>
          <p:nvSpPr>
            <p:cNvPr id="666" name="Google Shape;666;p25"/>
            <p:cNvSpPr/>
            <p:nvPr/>
          </p:nvSpPr>
          <p:spPr>
            <a:xfrm>
              <a:off x="12" y="4508711"/>
              <a:ext cx="634800" cy="634800"/>
            </a:xfrm>
            <a:prstGeom prst="round1Rect">
              <a:avLst>
                <a:gd fmla="val 28797" name="adj"/>
              </a:avLst>
            </a:prstGeom>
            <a:solidFill>
              <a:srgbClr val="FFD1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67" name="Google Shape;667;p25"/>
            <p:cNvPicPr preferRelativeResize="0"/>
            <p:nvPr/>
          </p:nvPicPr>
          <p:blipFill>
            <a:blip r:embed="rId3">
              <a:alphaModFix/>
            </a:blip>
            <a:stretch>
              <a:fillRect/>
            </a:stretch>
          </p:blipFill>
          <p:spPr>
            <a:xfrm>
              <a:off x="124673" y="4689253"/>
              <a:ext cx="397051" cy="273714"/>
            </a:xfrm>
            <a:prstGeom prst="rect">
              <a:avLst/>
            </a:prstGeom>
            <a:noFill/>
            <a:ln>
              <a:noFill/>
            </a:ln>
          </p:spPr>
        </p:pic>
      </p:grpSp>
      <p:sp>
        <p:nvSpPr>
          <p:cNvPr id="668" name="Google Shape;668;p25"/>
          <p:cNvSpPr/>
          <p:nvPr/>
        </p:nvSpPr>
        <p:spPr>
          <a:xfrm rot="10800000">
            <a:off x="11736276" y="0"/>
            <a:ext cx="455400" cy="421500"/>
          </a:xfrm>
          <a:prstGeom prst="corner">
            <a:avLst>
              <a:gd fmla="val 39228" name="adj1"/>
              <a:gd fmla="val 38336" name="adj2"/>
            </a:avLst>
          </a:prstGeom>
          <a:solidFill>
            <a:srgbClr val="FFD100"/>
          </a:solidFill>
          <a:ln>
            <a:noFill/>
          </a:ln>
        </p:spPr>
        <p:txBody>
          <a:bodyPr anchorCtr="0" anchor="ctr" bIns="60950" lIns="60950" spcFirstLastPara="1" rIns="60950" wrap="square" tIns="60950">
            <a:noAutofit/>
          </a:bodyPr>
          <a:lstStyle/>
          <a:p>
            <a:pPr indent="0" lvl="0" marL="0" rtl="0" algn="l">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p26"/>
          <p:cNvSpPr/>
          <p:nvPr/>
        </p:nvSpPr>
        <p:spPr>
          <a:xfrm>
            <a:off x="0" y="0"/>
            <a:ext cx="12191695" cy="6858000"/>
          </a:xfrm>
          <a:prstGeom prst="rect">
            <a:avLst/>
          </a:prstGeom>
          <a:solidFill>
            <a:srgbClr val="1A1A1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74" name="Google Shape;674;p26"/>
          <p:cNvSpPr/>
          <p:nvPr/>
        </p:nvSpPr>
        <p:spPr>
          <a:xfrm>
            <a:off x="502920" y="457200"/>
            <a:ext cx="54864" cy="777240"/>
          </a:xfrm>
          <a:prstGeom prst="rect">
            <a:avLst/>
          </a:prstGeom>
          <a:solidFill>
            <a:srgbClr val="FECE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75" name="Google Shape;675;p26"/>
          <p:cNvSpPr txBox="1"/>
          <p:nvPr/>
        </p:nvSpPr>
        <p:spPr>
          <a:xfrm>
            <a:off x="685800" y="457200"/>
            <a:ext cx="1051560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300" u="none" cap="none" strike="noStrike">
                <a:solidFill>
                  <a:srgbClr val="B0B0B0"/>
                </a:solidFill>
                <a:latin typeface="Arial"/>
                <a:ea typeface="Arial"/>
                <a:cs typeface="Arial"/>
                <a:sym typeface="Arial"/>
              </a:rPr>
              <a:t>03_MODEL_SELECTION — COMPARACIÓN DE MODELOS</a:t>
            </a:r>
            <a:endParaRPr/>
          </a:p>
        </p:txBody>
      </p:sp>
      <p:sp>
        <p:nvSpPr>
          <p:cNvPr id="676" name="Google Shape;676;p26"/>
          <p:cNvSpPr txBox="1"/>
          <p:nvPr/>
        </p:nvSpPr>
        <p:spPr>
          <a:xfrm>
            <a:off x="658368" y="749808"/>
            <a:ext cx="10607040" cy="5943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600" u="none" cap="none" strike="noStrike">
                <a:solidFill>
                  <a:srgbClr val="FFFFFF"/>
                </a:solidFill>
                <a:latin typeface="Arial"/>
                <a:ea typeface="Arial"/>
                <a:cs typeface="Arial"/>
                <a:sym typeface="Arial"/>
              </a:rPr>
              <a:t>RESULTADOS Y MÉTRICAS (TH ÓPTIMO)</a:t>
            </a:r>
            <a:endParaRPr/>
          </a:p>
        </p:txBody>
      </p:sp>
      <p:graphicFrame>
        <p:nvGraphicFramePr>
          <p:cNvPr id="677" name="Google Shape;677;p26"/>
          <p:cNvGraphicFramePr/>
          <p:nvPr/>
        </p:nvGraphicFramePr>
        <p:xfrm>
          <a:off x="640080" y="1737360"/>
          <a:ext cx="3000000" cy="3000000"/>
        </p:xfrm>
        <a:graphic>
          <a:graphicData uri="http://schemas.openxmlformats.org/drawingml/2006/table">
            <a:tbl>
              <a:tblPr bandRow="1" firstRow="1">
                <a:noFill/>
                <a:tableStyleId>{7848D6A8-F8AC-481B-8DDB-FC5D41F1B669}</a:tableStyleId>
              </a:tblPr>
              <a:tblGrid>
                <a:gridCol w="1690850"/>
                <a:gridCol w="818150"/>
                <a:gridCol w="981800"/>
                <a:gridCol w="1418150"/>
                <a:gridCol w="1309050"/>
                <a:gridCol w="1418150"/>
                <a:gridCol w="1636325"/>
                <a:gridCol w="1636325"/>
              </a:tblGrid>
              <a:tr h="640075">
                <a:tc>
                  <a:txBody>
                    <a:bodyPr/>
                    <a:lstStyle/>
                    <a:p>
                      <a:pPr indent="0" lvl="0" marL="0" marR="0" rtl="0" algn="l">
                        <a:spcBef>
                          <a:spcPts val="0"/>
                        </a:spcBef>
                        <a:spcAft>
                          <a:spcPts val="0"/>
                        </a:spcAft>
                        <a:buNone/>
                      </a:pPr>
                      <a:r>
                        <a:rPr b="1" lang="en-US" sz="1100" u="none" cap="none" strike="noStrike">
                          <a:solidFill>
                            <a:srgbClr val="000000"/>
                          </a:solidFill>
                          <a:latin typeface="Arial"/>
                          <a:ea typeface="Arial"/>
                          <a:cs typeface="Arial"/>
                          <a:sym typeface="Arial"/>
                        </a:rPr>
                        <a:t>Modelo</a:t>
                      </a:r>
                      <a:endParaRPr/>
                    </a:p>
                  </a:txBody>
                  <a:tcPr marT="45725" marB="45725" marR="91450" marL="91450">
                    <a:solidFill>
                      <a:srgbClr val="FECE00"/>
                    </a:solidFill>
                  </a:tcPr>
                </a:tc>
                <a:tc>
                  <a:txBody>
                    <a:bodyPr/>
                    <a:lstStyle/>
                    <a:p>
                      <a:pPr indent="0" lvl="0" marL="0" marR="0" rtl="0" algn="ctr">
                        <a:spcBef>
                          <a:spcPts val="0"/>
                        </a:spcBef>
                        <a:spcAft>
                          <a:spcPts val="0"/>
                        </a:spcAft>
                        <a:buNone/>
                      </a:pPr>
                      <a:r>
                        <a:rPr b="1" lang="en-US" sz="1100" u="none" cap="none" strike="noStrike">
                          <a:solidFill>
                            <a:srgbClr val="000000"/>
                          </a:solidFill>
                          <a:latin typeface="Arial"/>
                          <a:ea typeface="Arial"/>
                          <a:cs typeface="Arial"/>
                          <a:sym typeface="Arial"/>
                        </a:rPr>
                        <a:t>AUC</a:t>
                      </a:r>
                      <a:endParaRPr/>
                    </a:p>
                  </a:txBody>
                  <a:tcPr marT="45725" marB="45725" marR="91450" marL="91450">
                    <a:solidFill>
                      <a:srgbClr val="FECE00"/>
                    </a:solidFill>
                  </a:tcPr>
                </a:tc>
                <a:tc>
                  <a:txBody>
                    <a:bodyPr/>
                    <a:lstStyle/>
                    <a:p>
                      <a:pPr indent="0" lvl="0" marL="0" marR="0" rtl="0" algn="ctr">
                        <a:spcBef>
                          <a:spcPts val="0"/>
                        </a:spcBef>
                        <a:spcAft>
                          <a:spcPts val="0"/>
                        </a:spcAft>
                        <a:buNone/>
                      </a:pPr>
                      <a:r>
                        <a:rPr b="1" lang="en-US" sz="1100" u="none" cap="none" strike="noStrike">
                          <a:solidFill>
                            <a:srgbClr val="000000"/>
                          </a:solidFill>
                          <a:latin typeface="Arial"/>
                          <a:ea typeface="Arial"/>
                          <a:cs typeface="Arial"/>
                          <a:sym typeface="Arial"/>
                        </a:rPr>
                        <a:t>PR-AUC</a:t>
                      </a:r>
                      <a:endParaRPr/>
                    </a:p>
                  </a:txBody>
                  <a:tcPr marT="45725" marB="45725" marR="91450" marL="91450">
                    <a:solidFill>
                      <a:srgbClr val="FECE00"/>
                    </a:solidFill>
                  </a:tcPr>
                </a:tc>
                <a:tc>
                  <a:txBody>
                    <a:bodyPr/>
                    <a:lstStyle/>
                    <a:p>
                      <a:pPr indent="0" lvl="0" marL="0" marR="0" rtl="0" algn="ctr">
                        <a:spcBef>
                          <a:spcPts val="0"/>
                        </a:spcBef>
                        <a:spcAft>
                          <a:spcPts val="0"/>
                        </a:spcAft>
                        <a:buNone/>
                      </a:pPr>
                      <a:r>
                        <a:rPr b="1" lang="en-US" sz="1100" u="none" cap="none" strike="noStrike">
                          <a:solidFill>
                            <a:srgbClr val="000000"/>
                          </a:solidFill>
                          <a:latin typeface="Arial"/>
                          <a:ea typeface="Arial"/>
                          <a:cs typeface="Arial"/>
                          <a:sym typeface="Arial"/>
                        </a:rPr>
                        <a:t>Precision (TH óptimo)</a:t>
                      </a:r>
                      <a:endParaRPr/>
                    </a:p>
                  </a:txBody>
                  <a:tcPr marT="45725" marB="45725" marR="91450" marL="91450">
                    <a:solidFill>
                      <a:srgbClr val="FECE00"/>
                    </a:solidFill>
                  </a:tcPr>
                </a:tc>
                <a:tc>
                  <a:txBody>
                    <a:bodyPr/>
                    <a:lstStyle/>
                    <a:p>
                      <a:pPr indent="0" lvl="0" marL="0" marR="0" rtl="0" algn="ctr">
                        <a:spcBef>
                          <a:spcPts val="0"/>
                        </a:spcBef>
                        <a:spcAft>
                          <a:spcPts val="0"/>
                        </a:spcAft>
                        <a:buNone/>
                      </a:pPr>
                      <a:r>
                        <a:rPr b="1" lang="en-US" sz="1100" u="none" cap="none" strike="noStrike">
                          <a:solidFill>
                            <a:srgbClr val="000000"/>
                          </a:solidFill>
                          <a:latin typeface="Arial"/>
                          <a:ea typeface="Arial"/>
                          <a:cs typeface="Arial"/>
                          <a:sym typeface="Arial"/>
                        </a:rPr>
                        <a:t>Recall (TH óptimo)</a:t>
                      </a:r>
                      <a:endParaRPr/>
                    </a:p>
                  </a:txBody>
                  <a:tcPr marT="45725" marB="45725" marR="91450" marL="91450">
                    <a:solidFill>
                      <a:srgbClr val="FECE00"/>
                    </a:solidFill>
                  </a:tcPr>
                </a:tc>
                <a:tc>
                  <a:txBody>
                    <a:bodyPr/>
                    <a:lstStyle/>
                    <a:p>
                      <a:pPr indent="0" lvl="0" marL="0" marR="0" rtl="0" algn="ctr">
                        <a:spcBef>
                          <a:spcPts val="0"/>
                        </a:spcBef>
                        <a:spcAft>
                          <a:spcPts val="0"/>
                        </a:spcAft>
                        <a:buNone/>
                      </a:pPr>
                      <a:r>
                        <a:rPr b="1" lang="en-US" sz="1100" u="none" cap="none" strike="noStrike">
                          <a:solidFill>
                            <a:srgbClr val="000000"/>
                          </a:solidFill>
                          <a:latin typeface="Arial"/>
                          <a:ea typeface="Arial"/>
                          <a:cs typeface="Arial"/>
                          <a:sym typeface="Arial"/>
                        </a:rPr>
                        <a:t>J óptimo ($)</a:t>
                      </a:r>
                      <a:endParaRPr/>
                    </a:p>
                  </a:txBody>
                  <a:tcPr marT="45725" marB="45725" marR="91450" marL="91450">
                    <a:solidFill>
                      <a:srgbClr val="FECE00"/>
                    </a:solidFill>
                  </a:tcPr>
                </a:tc>
                <a:tc>
                  <a:txBody>
                    <a:bodyPr/>
                    <a:lstStyle/>
                    <a:p>
                      <a:pPr indent="0" lvl="0" marL="0" marR="0" rtl="0" algn="ctr">
                        <a:spcBef>
                          <a:spcPts val="0"/>
                        </a:spcBef>
                        <a:spcAft>
                          <a:spcPts val="0"/>
                        </a:spcAft>
                        <a:buNone/>
                      </a:pPr>
                      <a:r>
                        <a:rPr b="1" lang="en-US" sz="1100" u="none" cap="none" strike="noStrike">
                          <a:solidFill>
                            <a:srgbClr val="000000"/>
                          </a:solidFill>
                          <a:latin typeface="Arial"/>
                          <a:ea typeface="Arial"/>
                          <a:cs typeface="Arial"/>
                          <a:sym typeface="Arial"/>
                        </a:rPr>
                        <a:t>J block all ($)</a:t>
                      </a:r>
                      <a:endParaRPr/>
                    </a:p>
                  </a:txBody>
                  <a:tcPr marT="45725" marB="45725" marR="91450" marL="91450">
                    <a:solidFill>
                      <a:srgbClr val="FECE00"/>
                    </a:solidFill>
                  </a:tcPr>
                </a:tc>
                <a:tc>
                  <a:txBody>
                    <a:bodyPr/>
                    <a:lstStyle/>
                    <a:p>
                      <a:pPr indent="0" lvl="0" marL="0" marR="0" rtl="0" algn="ctr">
                        <a:spcBef>
                          <a:spcPts val="0"/>
                        </a:spcBef>
                        <a:spcAft>
                          <a:spcPts val="0"/>
                        </a:spcAft>
                        <a:buNone/>
                      </a:pPr>
                      <a:r>
                        <a:rPr b="1" lang="en-US" sz="1100" u="none" cap="none" strike="noStrike">
                          <a:solidFill>
                            <a:srgbClr val="000000"/>
                          </a:solidFill>
                          <a:latin typeface="Arial"/>
                          <a:ea typeface="Arial"/>
                          <a:cs typeface="Arial"/>
                          <a:sym typeface="Arial"/>
                        </a:rPr>
                        <a:t>Mejora vs. TH fijo</a:t>
                      </a:r>
                      <a:endParaRPr/>
                    </a:p>
                  </a:txBody>
                  <a:tcPr marT="45725" marB="45725" marR="91450" marL="91450">
                    <a:solidFill>
                      <a:srgbClr val="FECE00"/>
                    </a:solidFill>
                  </a:tcPr>
                </a:tc>
              </a:tr>
              <a:tr h="640075">
                <a:tc>
                  <a:txBody>
                    <a:bodyPr/>
                    <a:lstStyle/>
                    <a:p>
                      <a:pPr indent="0" lvl="0" marL="0" marR="0" rtl="0" algn="l">
                        <a:spcBef>
                          <a:spcPts val="0"/>
                        </a:spcBef>
                        <a:spcAft>
                          <a:spcPts val="0"/>
                        </a:spcAft>
                        <a:buNone/>
                      </a:pPr>
                      <a:r>
                        <a:rPr b="1" lang="en-US" sz="1150" u="none" cap="none" strike="noStrike">
                          <a:solidFill>
                            <a:srgbClr val="FECE00"/>
                          </a:solidFill>
                          <a:latin typeface="Arial"/>
                          <a:ea typeface="Arial"/>
                          <a:cs typeface="Arial"/>
                          <a:sym typeface="Arial"/>
                        </a:rPr>
                        <a:t>LightGBM</a:t>
                      </a:r>
                      <a:endParaRPr/>
                    </a:p>
                  </a:txBody>
                  <a:tcPr marT="45725" marB="45725" marR="91450" marL="91450">
                    <a:solidFill>
                      <a:srgbClr val="1E1A00"/>
                    </a:solidFill>
                  </a:tcPr>
                </a:tc>
                <a:tc>
                  <a:txBody>
                    <a:bodyPr/>
                    <a:lstStyle/>
                    <a:p>
                      <a:pPr indent="0" lvl="0" marL="0" marR="0" rtl="0" algn="ctr">
                        <a:spcBef>
                          <a:spcPts val="0"/>
                        </a:spcBef>
                        <a:spcAft>
                          <a:spcPts val="0"/>
                        </a:spcAft>
                        <a:buNone/>
                      </a:pPr>
                      <a:r>
                        <a:rPr b="1" lang="en-US" sz="1150" u="none" cap="none" strike="noStrike">
                          <a:solidFill>
                            <a:srgbClr val="B0B0B0"/>
                          </a:solidFill>
                          <a:latin typeface="Arial"/>
                          <a:ea typeface="Arial"/>
                          <a:cs typeface="Arial"/>
                          <a:sym typeface="Arial"/>
                        </a:rPr>
                        <a:t>0.8850</a:t>
                      </a:r>
                      <a:endParaRPr/>
                    </a:p>
                  </a:txBody>
                  <a:tcPr marT="45725" marB="45725" marR="91450" marL="91450">
                    <a:solidFill>
                      <a:srgbClr val="1E1A00"/>
                    </a:solidFill>
                  </a:tcPr>
                </a:tc>
                <a:tc>
                  <a:txBody>
                    <a:bodyPr/>
                    <a:lstStyle/>
                    <a:p>
                      <a:pPr indent="0" lvl="0" marL="0" marR="0" rtl="0" algn="ctr">
                        <a:spcBef>
                          <a:spcPts val="0"/>
                        </a:spcBef>
                        <a:spcAft>
                          <a:spcPts val="0"/>
                        </a:spcAft>
                        <a:buNone/>
                      </a:pPr>
                      <a:r>
                        <a:rPr b="1" lang="en-US" sz="1150" u="none" cap="none" strike="noStrike">
                          <a:solidFill>
                            <a:srgbClr val="B0B0B0"/>
                          </a:solidFill>
                          <a:latin typeface="Arial"/>
                          <a:ea typeface="Arial"/>
                          <a:cs typeface="Arial"/>
                          <a:sym typeface="Arial"/>
                        </a:rPr>
                        <a:t>0.4354</a:t>
                      </a:r>
                      <a:endParaRPr/>
                    </a:p>
                  </a:txBody>
                  <a:tcPr marT="45725" marB="45725" marR="91450" marL="91450">
                    <a:solidFill>
                      <a:srgbClr val="1E1A00"/>
                    </a:solidFill>
                  </a:tcPr>
                </a:tc>
                <a:tc>
                  <a:txBody>
                    <a:bodyPr/>
                    <a:lstStyle/>
                    <a:p>
                      <a:pPr indent="0" lvl="0" marL="0" marR="0" rtl="0" algn="ctr">
                        <a:spcBef>
                          <a:spcPts val="0"/>
                        </a:spcBef>
                        <a:spcAft>
                          <a:spcPts val="0"/>
                        </a:spcAft>
                        <a:buNone/>
                      </a:pPr>
                      <a:r>
                        <a:rPr b="1" lang="en-US" sz="1150" u="none" cap="none" strike="noStrike">
                          <a:solidFill>
                            <a:srgbClr val="B0B0B0"/>
                          </a:solidFill>
                          <a:latin typeface="Arial"/>
                          <a:ea typeface="Arial"/>
                          <a:cs typeface="Arial"/>
                          <a:sym typeface="Arial"/>
                        </a:rPr>
                        <a:t>0.3702</a:t>
                      </a:r>
                      <a:endParaRPr/>
                    </a:p>
                  </a:txBody>
                  <a:tcPr marT="45725" marB="45725" marR="91450" marL="91450">
                    <a:solidFill>
                      <a:srgbClr val="1E1A00"/>
                    </a:solidFill>
                  </a:tcPr>
                </a:tc>
                <a:tc>
                  <a:txBody>
                    <a:bodyPr/>
                    <a:lstStyle/>
                    <a:p>
                      <a:pPr indent="0" lvl="0" marL="0" marR="0" rtl="0" algn="ctr">
                        <a:spcBef>
                          <a:spcPts val="0"/>
                        </a:spcBef>
                        <a:spcAft>
                          <a:spcPts val="0"/>
                        </a:spcAft>
                        <a:buNone/>
                      </a:pPr>
                      <a:r>
                        <a:rPr b="1" lang="en-US" sz="1150" u="none" cap="none" strike="noStrike">
                          <a:solidFill>
                            <a:srgbClr val="B0B0B0"/>
                          </a:solidFill>
                          <a:latin typeface="Arial"/>
                          <a:ea typeface="Arial"/>
                          <a:cs typeface="Arial"/>
                          <a:sym typeface="Arial"/>
                        </a:rPr>
                        <a:t>0.5005</a:t>
                      </a:r>
                      <a:endParaRPr/>
                    </a:p>
                  </a:txBody>
                  <a:tcPr marT="45725" marB="45725" marR="91450" marL="91450">
                    <a:solidFill>
                      <a:srgbClr val="1E1A00"/>
                    </a:solidFill>
                  </a:tcPr>
                </a:tc>
                <a:tc>
                  <a:txBody>
                    <a:bodyPr/>
                    <a:lstStyle/>
                    <a:p>
                      <a:pPr indent="0" lvl="0" marL="0" marR="0" rtl="0" algn="ctr">
                        <a:spcBef>
                          <a:spcPts val="0"/>
                        </a:spcBef>
                        <a:spcAft>
                          <a:spcPts val="0"/>
                        </a:spcAft>
                        <a:buNone/>
                      </a:pPr>
                      <a:r>
                        <a:rPr b="1" lang="en-US" sz="1150" u="none" cap="none" strike="noStrike">
                          <a:solidFill>
                            <a:srgbClr val="B0B0B0"/>
                          </a:solidFill>
                          <a:latin typeface="Arial"/>
                          <a:ea typeface="Arial"/>
                          <a:cs typeface="Arial"/>
                          <a:sym typeface="Arial"/>
                        </a:rPr>
                        <a:t>-86,068</a:t>
                      </a:r>
                      <a:endParaRPr/>
                    </a:p>
                  </a:txBody>
                  <a:tcPr marT="45725" marB="45725" marR="91450" marL="91450">
                    <a:solidFill>
                      <a:srgbClr val="1E1A00"/>
                    </a:solidFill>
                  </a:tcPr>
                </a:tc>
                <a:tc>
                  <a:txBody>
                    <a:bodyPr/>
                    <a:lstStyle/>
                    <a:p>
                      <a:pPr indent="0" lvl="0" marL="0" marR="0" rtl="0" algn="ctr">
                        <a:spcBef>
                          <a:spcPts val="0"/>
                        </a:spcBef>
                        <a:spcAft>
                          <a:spcPts val="0"/>
                        </a:spcAft>
                        <a:buNone/>
                      </a:pPr>
                      <a:r>
                        <a:rPr b="1" lang="en-US" sz="1150" u="none" cap="none" strike="noStrike">
                          <a:solidFill>
                            <a:srgbClr val="B0B0B0"/>
                          </a:solidFill>
                          <a:latin typeface="Arial"/>
                          <a:ea typeface="Arial"/>
                          <a:cs typeface="Arial"/>
                          <a:sym typeface="Arial"/>
                        </a:rPr>
                        <a:t>-428,970</a:t>
                      </a:r>
                      <a:endParaRPr/>
                    </a:p>
                  </a:txBody>
                  <a:tcPr marT="45725" marB="45725" marR="91450" marL="91450">
                    <a:solidFill>
                      <a:srgbClr val="1E1A00"/>
                    </a:solidFill>
                  </a:tcPr>
                </a:tc>
                <a:tc>
                  <a:txBody>
                    <a:bodyPr/>
                    <a:lstStyle/>
                    <a:p>
                      <a:pPr indent="0" lvl="0" marL="0" marR="0" rtl="0" algn="ctr">
                        <a:spcBef>
                          <a:spcPts val="0"/>
                        </a:spcBef>
                        <a:spcAft>
                          <a:spcPts val="0"/>
                        </a:spcAft>
                        <a:buNone/>
                      </a:pPr>
                      <a:r>
                        <a:rPr b="1" lang="en-US" sz="1150" u="none" cap="none" strike="noStrike">
                          <a:solidFill>
                            <a:srgbClr val="B0B0B0"/>
                          </a:solidFill>
                          <a:latin typeface="Arial"/>
                          <a:ea typeface="Arial"/>
                          <a:cs typeface="Arial"/>
                          <a:sym typeface="Arial"/>
                        </a:rPr>
                        <a:t>+6.0%</a:t>
                      </a:r>
                      <a:endParaRPr/>
                    </a:p>
                  </a:txBody>
                  <a:tcPr marT="45725" marB="45725" marR="91450" marL="91450">
                    <a:solidFill>
                      <a:srgbClr val="1E1A00"/>
                    </a:solidFill>
                  </a:tcPr>
                </a:tc>
              </a:tr>
              <a:tr h="640075">
                <a:tc>
                  <a:txBody>
                    <a:bodyPr/>
                    <a:lstStyle/>
                    <a:p>
                      <a:pPr indent="0" lvl="0" marL="0" marR="0" rtl="0" algn="l">
                        <a:spcBef>
                          <a:spcPts val="0"/>
                        </a:spcBef>
                        <a:spcAft>
                          <a:spcPts val="0"/>
                        </a:spcAft>
                        <a:buNone/>
                      </a:pPr>
                      <a:r>
                        <a:rPr b="0" lang="en-US" sz="1150" u="none" cap="none" strike="noStrike">
                          <a:solidFill>
                            <a:srgbClr val="FFFFFF"/>
                          </a:solidFill>
                          <a:latin typeface="Arial"/>
                          <a:ea typeface="Arial"/>
                          <a:cs typeface="Arial"/>
                          <a:sym typeface="Arial"/>
                        </a:rPr>
                        <a:t>CatBoost</a:t>
                      </a:r>
                      <a:endParaRPr/>
                    </a:p>
                  </a:txBody>
                  <a:tcPr marT="45725" marB="45725" marR="91450" marL="91450">
                    <a:solidFill>
                      <a:srgbClr val="111111"/>
                    </a:solidFill>
                  </a:tcPr>
                </a:tc>
                <a:tc>
                  <a:txBody>
                    <a:bodyPr/>
                    <a:lstStyle/>
                    <a:p>
                      <a:pPr indent="0" lvl="0" marL="0" marR="0" rtl="0" algn="ctr">
                        <a:spcBef>
                          <a:spcPts val="0"/>
                        </a:spcBef>
                        <a:spcAft>
                          <a:spcPts val="0"/>
                        </a:spcAft>
                        <a:buNone/>
                      </a:pPr>
                      <a:r>
                        <a:rPr b="0" lang="en-US" sz="1150" u="none" cap="none" strike="noStrike">
                          <a:solidFill>
                            <a:srgbClr val="B0B0B0"/>
                          </a:solidFill>
                          <a:latin typeface="Arial"/>
                          <a:ea typeface="Arial"/>
                          <a:cs typeface="Arial"/>
                          <a:sym typeface="Arial"/>
                        </a:rPr>
                        <a:t>0.8805</a:t>
                      </a:r>
                      <a:endParaRPr/>
                    </a:p>
                  </a:txBody>
                  <a:tcPr marT="45725" marB="45725" marR="91450" marL="91450">
                    <a:solidFill>
                      <a:srgbClr val="111111"/>
                    </a:solidFill>
                  </a:tcPr>
                </a:tc>
                <a:tc>
                  <a:txBody>
                    <a:bodyPr/>
                    <a:lstStyle/>
                    <a:p>
                      <a:pPr indent="0" lvl="0" marL="0" marR="0" rtl="0" algn="ctr">
                        <a:spcBef>
                          <a:spcPts val="0"/>
                        </a:spcBef>
                        <a:spcAft>
                          <a:spcPts val="0"/>
                        </a:spcAft>
                        <a:buNone/>
                      </a:pPr>
                      <a:r>
                        <a:rPr b="0" lang="en-US" sz="1150" u="none" cap="none" strike="noStrike">
                          <a:solidFill>
                            <a:srgbClr val="B0B0B0"/>
                          </a:solidFill>
                          <a:latin typeface="Arial"/>
                          <a:ea typeface="Arial"/>
                          <a:cs typeface="Arial"/>
                          <a:sym typeface="Arial"/>
                        </a:rPr>
                        <a:t>0.4368</a:t>
                      </a:r>
                      <a:endParaRPr/>
                    </a:p>
                  </a:txBody>
                  <a:tcPr marT="45725" marB="45725" marR="91450" marL="91450">
                    <a:solidFill>
                      <a:srgbClr val="111111"/>
                    </a:solidFill>
                  </a:tcPr>
                </a:tc>
                <a:tc>
                  <a:txBody>
                    <a:bodyPr/>
                    <a:lstStyle/>
                    <a:p>
                      <a:pPr indent="0" lvl="0" marL="0" marR="0" rtl="0" algn="ctr">
                        <a:spcBef>
                          <a:spcPts val="0"/>
                        </a:spcBef>
                        <a:spcAft>
                          <a:spcPts val="0"/>
                        </a:spcAft>
                        <a:buNone/>
                      </a:pPr>
                      <a:r>
                        <a:rPr b="0" lang="en-US" sz="1150" u="none" cap="none" strike="noStrike">
                          <a:solidFill>
                            <a:srgbClr val="B0B0B0"/>
                          </a:solidFill>
                          <a:latin typeface="Arial"/>
                          <a:ea typeface="Arial"/>
                          <a:cs typeface="Arial"/>
                          <a:sym typeface="Arial"/>
                        </a:rPr>
                        <a:t>0.3383</a:t>
                      </a:r>
                      <a:endParaRPr/>
                    </a:p>
                  </a:txBody>
                  <a:tcPr marT="45725" marB="45725" marR="91450" marL="91450">
                    <a:solidFill>
                      <a:srgbClr val="111111"/>
                    </a:solidFill>
                  </a:tcPr>
                </a:tc>
                <a:tc>
                  <a:txBody>
                    <a:bodyPr/>
                    <a:lstStyle/>
                    <a:p>
                      <a:pPr indent="0" lvl="0" marL="0" marR="0" rtl="0" algn="ctr">
                        <a:spcBef>
                          <a:spcPts val="0"/>
                        </a:spcBef>
                        <a:spcAft>
                          <a:spcPts val="0"/>
                        </a:spcAft>
                        <a:buNone/>
                      </a:pPr>
                      <a:r>
                        <a:rPr b="0" lang="en-US" sz="1150" u="none" cap="none" strike="noStrike">
                          <a:solidFill>
                            <a:srgbClr val="B0B0B0"/>
                          </a:solidFill>
                          <a:latin typeface="Arial"/>
                          <a:ea typeface="Arial"/>
                          <a:cs typeface="Arial"/>
                          <a:sym typeface="Arial"/>
                        </a:rPr>
                        <a:t>0.5418</a:t>
                      </a:r>
                      <a:endParaRPr/>
                    </a:p>
                  </a:txBody>
                  <a:tcPr marT="45725" marB="45725" marR="91450" marL="91450">
                    <a:solidFill>
                      <a:srgbClr val="111111"/>
                    </a:solidFill>
                  </a:tcPr>
                </a:tc>
                <a:tc>
                  <a:txBody>
                    <a:bodyPr/>
                    <a:lstStyle/>
                    <a:p>
                      <a:pPr indent="0" lvl="0" marL="0" marR="0" rtl="0" algn="ctr">
                        <a:spcBef>
                          <a:spcPts val="0"/>
                        </a:spcBef>
                        <a:spcAft>
                          <a:spcPts val="0"/>
                        </a:spcAft>
                        <a:buNone/>
                      </a:pPr>
                      <a:r>
                        <a:rPr b="0" lang="en-US" sz="1150" u="none" cap="none" strike="noStrike">
                          <a:solidFill>
                            <a:srgbClr val="B0B0B0"/>
                          </a:solidFill>
                          <a:latin typeface="Arial"/>
                          <a:ea typeface="Arial"/>
                          <a:cs typeface="Arial"/>
                          <a:sym typeface="Arial"/>
                        </a:rPr>
                        <a:t>-87,887</a:t>
                      </a:r>
                      <a:endParaRPr/>
                    </a:p>
                  </a:txBody>
                  <a:tcPr marT="45725" marB="45725" marR="91450" marL="91450">
                    <a:solidFill>
                      <a:srgbClr val="111111"/>
                    </a:solidFill>
                  </a:tcPr>
                </a:tc>
                <a:tc>
                  <a:txBody>
                    <a:bodyPr/>
                    <a:lstStyle/>
                    <a:p>
                      <a:pPr indent="0" lvl="0" marL="0" marR="0" rtl="0" algn="ctr">
                        <a:spcBef>
                          <a:spcPts val="0"/>
                        </a:spcBef>
                        <a:spcAft>
                          <a:spcPts val="0"/>
                        </a:spcAft>
                        <a:buNone/>
                      </a:pPr>
                      <a:r>
                        <a:rPr b="0" lang="en-US" sz="1150" u="none" cap="none" strike="noStrike">
                          <a:solidFill>
                            <a:srgbClr val="B0B0B0"/>
                          </a:solidFill>
                          <a:latin typeface="Arial"/>
                          <a:ea typeface="Arial"/>
                          <a:cs typeface="Arial"/>
                          <a:sym typeface="Arial"/>
                        </a:rPr>
                        <a:t>-428,970</a:t>
                      </a:r>
                      <a:endParaRPr/>
                    </a:p>
                  </a:txBody>
                  <a:tcPr marT="45725" marB="45725" marR="91450" marL="91450">
                    <a:solidFill>
                      <a:srgbClr val="111111"/>
                    </a:solidFill>
                  </a:tcPr>
                </a:tc>
                <a:tc>
                  <a:txBody>
                    <a:bodyPr/>
                    <a:lstStyle/>
                    <a:p>
                      <a:pPr indent="0" lvl="0" marL="0" marR="0" rtl="0" algn="ctr">
                        <a:spcBef>
                          <a:spcPts val="0"/>
                        </a:spcBef>
                        <a:spcAft>
                          <a:spcPts val="0"/>
                        </a:spcAft>
                        <a:buNone/>
                      </a:pPr>
                      <a:r>
                        <a:rPr b="0" lang="en-US" sz="1150" u="none" cap="none" strike="noStrike">
                          <a:solidFill>
                            <a:srgbClr val="B0B0B0"/>
                          </a:solidFill>
                          <a:latin typeface="Arial"/>
                          <a:ea typeface="Arial"/>
                          <a:cs typeface="Arial"/>
                          <a:sym typeface="Arial"/>
                        </a:rPr>
                        <a:t>+3.4%</a:t>
                      </a:r>
                      <a:endParaRPr/>
                    </a:p>
                  </a:txBody>
                  <a:tcPr marT="45725" marB="45725" marR="91450" marL="91450">
                    <a:solidFill>
                      <a:srgbClr val="111111"/>
                    </a:solidFill>
                  </a:tcPr>
                </a:tc>
              </a:tr>
              <a:tr h="640075">
                <a:tc>
                  <a:txBody>
                    <a:bodyPr/>
                    <a:lstStyle/>
                    <a:p>
                      <a:pPr indent="0" lvl="0" marL="0" marR="0" rtl="0" algn="l">
                        <a:spcBef>
                          <a:spcPts val="0"/>
                        </a:spcBef>
                        <a:spcAft>
                          <a:spcPts val="0"/>
                        </a:spcAft>
                        <a:buNone/>
                      </a:pPr>
                      <a:r>
                        <a:rPr b="0" lang="en-US" sz="1150" u="none" cap="none" strike="noStrike">
                          <a:solidFill>
                            <a:srgbClr val="FFFFFF"/>
                          </a:solidFill>
                          <a:latin typeface="Arial"/>
                          <a:ea typeface="Arial"/>
                          <a:cs typeface="Arial"/>
                          <a:sym typeface="Arial"/>
                        </a:rPr>
                        <a:t>XGBoost</a:t>
                      </a:r>
                      <a:endParaRPr/>
                    </a:p>
                  </a:txBody>
                  <a:tcPr marT="45725" marB="45725" marR="91450" marL="91450">
                    <a:solidFill>
                      <a:srgbClr val="111111"/>
                    </a:solidFill>
                  </a:tcPr>
                </a:tc>
                <a:tc>
                  <a:txBody>
                    <a:bodyPr/>
                    <a:lstStyle/>
                    <a:p>
                      <a:pPr indent="0" lvl="0" marL="0" marR="0" rtl="0" algn="ctr">
                        <a:spcBef>
                          <a:spcPts val="0"/>
                        </a:spcBef>
                        <a:spcAft>
                          <a:spcPts val="0"/>
                        </a:spcAft>
                        <a:buNone/>
                      </a:pPr>
                      <a:r>
                        <a:rPr b="0" lang="en-US" sz="1150" u="none" cap="none" strike="noStrike">
                          <a:solidFill>
                            <a:srgbClr val="B0B0B0"/>
                          </a:solidFill>
                          <a:latin typeface="Arial"/>
                          <a:ea typeface="Arial"/>
                          <a:cs typeface="Arial"/>
                          <a:sym typeface="Arial"/>
                        </a:rPr>
                        <a:t>0.8681</a:t>
                      </a:r>
                      <a:endParaRPr/>
                    </a:p>
                  </a:txBody>
                  <a:tcPr marT="45725" marB="45725" marR="91450" marL="91450">
                    <a:solidFill>
                      <a:srgbClr val="111111"/>
                    </a:solidFill>
                  </a:tcPr>
                </a:tc>
                <a:tc>
                  <a:txBody>
                    <a:bodyPr/>
                    <a:lstStyle/>
                    <a:p>
                      <a:pPr indent="0" lvl="0" marL="0" marR="0" rtl="0" algn="ctr">
                        <a:spcBef>
                          <a:spcPts val="0"/>
                        </a:spcBef>
                        <a:spcAft>
                          <a:spcPts val="0"/>
                        </a:spcAft>
                        <a:buNone/>
                      </a:pPr>
                      <a:r>
                        <a:rPr b="0" lang="en-US" sz="1150" u="none" cap="none" strike="noStrike">
                          <a:solidFill>
                            <a:srgbClr val="B0B0B0"/>
                          </a:solidFill>
                          <a:latin typeface="Arial"/>
                          <a:ea typeface="Arial"/>
                          <a:cs typeface="Arial"/>
                          <a:sym typeface="Arial"/>
                        </a:rPr>
                        <a:t>0.4203</a:t>
                      </a:r>
                      <a:endParaRPr/>
                    </a:p>
                  </a:txBody>
                  <a:tcPr marT="45725" marB="45725" marR="91450" marL="91450">
                    <a:solidFill>
                      <a:srgbClr val="111111"/>
                    </a:solidFill>
                  </a:tcPr>
                </a:tc>
                <a:tc>
                  <a:txBody>
                    <a:bodyPr/>
                    <a:lstStyle/>
                    <a:p>
                      <a:pPr indent="0" lvl="0" marL="0" marR="0" rtl="0" algn="ctr">
                        <a:spcBef>
                          <a:spcPts val="0"/>
                        </a:spcBef>
                        <a:spcAft>
                          <a:spcPts val="0"/>
                        </a:spcAft>
                        <a:buNone/>
                      </a:pPr>
                      <a:r>
                        <a:rPr b="0" lang="en-US" sz="1150" u="none" cap="none" strike="noStrike">
                          <a:solidFill>
                            <a:srgbClr val="B0B0B0"/>
                          </a:solidFill>
                          <a:latin typeface="Arial"/>
                          <a:ea typeface="Arial"/>
                          <a:cs typeface="Arial"/>
                          <a:sym typeface="Arial"/>
                        </a:rPr>
                        <a:t>0.3956</a:t>
                      </a:r>
                      <a:endParaRPr/>
                    </a:p>
                  </a:txBody>
                  <a:tcPr marT="45725" marB="45725" marR="91450" marL="91450">
                    <a:solidFill>
                      <a:srgbClr val="111111"/>
                    </a:solidFill>
                  </a:tcPr>
                </a:tc>
                <a:tc>
                  <a:txBody>
                    <a:bodyPr/>
                    <a:lstStyle/>
                    <a:p>
                      <a:pPr indent="0" lvl="0" marL="0" marR="0" rtl="0" algn="ctr">
                        <a:spcBef>
                          <a:spcPts val="0"/>
                        </a:spcBef>
                        <a:spcAft>
                          <a:spcPts val="0"/>
                        </a:spcAft>
                        <a:buNone/>
                      </a:pPr>
                      <a:r>
                        <a:rPr b="0" lang="en-US" sz="1150" u="none" cap="none" strike="noStrike">
                          <a:solidFill>
                            <a:srgbClr val="B0B0B0"/>
                          </a:solidFill>
                          <a:latin typeface="Arial"/>
                          <a:ea typeface="Arial"/>
                          <a:cs typeface="Arial"/>
                          <a:sym typeface="Arial"/>
                        </a:rPr>
                        <a:t>0.4495</a:t>
                      </a:r>
                      <a:endParaRPr/>
                    </a:p>
                  </a:txBody>
                  <a:tcPr marT="45725" marB="45725" marR="91450" marL="91450">
                    <a:solidFill>
                      <a:srgbClr val="111111"/>
                    </a:solidFill>
                  </a:tcPr>
                </a:tc>
                <a:tc>
                  <a:txBody>
                    <a:bodyPr/>
                    <a:lstStyle/>
                    <a:p>
                      <a:pPr indent="0" lvl="0" marL="0" marR="0" rtl="0" algn="ctr">
                        <a:spcBef>
                          <a:spcPts val="0"/>
                        </a:spcBef>
                        <a:spcAft>
                          <a:spcPts val="0"/>
                        </a:spcAft>
                        <a:buNone/>
                      </a:pPr>
                      <a:r>
                        <a:rPr b="0" lang="en-US" sz="1150" u="none" cap="none" strike="noStrike">
                          <a:solidFill>
                            <a:srgbClr val="B0B0B0"/>
                          </a:solidFill>
                          <a:latin typeface="Arial"/>
                          <a:ea typeface="Arial"/>
                          <a:cs typeface="Arial"/>
                          <a:sym typeface="Arial"/>
                        </a:rPr>
                        <a:t>-90,194</a:t>
                      </a:r>
                      <a:endParaRPr/>
                    </a:p>
                  </a:txBody>
                  <a:tcPr marT="45725" marB="45725" marR="91450" marL="91450">
                    <a:solidFill>
                      <a:srgbClr val="111111"/>
                    </a:solidFill>
                  </a:tcPr>
                </a:tc>
                <a:tc>
                  <a:txBody>
                    <a:bodyPr/>
                    <a:lstStyle/>
                    <a:p>
                      <a:pPr indent="0" lvl="0" marL="0" marR="0" rtl="0" algn="ctr">
                        <a:spcBef>
                          <a:spcPts val="0"/>
                        </a:spcBef>
                        <a:spcAft>
                          <a:spcPts val="0"/>
                        </a:spcAft>
                        <a:buNone/>
                      </a:pPr>
                      <a:r>
                        <a:rPr b="0" lang="en-US" sz="1150" u="none" cap="none" strike="noStrike">
                          <a:solidFill>
                            <a:srgbClr val="B0B0B0"/>
                          </a:solidFill>
                          <a:latin typeface="Arial"/>
                          <a:ea typeface="Arial"/>
                          <a:cs typeface="Arial"/>
                          <a:sym typeface="Arial"/>
                        </a:rPr>
                        <a:t>-428,970</a:t>
                      </a:r>
                      <a:endParaRPr/>
                    </a:p>
                  </a:txBody>
                  <a:tcPr marT="45725" marB="45725" marR="91450" marL="91450">
                    <a:solidFill>
                      <a:srgbClr val="111111"/>
                    </a:solidFill>
                  </a:tcPr>
                </a:tc>
                <a:tc>
                  <a:txBody>
                    <a:bodyPr/>
                    <a:lstStyle/>
                    <a:p>
                      <a:pPr indent="0" lvl="0" marL="0" marR="0" rtl="0" algn="ctr">
                        <a:spcBef>
                          <a:spcPts val="0"/>
                        </a:spcBef>
                        <a:spcAft>
                          <a:spcPts val="0"/>
                        </a:spcAft>
                        <a:buNone/>
                      </a:pPr>
                      <a:r>
                        <a:rPr b="0" lang="en-US" sz="1150" u="none" cap="none" strike="noStrike">
                          <a:solidFill>
                            <a:srgbClr val="B0B0B0"/>
                          </a:solidFill>
                          <a:latin typeface="Arial"/>
                          <a:ea typeface="Arial"/>
                          <a:cs typeface="Arial"/>
                          <a:sym typeface="Arial"/>
                        </a:rPr>
                        <a:t>+1.3%</a:t>
                      </a:r>
                      <a:endParaRPr/>
                    </a:p>
                  </a:txBody>
                  <a:tcPr marT="45725" marB="45725" marR="91450" marL="91450">
                    <a:solidFill>
                      <a:srgbClr val="111111"/>
                    </a:solidFill>
                  </a:tcPr>
                </a:tc>
              </a:tr>
              <a:tr h="640075">
                <a:tc>
                  <a:txBody>
                    <a:bodyPr/>
                    <a:lstStyle/>
                    <a:p>
                      <a:pPr indent="0" lvl="0" marL="0" marR="0" rtl="0" algn="l">
                        <a:spcBef>
                          <a:spcPts val="0"/>
                        </a:spcBef>
                        <a:spcAft>
                          <a:spcPts val="0"/>
                        </a:spcAft>
                        <a:buNone/>
                      </a:pPr>
                      <a:r>
                        <a:rPr b="0" lang="en-US" sz="1150" u="none" cap="none" strike="noStrike">
                          <a:solidFill>
                            <a:srgbClr val="FFFFFF"/>
                          </a:solidFill>
                          <a:latin typeface="Arial"/>
                          <a:ea typeface="Arial"/>
                          <a:cs typeface="Arial"/>
                          <a:sym typeface="Arial"/>
                        </a:rPr>
                        <a:t>Random Forest</a:t>
                      </a:r>
                      <a:endParaRPr/>
                    </a:p>
                  </a:txBody>
                  <a:tcPr marT="45725" marB="45725" marR="91450" marL="91450">
                    <a:solidFill>
                      <a:srgbClr val="111111"/>
                    </a:solidFill>
                  </a:tcPr>
                </a:tc>
                <a:tc>
                  <a:txBody>
                    <a:bodyPr/>
                    <a:lstStyle/>
                    <a:p>
                      <a:pPr indent="0" lvl="0" marL="0" marR="0" rtl="0" algn="ctr">
                        <a:spcBef>
                          <a:spcPts val="0"/>
                        </a:spcBef>
                        <a:spcAft>
                          <a:spcPts val="0"/>
                        </a:spcAft>
                        <a:buNone/>
                      </a:pPr>
                      <a:r>
                        <a:rPr b="0" lang="en-US" sz="1150" u="none" cap="none" strike="noStrike">
                          <a:solidFill>
                            <a:srgbClr val="B0B0B0"/>
                          </a:solidFill>
                          <a:latin typeface="Arial"/>
                          <a:ea typeface="Arial"/>
                          <a:cs typeface="Arial"/>
                          <a:sym typeface="Arial"/>
                        </a:rPr>
                        <a:t>0.8673</a:t>
                      </a:r>
                      <a:endParaRPr/>
                    </a:p>
                  </a:txBody>
                  <a:tcPr marT="45725" marB="45725" marR="91450" marL="91450">
                    <a:solidFill>
                      <a:srgbClr val="111111"/>
                    </a:solidFill>
                  </a:tcPr>
                </a:tc>
                <a:tc>
                  <a:txBody>
                    <a:bodyPr/>
                    <a:lstStyle/>
                    <a:p>
                      <a:pPr indent="0" lvl="0" marL="0" marR="0" rtl="0" algn="ctr">
                        <a:spcBef>
                          <a:spcPts val="0"/>
                        </a:spcBef>
                        <a:spcAft>
                          <a:spcPts val="0"/>
                        </a:spcAft>
                        <a:buNone/>
                      </a:pPr>
                      <a:r>
                        <a:rPr b="0" lang="en-US" sz="1150" u="none" cap="none" strike="noStrike">
                          <a:solidFill>
                            <a:srgbClr val="B0B0B0"/>
                          </a:solidFill>
                          <a:latin typeface="Arial"/>
                          <a:ea typeface="Arial"/>
                          <a:cs typeface="Arial"/>
                          <a:sym typeface="Arial"/>
                        </a:rPr>
                        <a:t>0.4049</a:t>
                      </a:r>
                      <a:endParaRPr/>
                    </a:p>
                  </a:txBody>
                  <a:tcPr marT="45725" marB="45725" marR="91450" marL="91450">
                    <a:solidFill>
                      <a:srgbClr val="111111"/>
                    </a:solidFill>
                  </a:tcPr>
                </a:tc>
                <a:tc>
                  <a:txBody>
                    <a:bodyPr/>
                    <a:lstStyle/>
                    <a:p>
                      <a:pPr indent="0" lvl="0" marL="0" marR="0" rtl="0" algn="ctr">
                        <a:spcBef>
                          <a:spcPts val="0"/>
                        </a:spcBef>
                        <a:spcAft>
                          <a:spcPts val="0"/>
                        </a:spcAft>
                        <a:buNone/>
                      </a:pPr>
                      <a:r>
                        <a:rPr b="0" lang="en-US" sz="1150" u="none" cap="none" strike="noStrike">
                          <a:solidFill>
                            <a:srgbClr val="B0B0B0"/>
                          </a:solidFill>
                          <a:latin typeface="Arial"/>
                          <a:ea typeface="Arial"/>
                          <a:cs typeface="Arial"/>
                          <a:sym typeface="Arial"/>
                        </a:rPr>
                        <a:t>0.3452</a:t>
                      </a:r>
                      <a:endParaRPr/>
                    </a:p>
                  </a:txBody>
                  <a:tcPr marT="45725" marB="45725" marR="91450" marL="91450">
                    <a:solidFill>
                      <a:srgbClr val="111111"/>
                    </a:solidFill>
                  </a:tcPr>
                </a:tc>
                <a:tc>
                  <a:txBody>
                    <a:bodyPr/>
                    <a:lstStyle/>
                    <a:p>
                      <a:pPr indent="0" lvl="0" marL="0" marR="0" rtl="0" algn="ctr">
                        <a:spcBef>
                          <a:spcPts val="0"/>
                        </a:spcBef>
                        <a:spcAft>
                          <a:spcPts val="0"/>
                        </a:spcAft>
                        <a:buNone/>
                      </a:pPr>
                      <a:r>
                        <a:rPr b="0" lang="en-US" sz="1150" u="none" cap="none" strike="noStrike">
                          <a:solidFill>
                            <a:srgbClr val="B0B0B0"/>
                          </a:solidFill>
                          <a:latin typeface="Arial"/>
                          <a:ea typeface="Arial"/>
                          <a:cs typeface="Arial"/>
                          <a:sym typeface="Arial"/>
                        </a:rPr>
                        <a:t>0.4985</a:t>
                      </a:r>
                      <a:endParaRPr/>
                    </a:p>
                  </a:txBody>
                  <a:tcPr marT="45725" marB="45725" marR="91450" marL="91450">
                    <a:solidFill>
                      <a:srgbClr val="111111"/>
                    </a:solidFill>
                  </a:tcPr>
                </a:tc>
                <a:tc>
                  <a:txBody>
                    <a:bodyPr/>
                    <a:lstStyle/>
                    <a:p>
                      <a:pPr indent="0" lvl="0" marL="0" marR="0" rtl="0" algn="ctr">
                        <a:spcBef>
                          <a:spcPts val="0"/>
                        </a:spcBef>
                        <a:spcAft>
                          <a:spcPts val="0"/>
                        </a:spcAft>
                        <a:buNone/>
                      </a:pPr>
                      <a:r>
                        <a:rPr b="0" lang="en-US" sz="1150" u="none" cap="none" strike="noStrike">
                          <a:solidFill>
                            <a:srgbClr val="B0B0B0"/>
                          </a:solidFill>
                          <a:latin typeface="Arial"/>
                          <a:ea typeface="Arial"/>
                          <a:cs typeface="Arial"/>
                          <a:sym typeface="Arial"/>
                        </a:rPr>
                        <a:t>-93,752</a:t>
                      </a:r>
                      <a:endParaRPr/>
                    </a:p>
                  </a:txBody>
                  <a:tcPr marT="45725" marB="45725" marR="91450" marL="91450">
                    <a:solidFill>
                      <a:srgbClr val="111111"/>
                    </a:solidFill>
                  </a:tcPr>
                </a:tc>
                <a:tc>
                  <a:txBody>
                    <a:bodyPr/>
                    <a:lstStyle/>
                    <a:p>
                      <a:pPr indent="0" lvl="0" marL="0" marR="0" rtl="0" algn="ctr">
                        <a:spcBef>
                          <a:spcPts val="0"/>
                        </a:spcBef>
                        <a:spcAft>
                          <a:spcPts val="0"/>
                        </a:spcAft>
                        <a:buNone/>
                      </a:pPr>
                      <a:r>
                        <a:rPr b="0" lang="en-US" sz="1150" u="none" cap="none" strike="noStrike">
                          <a:solidFill>
                            <a:srgbClr val="B0B0B0"/>
                          </a:solidFill>
                          <a:latin typeface="Arial"/>
                          <a:ea typeface="Arial"/>
                          <a:cs typeface="Arial"/>
                          <a:sym typeface="Arial"/>
                        </a:rPr>
                        <a:t>-428,970</a:t>
                      </a:r>
                      <a:endParaRPr/>
                    </a:p>
                  </a:txBody>
                  <a:tcPr marT="45725" marB="45725" marR="91450" marL="91450">
                    <a:solidFill>
                      <a:srgbClr val="111111"/>
                    </a:solidFill>
                  </a:tcPr>
                </a:tc>
                <a:tc>
                  <a:txBody>
                    <a:bodyPr/>
                    <a:lstStyle/>
                    <a:p>
                      <a:pPr indent="0" lvl="0" marL="0" marR="0" rtl="0" algn="ctr">
                        <a:spcBef>
                          <a:spcPts val="0"/>
                        </a:spcBef>
                        <a:spcAft>
                          <a:spcPts val="0"/>
                        </a:spcAft>
                        <a:buNone/>
                      </a:pPr>
                      <a:r>
                        <a:rPr b="0" lang="en-US" sz="1150" u="none" cap="none" strike="noStrike">
                          <a:solidFill>
                            <a:srgbClr val="B0B0B0"/>
                          </a:solidFill>
                          <a:latin typeface="Arial"/>
                          <a:ea typeface="Arial"/>
                          <a:cs typeface="Arial"/>
                          <a:sym typeface="Arial"/>
                        </a:rPr>
                        <a:t>+11.0%</a:t>
                      </a:r>
                      <a:endParaRPr/>
                    </a:p>
                  </a:txBody>
                  <a:tcPr marT="45725" marB="45725" marR="91450" marL="91450">
                    <a:solidFill>
                      <a:srgbClr val="111111"/>
                    </a:solidFill>
                  </a:tcPr>
                </a:tc>
              </a:tr>
              <a:tr h="640075">
                <a:tc>
                  <a:txBody>
                    <a:bodyPr/>
                    <a:lstStyle/>
                    <a:p>
                      <a:pPr indent="0" lvl="0" marL="0" marR="0" rtl="0" algn="l">
                        <a:spcBef>
                          <a:spcPts val="0"/>
                        </a:spcBef>
                        <a:spcAft>
                          <a:spcPts val="0"/>
                        </a:spcAft>
                        <a:buNone/>
                      </a:pPr>
                      <a:r>
                        <a:rPr b="0" lang="en-US" sz="1150" u="none" cap="none" strike="noStrike">
                          <a:solidFill>
                            <a:srgbClr val="FFFFFF"/>
                          </a:solidFill>
                          <a:latin typeface="Arial"/>
                          <a:ea typeface="Arial"/>
                          <a:cs typeface="Arial"/>
                          <a:sym typeface="Arial"/>
                        </a:rPr>
                        <a:t>Logistic Regression</a:t>
                      </a:r>
                      <a:endParaRPr/>
                    </a:p>
                  </a:txBody>
                  <a:tcPr marT="45725" marB="45725" marR="91450" marL="91450">
                    <a:solidFill>
                      <a:srgbClr val="111111"/>
                    </a:solidFill>
                  </a:tcPr>
                </a:tc>
                <a:tc>
                  <a:txBody>
                    <a:bodyPr/>
                    <a:lstStyle/>
                    <a:p>
                      <a:pPr indent="0" lvl="0" marL="0" marR="0" rtl="0" algn="ctr">
                        <a:spcBef>
                          <a:spcPts val="0"/>
                        </a:spcBef>
                        <a:spcAft>
                          <a:spcPts val="0"/>
                        </a:spcAft>
                        <a:buNone/>
                      </a:pPr>
                      <a:r>
                        <a:rPr b="0" lang="en-US" sz="1150" u="none" cap="none" strike="noStrike">
                          <a:solidFill>
                            <a:srgbClr val="B0B0B0"/>
                          </a:solidFill>
                          <a:latin typeface="Arial"/>
                          <a:ea typeface="Arial"/>
                          <a:cs typeface="Arial"/>
                          <a:sym typeface="Arial"/>
                        </a:rPr>
                        <a:t>0.7525</a:t>
                      </a:r>
                      <a:endParaRPr/>
                    </a:p>
                  </a:txBody>
                  <a:tcPr marT="45725" marB="45725" marR="91450" marL="91450">
                    <a:solidFill>
                      <a:srgbClr val="111111"/>
                    </a:solidFill>
                  </a:tcPr>
                </a:tc>
                <a:tc>
                  <a:txBody>
                    <a:bodyPr/>
                    <a:lstStyle/>
                    <a:p>
                      <a:pPr indent="0" lvl="0" marL="0" marR="0" rtl="0" algn="ctr">
                        <a:spcBef>
                          <a:spcPts val="0"/>
                        </a:spcBef>
                        <a:spcAft>
                          <a:spcPts val="0"/>
                        </a:spcAft>
                        <a:buNone/>
                      </a:pPr>
                      <a:r>
                        <a:rPr b="0" lang="en-US" sz="1150" u="none" cap="none" strike="noStrike">
                          <a:solidFill>
                            <a:srgbClr val="B0B0B0"/>
                          </a:solidFill>
                          <a:latin typeface="Arial"/>
                          <a:ea typeface="Arial"/>
                          <a:cs typeface="Arial"/>
                          <a:sym typeface="Arial"/>
                        </a:rPr>
                        <a:t>0.1907</a:t>
                      </a:r>
                      <a:endParaRPr/>
                    </a:p>
                  </a:txBody>
                  <a:tcPr marT="45725" marB="45725" marR="91450" marL="91450">
                    <a:solidFill>
                      <a:srgbClr val="111111"/>
                    </a:solidFill>
                  </a:tcPr>
                </a:tc>
                <a:tc>
                  <a:txBody>
                    <a:bodyPr/>
                    <a:lstStyle/>
                    <a:p>
                      <a:pPr indent="0" lvl="0" marL="0" marR="0" rtl="0" algn="ctr">
                        <a:spcBef>
                          <a:spcPts val="0"/>
                        </a:spcBef>
                        <a:spcAft>
                          <a:spcPts val="0"/>
                        </a:spcAft>
                        <a:buNone/>
                      </a:pPr>
                      <a:r>
                        <a:rPr b="0" lang="en-US" sz="1150" u="none" cap="none" strike="noStrike">
                          <a:solidFill>
                            <a:srgbClr val="B0B0B0"/>
                          </a:solidFill>
                          <a:latin typeface="Arial"/>
                          <a:ea typeface="Arial"/>
                          <a:cs typeface="Arial"/>
                          <a:sym typeface="Arial"/>
                        </a:rPr>
                        <a:t>0.3143</a:t>
                      </a:r>
                      <a:endParaRPr/>
                    </a:p>
                  </a:txBody>
                  <a:tcPr marT="45725" marB="45725" marR="91450" marL="91450">
                    <a:solidFill>
                      <a:srgbClr val="111111"/>
                    </a:solidFill>
                  </a:tcPr>
                </a:tc>
                <a:tc>
                  <a:txBody>
                    <a:bodyPr/>
                    <a:lstStyle/>
                    <a:p>
                      <a:pPr indent="0" lvl="0" marL="0" marR="0" rtl="0" algn="ctr">
                        <a:spcBef>
                          <a:spcPts val="0"/>
                        </a:spcBef>
                        <a:spcAft>
                          <a:spcPts val="0"/>
                        </a:spcAft>
                        <a:buNone/>
                      </a:pPr>
                      <a:r>
                        <a:rPr b="0" lang="en-US" sz="1150" u="none" cap="none" strike="noStrike">
                          <a:solidFill>
                            <a:srgbClr val="B0B0B0"/>
                          </a:solidFill>
                          <a:latin typeface="Arial"/>
                          <a:ea typeface="Arial"/>
                          <a:cs typeface="Arial"/>
                          <a:sym typeface="Arial"/>
                        </a:rPr>
                        <a:t>0.1788</a:t>
                      </a:r>
                      <a:endParaRPr/>
                    </a:p>
                  </a:txBody>
                  <a:tcPr marT="45725" marB="45725" marR="91450" marL="91450">
                    <a:solidFill>
                      <a:srgbClr val="111111"/>
                    </a:solidFill>
                  </a:tcPr>
                </a:tc>
                <a:tc>
                  <a:txBody>
                    <a:bodyPr/>
                    <a:lstStyle/>
                    <a:p>
                      <a:pPr indent="0" lvl="0" marL="0" marR="0" rtl="0" algn="ctr">
                        <a:spcBef>
                          <a:spcPts val="0"/>
                        </a:spcBef>
                        <a:spcAft>
                          <a:spcPts val="0"/>
                        </a:spcAft>
                        <a:buNone/>
                      </a:pPr>
                      <a:r>
                        <a:rPr b="0" lang="en-US" sz="1150" u="none" cap="none" strike="noStrike">
                          <a:solidFill>
                            <a:srgbClr val="B0B0B0"/>
                          </a:solidFill>
                          <a:latin typeface="Arial"/>
                          <a:ea typeface="Arial"/>
                          <a:cs typeface="Arial"/>
                          <a:sym typeface="Arial"/>
                        </a:rPr>
                        <a:t>-127,171</a:t>
                      </a:r>
                      <a:endParaRPr/>
                    </a:p>
                  </a:txBody>
                  <a:tcPr marT="45725" marB="45725" marR="91450" marL="91450">
                    <a:solidFill>
                      <a:srgbClr val="111111"/>
                    </a:solidFill>
                  </a:tcPr>
                </a:tc>
                <a:tc>
                  <a:txBody>
                    <a:bodyPr/>
                    <a:lstStyle/>
                    <a:p>
                      <a:pPr indent="0" lvl="0" marL="0" marR="0" rtl="0" algn="ctr">
                        <a:spcBef>
                          <a:spcPts val="0"/>
                        </a:spcBef>
                        <a:spcAft>
                          <a:spcPts val="0"/>
                        </a:spcAft>
                        <a:buNone/>
                      </a:pPr>
                      <a:r>
                        <a:rPr b="0" lang="en-US" sz="1150" u="none" cap="none" strike="noStrike">
                          <a:solidFill>
                            <a:srgbClr val="B0B0B0"/>
                          </a:solidFill>
                          <a:latin typeface="Arial"/>
                          <a:ea typeface="Arial"/>
                          <a:cs typeface="Arial"/>
                          <a:sym typeface="Arial"/>
                        </a:rPr>
                        <a:t>-428,970</a:t>
                      </a:r>
                      <a:endParaRPr/>
                    </a:p>
                  </a:txBody>
                  <a:tcPr marT="45725" marB="45725" marR="91450" marL="91450">
                    <a:solidFill>
                      <a:srgbClr val="111111"/>
                    </a:solidFill>
                  </a:tcPr>
                </a:tc>
                <a:tc>
                  <a:txBody>
                    <a:bodyPr/>
                    <a:lstStyle/>
                    <a:p>
                      <a:pPr indent="0" lvl="0" marL="0" marR="0" rtl="0" algn="ctr">
                        <a:spcBef>
                          <a:spcPts val="0"/>
                        </a:spcBef>
                        <a:spcAft>
                          <a:spcPts val="0"/>
                        </a:spcAft>
                        <a:buNone/>
                      </a:pPr>
                      <a:r>
                        <a:rPr b="0" lang="en-US" sz="1150" u="none" cap="none" strike="noStrike">
                          <a:solidFill>
                            <a:srgbClr val="B0B0B0"/>
                          </a:solidFill>
                          <a:latin typeface="Arial"/>
                          <a:ea typeface="Arial"/>
                          <a:cs typeface="Arial"/>
                          <a:sym typeface="Arial"/>
                        </a:rPr>
                        <a:t>+39.6%</a:t>
                      </a:r>
                      <a:endParaRPr/>
                    </a:p>
                  </a:txBody>
                  <a:tcPr marT="45725" marB="45725" marR="91450" marL="91450">
                    <a:solidFill>
                      <a:srgbClr val="111111"/>
                    </a:solidFill>
                  </a:tcPr>
                </a:tc>
              </a:tr>
            </a:tbl>
          </a:graphicData>
        </a:graphic>
      </p:graphicFrame>
      <p:sp>
        <p:nvSpPr>
          <p:cNvPr id="678" name="Google Shape;678;p26"/>
          <p:cNvSpPr txBox="1"/>
          <p:nvPr/>
        </p:nvSpPr>
        <p:spPr>
          <a:xfrm>
            <a:off x="640080" y="5715000"/>
            <a:ext cx="10908792" cy="50292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1" lang="en-US" sz="1100" u="none" cap="none" strike="noStrike">
                <a:solidFill>
                  <a:srgbClr val="01B1EC"/>
                </a:solidFill>
                <a:latin typeface="Arial"/>
                <a:ea typeface="Arial"/>
                <a:cs typeface="Arial"/>
                <a:sym typeface="Arial"/>
              </a:rPr>
              <a:t>Ranking por J óptimo: LightGBM ≈ CatBoost  &gt;  XGBoost  &gt;  Random Forest  &gt;&gt;  Logistic Regression  ·  J block all = rechazar el 100% de las transacciones (referencia de piso, igual para los 5 modelos)</a:t>
            </a:r>
            <a:endParaRPr/>
          </a:p>
        </p:txBody>
      </p:sp>
      <p:sp>
        <p:nvSpPr>
          <p:cNvPr id="679" name="Google Shape;679;p26"/>
          <p:cNvSpPr/>
          <p:nvPr/>
        </p:nvSpPr>
        <p:spPr>
          <a:xfrm>
            <a:off x="0" y="6537960"/>
            <a:ext cx="12191695" cy="320040"/>
          </a:xfrm>
          <a:prstGeom prst="rect">
            <a:avLst/>
          </a:prstGeom>
          <a:solidFill>
            <a:srgbClr val="0A0A0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nvGrpSpPr>
          <p:cNvPr id="680" name="Google Shape;680;p26"/>
          <p:cNvGrpSpPr/>
          <p:nvPr/>
        </p:nvGrpSpPr>
        <p:grpSpPr>
          <a:xfrm>
            <a:off x="12" y="6223211"/>
            <a:ext cx="634800" cy="634800"/>
            <a:chOff x="12" y="4508711"/>
            <a:chExt cx="634800" cy="634800"/>
          </a:xfrm>
        </p:grpSpPr>
        <p:sp>
          <p:nvSpPr>
            <p:cNvPr id="681" name="Google Shape;681;p26"/>
            <p:cNvSpPr/>
            <p:nvPr/>
          </p:nvSpPr>
          <p:spPr>
            <a:xfrm>
              <a:off x="12" y="4508711"/>
              <a:ext cx="634800" cy="634800"/>
            </a:xfrm>
            <a:prstGeom prst="round1Rect">
              <a:avLst>
                <a:gd fmla="val 28797" name="adj"/>
              </a:avLst>
            </a:prstGeom>
            <a:solidFill>
              <a:srgbClr val="FFD1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82" name="Google Shape;682;p26"/>
            <p:cNvPicPr preferRelativeResize="0"/>
            <p:nvPr/>
          </p:nvPicPr>
          <p:blipFill>
            <a:blip r:embed="rId3">
              <a:alphaModFix/>
            </a:blip>
            <a:stretch>
              <a:fillRect/>
            </a:stretch>
          </p:blipFill>
          <p:spPr>
            <a:xfrm>
              <a:off x="124673" y="4689253"/>
              <a:ext cx="397051" cy="273714"/>
            </a:xfrm>
            <a:prstGeom prst="rect">
              <a:avLst/>
            </a:prstGeom>
            <a:noFill/>
            <a:ln>
              <a:noFill/>
            </a:ln>
          </p:spPr>
        </p:pic>
      </p:grpSp>
      <p:sp>
        <p:nvSpPr>
          <p:cNvPr id="683" name="Google Shape;683;p26"/>
          <p:cNvSpPr/>
          <p:nvPr/>
        </p:nvSpPr>
        <p:spPr>
          <a:xfrm rot="10800000">
            <a:off x="11736276" y="0"/>
            <a:ext cx="455400" cy="421500"/>
          </a:xfrm>
          <a:prstGeom prst="corner">
            <a:avLst>
              <a:gd fmla="val 39228" name="adj1"/>
              <a:gd fmla="val 38336" name="adj2"/>
            </a:avLst>
          </a:prstGeom>
          <a:solidFill>
            <a:srgbClr val="FFD100"/>
          </a:solidFill>
          <a:ln>
            <a:noFill/>
          </a:ln>
        </p:spPr>
        <p:txBody>
          <a:bodyPr anchorCtr="0" anchor="ctr" bIns="60950" lIns="60950" spcFirstLastPara="1" rIns="60950" wrap="square" tIns="60950">
            <a:noAutofit/>
          </a:bodyPr>
          <a:lstStyle/>
          <a:p>
            <a:pPr indent="0" lvl="0" marL="0" rtl="0" algn="l">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p27"/>
          <p:cNvSpPr/>
          <p:nvPr/>
        </p:nvSpPr>
        <p:spPr>
          <a:xfrm>
            <a:off x="0" y="0"/>
            <a:ext cx="12191695" cy="6858000"/>
          </a:xfrm>
          <a:prstGeom prst="rect">
            <a:avLst/>
          </a:prstGeom>
          <a:solidFill>
            <a:srgbClr val="1A1A1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89" name="Google Shape;689;p27"/>
          <p:cNvSpPr/>
          <p:nvPr/>
        </p:nvSpPr>
        <p:spPr>
          <a:xfrm>
            <a:off x="502920" y="457200"/>
            <a:ext cx="54864" cy="777240"/>
          </a:xfrm>
          <a:prstGeom prst="rect">
            <a:avLst/>
          </a:prstGeom>
          <a:solidFill>
            <a:srgbClr val="FECE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90" name="Google Shape;690;p27"/>
          <p:cNvSpPr txBox="1"/>
          <p:nvPr/>
        </p:nvSpPr>
        <p:spPr>
          <a:xfrm>
            <a:off x="685800" y="457200"/>
            <a:ext cx="1051560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300" u="none" cap="none" strike="noStrike">
                <a:solidFill>
                  <a:srgbClr val="B0B0B0"/>
                </a:solidFill>
                <a:latin typeface="Arial"/>
                <a:ea typeface="Arial"/>
                <a:cs typeface="Arial"/>
                <a:sym typeface="Arial"/>
              </a:rPr>
              <a:t>03_MODEL_SELECTION — MODELO FINAL</a:t>
            </a:r>
            <a:endParaRPr/>
          </a:p>
        </p:txBody>
      </p:sp>
      <p:sp>
        <p:nvSpPr>
          <p:cNvPr id="691" name="Google Shape;691;p27"/>
          <p:cNvSpPr txBox="1"/>
          <p:nvPr/>
        </p:nvSpPr>
        <p:spPr>
          <a:xfrm>
            <a:off x="658368" y="749808"/>
            <a:ext cx="10607040" cy="5943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600" u="none" cap="none" strike="noStrike">
                <a:solidFill>
                  <a:srgbClr val="FFFFFF"/>
                </a:solidFill>
                <a:latin typeface="Arial"/>
                <a:ea typeface="Arial"/>
                <a:cs typeface="Arial"/>
                <a:sym typeface="Arial"/>
              </a:rPr>
              <a:t>LIGHTGBM: MODELO ELEGIDO</a:t>
            </a:r>
            <a:endParaRPr/>
          </a:p>
        </p:txBody>
      </p:sp>
      <p:sp>
        <p:nvSpPr>
          <p:cNvPr id="692" name="Google Shape;692;p27"/>
          <p:cNvSpPr/>
          <p:nvPr/>
        </p:nvSpPr>
        <p:spPr>
          <a:xfrm>
            <a:off x="640080" y="1600200"/>
            <a:ext cx="6430975" cy="4800600"/>
          </a:xfrm>
          <a:prstGeom prst="rect">
            <a:avLst/>
          </a:prstGeom>
          <a:solidFill>
            <a:srgbClr val="111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93" name="Google Shape;693;p27"/>
          <p:cNvSpPr/>
          <p:nvPr/>
        </p:nvSpPr>
        <p:spPr>
          <a:xfrm>
            <a:off x="896112" y="1874520"/>
            <a:ext cx="146304" cy="146304"/>
          </a:xfrm>
          <a:prstGeom prst="ellipse">
            <a:avLst/>
          </a:prstGeom>
          <a:noFill/>
          <a:ln cap="flat" cmpd="sng" w="158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94" name="Google Shape;694;p27"/>
          <p:cNvSpPr txBox="1"/>
          <p:nvPr/>
        </p:nvSpPr>
        <p:spPr>
          <a:xfrm>
            <a:off x="1207008" y="1828800"/>
            <a:ext cx="5608015"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50" u="none" cap="none" strike="noStrike">
                <a:solidFill>
                  <a:srgbClr val="FFFFFF"/>
                </a:solidFill>
                <a:latin typeface="Arial"/>
                <a:ea typeface="Arial"/>
                <a:cs typeface="Arial"/>
                <a:sym typeface="Arial"/>
              </a:rPr>
              <a:t>Criterio de selección</a:t>
            </a:r>
            <a:endParaRPr/>
          </a:p>
        </p:txBody>
      </p:sp>
      <p:sp>
        <p:nvSpPr>
          <p:cNvPr id="695" name="Google Shape;695;p27"/>
          <p:cNvSpPr txBox="1"/>
          <p:nvPr/>
        </p:nvSpPr>
        <p:spPr>
          <a:xfrm>
            <a:off x="1207008" y="2103120"/>
            <a:ext cx="5608015" cy="1155191"/>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150" u="none" cap="none" strike="noStrike">
                <a:solidFill>
                  <a:srgbClr val="B0B0B0"/>
                </a:solidFill>
                <a:latin typeface="Arial"/>
                <a:ea typeface="Arial"/>
                <a:cs typeface="Arial"/>
                <a:sym typeface="Arial"/>
              </a:rPr>
              <a:t>mejor balance entre poder discriminativo (AUC 0.8850, PR-AUC 0.4354) y ganancia de negocio (J óptimo=-$86,068).</a:t>
            </a:r>
            <a:endParaRPr/>
          </a:p>
        </p:txBody>
      </p:sp>
      <p:cxnSp>
        <p:nvCxnSpPr>
          <p:cNvPr id="696" name="Google Shape;696;p27"/>
          <p:cNvCxnSpPr/>
          <p:nvPr/>
        </p:nvCxnSpPr>
        <p:spPr>
          <a:xfrm>
            <a:off x="969264" y="3230880"/>
            <a:ext cx="0" cy="73152"/>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8039"/>
              </a:srgbClr>
            </a:outerShdw>
          </a:effectLst>
        </p:spPr>
      </p:cxnSp>
      <p:sp>
        <p:nvSpPr>
          <p:cNvPr id="697" name="Google Shape;697;p27"/>
          <p:cNvSpPr/>
          <p:nvPr/>
        </p:nvSpPr>
        <p:spPr>
          <a:xfrm>
            <a:off x="896112" y="3304032"/>
            <a:ext cx="146304" cy="146304"/>
          </a:xfrm>
          <a:prstGeom prst="ellipse">
            <a:avLst/>
          </a:prstGeom>
          <a:noFill/>
          <a:ln cap="flat" cmpd="sng" w="158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98" name="Google Shape;698;p27"/>
          <p:cNvSpPr txBox="1"/>
          <p:nvPr/>
        </p:nvSpPr>
        <p:spPr>
          <a:xfrm>
            <a:off x="1207008" y="3258312"/>
            <a:ext cx="5608015"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50" u="none" cap="none" strike="noStrike">
                <a:solidFill>
                  <a:srgbClr val="FFFFFF"/>
                </a:solidFill>
                <a:latin typeface="Arial"/>
                <a:ea typeface="Arial"/>
                <a:cs typeface="Arial"/>
                <a:sym typeface="Arial"/>
              </a:rPr>
              <a:t>Riesgo evitado</a:t>
            </a:r>
            <a:endParaRPr/>
          </a:p>
        </p:txBody>
      </p:sp>
      <p:sp>
        <p:nvSpPr>
          <p:cNvPr id="699" name="Google Shape;699;p27"/>
          <p:cNvSpPr txBox="1"/>
          <p:nvPr/>
        </p:nvSpPr>
        <p:spPr>
          <a:xfrm>
            <a:off x="1207008" y="3532632"/>
            <a:ext cx="5608015" cy="1155191"/>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150" u="none" cap="none" strike="noStrike">
                <a:solidFill>
                  <a:srgbClr val="B0B0B0"/>
                </a:solidFill>
                <a:latin typeface="Arial"/>
                <a:ea typeface="Arial"/>
                <a:cs typeface="Arial"/>
                <a:sym typeface="Arial"/>
              </a:rPr>
              <a:t>a diferencia de XGBoost, donde o_freq_encoded concentra 38.0% de la importancia (riesgo de concept drift), LightGBM reparte el poder predictivo.</a:t>
            </a:r>
            <a:endParaRPr/>
          </a:p>
        </p:txBody>
      </p:sp>
      <p:cxnSp>
        <p:nvCxnSpPr>
          <p:cNvPr id="700" name="Google Shape;700;p27"/>
          <p:cNvCxnSpPr/>
          <p:nvPr/>
        </p:nvCxnSpPr>
        <p:spPr>
          <a:xfrm>
            <a:off x="969264" y="4660392"/>
            <a:ext cx="0" cy="73152"/>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8039"/>
              </a:srgbClr>
            </a:outerShdw>
          </a:effectLst>
        </p:spPr>
      </p:cxnSp>
      <p:sp>
        <p:nvSpPr>
          <p:cNvPr id="701" name="Google Shape;701;p27"/>
          <p:cNvSpPr/>
          <p:nvPr/>
        </p:nvSpPr>
        <p:spPr>
          <a:xfrm>
            <a:off x="896112" y="4733543"/>
            <a:ext cx="146304" cy="146304"/>
          </a:xfrm>
          <a:prstGeom prst="ellipse">
            <a:avLst/>
          </a:prstGeom>
          <a:noFill/>
          <a:ln cap="flat" cmpd="sng" w="158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02" name="Google Shape;702;p27"/>
          <p:cNvSpPr txBox="1"/>
          <p:nvPr/>
        </p:nvSpPr>
        <p:spPr>
          <a:xfrm>
            <a:off x="1207008" y="4687823"/>
            <a:ext cx="5608015"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50" u="none" cap="none" strike="noStrike">
                <a:solidFill>
                  <a:srgbClr val="FFFFFF"/>
                </a:solidFill>
                <a:latin typeface="Arial"/>
                <a:ea typeface="Arial"/>
                <a:cs typeface="Arial"/>
                <a:sym typeface="Arial"/>
              </a:rPr>
              <a:t>Eficiencia operativa</a:t>
            </a:r>
            <a:endParaRPr/>
          </a:p>
        </p:txBody>
      </p:sp>
      <p:sp>
        <p:nvSpPr>
          <p:cNvPr id="703" name="Google Shape;703;p27"/>
          <p:cNvSpPr txBox="1"/>
          <p:nvPr/>
        </p:nvSpPr>
        <p:spPr>
          <a:xfrm>
            <a:off x="1207008" y="4962143"/>
            <a:ext cx="5608015" cy="1155191"/>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150" u="none" cap="none" strike="noStrike">
                <a:solidFill>
                  <a:srgbClr val="B0B0B0"/>
                </a:solidFill>
                <a:latin typeface="Arial"/>
                <a:ea typeface="Arial"/>
                <a:cs typeface="Arial"/>
                <a:sym typeface="Arial"/>
              </a:rPr>
              <a:t>diseñado para datasets grandes y baja latencia de entrenamiento/inferencia — relevante para scoring en tiempo real.</a:t>
            </a:r>
            <a:endParaRPr/>
          </a:p>
        </p:txBody>
      </p:sp>
      <p:sp>
        <p:nvSpPr>
          <p:cNvPr id="704" name="Google Shape;704;p27"/>
          <p:cNvSpPr txBox="1"/>
          <p:nvPr/>
        </p:nvSpPr>
        <p:spPr>
          <a:xfrm>
            <a:off x="7345375" y="1600200"/>
            <a:ext cx="4206240"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B0B0B0"/>
                </a:solidFill>
                <a:latin typeface="Arial"/>
                <a:ea typeface="Arial"/>
                <a:cs typeface="Arial"/>
                <a:sym typeface="Arial"/>
              </a:rPr>
              <a:t>TOP 5 FEATURE IMPORTANCE (LIGHTGBM)</a:t>
            </a:r>
            <a:endParaRPr/>
          </a:p>
        </p:txBody>
      </p:sp>
      <p:sp>
        <p:nvSpPr>
          <p:cNvPr id="705" name="Google Shape;705;p27"/>
          <p:cNvSpPr txBox="1"/>
          <p:nvPr/>
        </p:nvSpPr>
        <p:spPr>
          <a:xfrm>
            <a:off x="7345375" y="2090245"/>
            <a:ext cx="1338681"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00" u="none" cap="none" strike="noStrike">
                <a:solidFill>
                  <a:srgbClr val="FFFFFF"/>
                </a:solidFill>
                <a:latin typeface="Arial"/>
                <a:ea typeface="Arial"/>
                <a:cs typeface="Arial"/>
                <a:sym typeface="Arial"/>
              </a:rPr>
              <a:t>score</a:t>
            </a:r>
            <a:endParaRPr/>
          </a:p>
        </p:txBody>
      </p:sp>
      <p:sp>
        <p:nvSpPr>
          <p:cNvPr id="706" name="Google Shape;706;p27"/>
          <p:cNvSpPr/>
          <p:nvPr/>
        </p:nvSpPr>
        <p:spPr>
          <a:xfrm>
            <a:off x="8775496" y="2381737"/>
            <a:ext cx="2136038" cy="282659"/>
          </a:xfrm>
          <a:prstGeom prst="rect">
            <a:avLst/>
          </a:prstGeom>
          <a:solidFill>
            <a:srgbClr val="08080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07" name="Google Shape;707;p27"/>
          <p:cNvSpPr/>
          <p:nvPr/>
        </p:nvSpPr>
        <p:spPr>
          <a:xfrm>
            <a:off x="8775496" y="2381737"/>
            <a:ext cx="1975835" cy="282659"/>
          </a:xfrm>
          <a:prstGeom prst="rect">
            <a:avLst/>
          </a:prstGeom>
          <a:solidFill>
            <a:srgbClr val="FECE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08" name="Google Shape;708;p27"/>
          <p:cNvSpPr txBox="1"/>
          <p:nvPr/>
        </p:nvSpPr>
        <p:spPr>
          <a:xfrm>
            <a:off x="10966399" y="2319905"/>
            <a:ext cx="59436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50" u="none" cap="none" strike="noStrike">
                <a:solidFill>
                  <a:srgbClr val="FECE00"/>
                </a:solidFill>
                <a:latin typeface="Arial"/>
                <a:ea typeface="Arial"/>
                <a:cs typeface="Arial"/>
                <a:sym typeface="Arial"/>
              </a:rPr>
              <a:t>11.1%</a:t>
            </a:r>
            <a:endParaRPr/>
          </a:p>
        </p:txBody>
      </p:sp>
      <p:sp>
        <p:nvSpPr>
          <p:cNvPr id="709" name="Google Shape;709;p27"/>
          <p:cNvSpPr txBox="1"/>
          <p:nvPr/>
        </p:nvSpPr>
        <p:spPr>
          <a:xfrm>
            <a:off x="7345375" y="2973555"/>
            <a:ext cx="1338681"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00" u="none" cap="none" strike="noStrike">
                <a:solidFill>
                  <a:srgbClr val="FFFFFF"/>
                </a:solidFill>
                <a:latin typeface="Arial"/>
                <a:ea typeface="Arial"/>
                <a:cs typeface="Arial"/>
                <a:sym typeface="Arial"/>
              </a:rPr>
              <a:t>j_target_enc</a:t>
            </a:r>
            <a:endParaRPr/>
          </a:p>
        </p:txBody>
      </p:sp>
      <p:sp>
        <p:nvSpPr>
          <p:cNvPr id="710" name="Google Shape;710;p27"/>
          <p:cNvSpPr/>
          <p:nvPr/>
        </p:nvSpPr>
        <p:spPr>
          <a:xfrm>
            <a:off x="8775496" y="3265048"/>
            <a:ext cx="2136038" cy="282659"/>
          </a:xfrm>
          <a:prstGeom prst="rect">
            <a:avLst/>
          </a:prstGeom>
          <a:solidFill>
            <a:srgbClr val="08080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11" name="Google Shape;711;p27"/>
          <p:cNvSpPr/>
          <p:nvPr/>
        </p:nvSpPr>
        <p:spPr>
          <a:xfrm>
            <a:off x="8775496" y="3265048"/>
            <a:ext cx="1424025" cy="282659"/>
          </a:xfrm>
          <a:prstGeom prst="rect">
            <a:avLst/>
          </a:prstGeom>
          <a:solidFill>
            <a:srgbClr val="FECE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12" name="Google Shape;712;p27"/>
          <p:cNvSpPr txBox="1"/>
          <p:nvPr/>
        </p:nvSpPr>
        <p:spPr>
          <a:xfrm>
            <a:off x="10966399" y="3203216"/>
            <a:ext cx="59436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50" u="none" cap="none" strike="noStrike">
                <a:solidFill>
                  <a:srgbClr val="FECE00"/>
                </a:solidFill>
                <a:latin typeface="Arial"/>
                <a:ea typeface="Arial"/>
                <a:cs typeface="Arial"/>
                <a:sym typeface="Arial"/>
              </a:rPr>
              <a:t>8%</a:t>
            </a:r>
            <a:endParaRPr/>
          </a:p>
        </p:txBody>
      </p:sp>
      <p:sp>
        <p:nvSpPr>
          <p:cNvPr id="713" name="Google Shape;713;p27"/>
          <p:cNvSpPr txBox="1"/>
          <p:nvPr/>
        </p:nvSpPr>
        <p:spPr>
          <a:xfrm>
            <a:off x="7345375" y="3856866"/>
            <a:ext cx="1338681"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00" u="none" cap="none" strike="noStrike">
                <a:solidFill>
                  <a:srgbClr val="FFFFFF"/>
                </a:solidFill>
                <a:latin typeface="Arial"/>
                <a:ea typeface="Arial"/>
                <a:cs typeface="Arial"/>
                <a:sym typeface="Arial"/>
              </a:rPr>
              <a:t>l</a:t>
            </a:r>
            <a:endParaRPr/>
          </a:p>
        </p:txBody>
      </p:sp>
      <p:sp>
        <p:nvSpPr>
          <p:cNvPr id="714" name="Google Shape;714;p27"/>
          <p:cNvSpPr/>
          <p:nvPr/>
        </p:nvSpPr>
        <p:spPr>
          <a:xfrm>
            <a:off x="8775496" y="4148358"/>
            <a:ext cx="2136038" cy="282659"/>
          </a:xfrm>
          <a:prstGeom prst="rect">
            <a:avLst/>
          </a:prstGeom>
          <a:solidFill>
            <a:srgbClr val="08080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15" name="Google Shape;715;p27"/>
          <p:cNvSpPr/>
          <p:nvPr/>
        </p:nvSpPr>
        <p:spPr>
          <a:xfrm>
            <a:off x="8775496" y="4148358"/>
            <a:ext cx="1317223" cy="282659"/>
          </a:xfrm>
          <a:prstGeom prst="rect">
            <a:avLst/>
          </a:prstGeom>
          <a:solidFill>
            <a:srgbClr val="FECE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16" name="Google Shape;716;p27"/>
          <p:cNvSpPr txBox="1"/>
          <p:nvPr/>
        </p:nvSpPr>
        <p:spPr>
          <a:xfrm>
            <a:off x="10966399" y="4086526"/>
            <a:ext cx="59436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50" u="none" cap="none" strike="noStrike">
                <a:solidFill>
                  <a:srgbClr val="FECE00"/>
                </a:solidFill>
                <a:latin typeface="Arial"/>
                <a:ea typeface="Arial"/>
                <a:cs typeface="Arial"/>
                <a:sym typeface="Arial"/>
              </a:rPr>
              <a:t>7.4%</a:t>
            </a:r>
            <a:endParaRPr/>
          </a:p>
        </p:txBody>
      </p:sp>
      <p:sp>
        <p:nvSpPr>
          <p:cNvPr id="717" name="Google Shape;717;p27"/>
          <p:cNvSpPr txBox="1"/>
          <p:nvPr/>
        </p:nvSpPr>
        <p:spPr>
          <a:xfrm>
            <a:off x="7345375" y="4740176"/>
            <a:ext cx="1338681"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00" u="none" cap="none" strike="noStrike">
                <a:solidFill>
                  <a:srgbClr val="FFFFFF"/>
                </a:solidFill>
                <a:latin typeface="Arial"/>
                <a:ea typeface="Arial"/>
                <a:cs typeface="Arial"/>
                <a:sym typeface="Arial"/>
              </a:rPr>
              <a:t>monto</a:t>
            </a:r>
            <a:endParaRPr/>
          </a:p>
        </p:txBody>
      </p:sp>
      <p:sp>
        <p:nvSpPr>
          <p:cNvPr id="718" name="Google Shape;718;p27"/>
          <p:cNvSpPr/>
          <p:nvPr/>
        </p:nvSpPr>
        <p:spPr>
          <a:xfrm>
            <a:off x="8775496" y="5031668"/>
            <a:ext cx="2136038" cy="282659"/>
          </a:xfrm>
          <a:prstGeom prst="rect">
            <a:avLst/>
          </a:prstGeom>
          <a:solidFill>
            <a:srgbClr val="08080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19" name="Google Shape;719;p27"/>
          <p:cNvSpPr/>
          <p:nvPr/>
        </p:nvSpPr>
        <p:spPr>
          <a:xfrm>
            <a:off x="8775496" y="5031668"/>
            <a:ext cx="1299423" cy="282659"/>
          </a:xfrm>
          <a:prstGeom prst="rect">
            <a:avLst/>
          </a:prstGeom>
          <a:solidFill>
            <a:srgbClr val="FECE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20" name="Google Shape;720;p27"/>
          <p:cNvSpPr txBox="1"/>
          <p:nvPr/>
        </p:nvSpPr>
        <p:spPr>
          <a:xfrm>
            <a:off x="10966399" y="4969837"/>
            <a:ext cx="59436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50" u="none" cap="none" strike="noStrike">
                <a:solidFill>
                  <a:srgbClr val="FECE00"/>
                </a:solidFill>
                <a:latin typeface="Arial"/>
                <a:ea typeface="Arial"/>
                <a:cs typeface="Arial"/>
                <a:sym typeface="Arial"/>
              </a:rPr>
              <a:t>7.3%</a:t>
            </a:r>
            <a:endParaRPr/>
          </a:p>
        </p:txBody>
      </p:sp>
      <p:sp>
        <p:nvSpPr>
          <p:cNvPr id="721" name="Google Shape;721;p27"/>
          <p:cNvSpPr txBox="1"/>
          <p:nvPr/>
        </p:nvSpPr>
        <p:spPr>
          <a:xfrm>
            <a:off x="7345375" y="5623486"/>
            <a:ext cx="1338681"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00" u="none" cap="none" strike="noStrike">
                <a:solidFill>
                  <a:srgbClr val="FFFFFF"/>
                </a:solidFill>
                <a:latin typeface="Arial"/>
                <a:ea typeface="Arial"/>
                <a:cs typeface="Arial"/>
                <a:sym typeface="Arial"/>
              </a:rPr>
              <a:t>c</a:t>
            </a:r>
            <a:endParaRPr/>
          </a:p>
        </p:txBody>
      </p:sp>
      <p:sp>
        <p:nvSpPr>
          <p:cNvPr id="722" name="Google Shape;722;p27"/>
          <p:cNvSpPr/>
          <p:nvPr/>
        </p:nvSpPr>
        <p:spPr>
          <a:xfrm>
            <a:off x="8775496" y="5914979"/>
            <a:ext cx="2136038" cy="282659"/>
          </a:xfrm>
          <a:prstGeom prst="rect">
            <a:avLst/>
          </a:prstGeom>
          <a:solidFill>
            <a:srgbClr val="08080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23" name="Google Shape;723;p27"/>
          <p:cNvSpPr/>
          <p:nvPr/>
        </p:nvSpPr>
        <p:spPr>
          <a:xfrm>
            <a:off x="8775496" y="5914979"/>
            <a:ext cx="1281623" cy="282659"/>
          </a:xfrm>
          <a:prstGeom prst="rect">
            <a:avLst/>
          </a:prstGeom>
          <a:solidFill>
            <a:srgbClr val="FECE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24" name="Google Shape;724;p27"/>
          <p:cNvSpPr txBox="1"/>
          <p:nvPr/>
        </p:nvSpPr>
        <p:spPr>
          <a:xfrm>
            <a:off x="10966399" y="5853147"/>
            <a:ext cx="59436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50" u="none" cap="none" strike="noStrike">
                <a:solidFill>
                  <a:srgbClr val="FECE00"/>
                </a:solidFill>
                <a:latin typeface="Arial"/>
                <a:ea typeface="Arial"/>
                <a:cs typeface="Arial"/>
                <a:sym typeface="Arial"/>
              </a:rPr>
              <a:t>7.2%</a:t>
            </a:r>
            <a:endParaRPr/>
          </a:p>
        </p:txBody>
      </p:sp>
      <p:sp>
        <p:nvSpPr>
          <p:cNvPr id="725" name="Google Shape;725;p27"/>
          <p:cNvSpPr/>
          <p:nvPr/>
        </p:nvSpPr>
        <p:spPr>
          <a:xfrm>
            <a:off x="0" y="6537960"/>
            <a:ext cx="12191695" cy="320040"/>
          </a:xfrm>
          <a:prstGeom prst="rect">
            <a:avLst/>
          </a:prstGeom>
          <a:solidFill>
            <a:srgbClr val="0A0A0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nvGrpSpPr>
          <p:cNvPr id="726" name="Google Shape;726;p27"/>
          <p:cNvGrpSpPr/>
          <p:nvPr/>
        </p:nvGrpSpPr>
        <p:grpSpPr>
          <a:xfrm>
            <a:off x="12" y="6223211"/>
            <a:ext cx="634800" cy="634800"/>
            <a:chOff x="12" y="4508711"/>
            <a:chExt cx="634800" cy="634800"/>
          </a:xfrm>
        </p:grpSpPr>
        <p:sp>
          <p:nvSpPr>
            <p:cNvPr id="727" name="Google Shape;727;p27"/>
            <p:cNvSpPr/>
            <p:nvPr/>
          </p:nvSpPr>
          <p:spPr>
            <a:xfrm>
              <a:off x="12" y="4508711"/>
              <a:ext cx="634800" cy="634800"/>
            </a:xfrm>
            <a:prstGeom prst="round1Rect">
              <a:avLst>
                <a:gd fmla="val 28797" name="adj"/>
              </a:avLst>
            </a:prstGeom>
            <a:solidFill>
              <a:srgbClr val="FFD1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728" name="Google Shape;728;p27"/>
            <p:cNvPicPr preferRelativeResize="0"/>
            <p:nvPr/>
          </p:nvPicPr>
          <p:blipFill>
            <a:blip r:embed="rId3">
              <a:alphaModFix/>
            </a:blip>
            <a:stretch>
              <a:fillRect/>
            </a:stretch>
          </p:blipFill>
          <p:spPr>
            <a:xfrm>
              <a:off x="124673" y="4689253"/>
              <a:ext cx="397051" cy="273714"/>
            </a:xfrm>
            <a:prstGeom prst="rect">
              <a:avLst/>
            </a:prstGeom>
            <a:noFill/>
            <a:ln>
              <a:noFill/>
            </a:ln>
          </p:spPr>
        </p:pic>
      </p:grpSp>
      <p:sp>
        <p:nvSpPr>
          <p:cNvPr id="729" name="Google Shape;729;p27"/>
          <p:cNvSpPr/>
          <p:nvPr/>
        </p:nvSpPr>
        <p:spPr>
          <a:xfrm rot="10800000">
            <a:off x="11736276" y="0"/>
            <a:ext cx="455400" cy="421500"/>
          </a:xfrm>
          <a:prstGeom prst="corner">
            <a:avLst>
              <a:gd fmla="val 39228" name="adj1"/>
              <a:gd fmla="val 38336" name="adj2"/>
            </a:avLst>
          </a:prstGeom>
          <a:solidFill>
            <a:srgbClr val="FFD100"/>
          </a:solidFill>
          <a:ln>
            <a:noFill/>
          </a:ln>
        </p:spPr>
        <p:txBody>
          <a:bodyPr anchorCtr="0" anchor="ctr" bIns="60950" lIns="60950" spcFirstLastPara="1" rIns="60950" wrap="square" tIns="60950">
            <a:noAutofit/>
          </a:bodyPr>
          <a:lstStyle/>
          <a:p>
            <a:pPr indent="0" lvl="0" marL="0" rtl="0" algn="l">
              <a:spcBef>
                <a:spcPts val="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3" name="Shape 733"/>
        <p:cNvGrpSpPr/>
        <p:nvPr/>
      </p:nvGrpSpPr>
      <p:grpSpPr>
        <a:xfrm>
          <a:off x="0" y="0"/>
          <a:ext cx="0" cy="0"/>
          <a:chOff x="0" y="0"/>
          <a:chExt cx="0" cy="0"/>
        </a:xfrm>
      </p:grpSpPr>
      <p:sp>
        <p:nvSpPr>
          <p:cNvPr id="734" name="Google Shape;734;p28"/>
          <p:cNvSpPr/>
          <p:nvPr/>
        </p:nvSpPr>
        <p:spPr>
          <a:xfrm>
            <a:off x="0" y="0"/>
            <a:ext cx="12191695" cy="6858000"/>
          </a:xfrm>
          <a:prstGeom prst="rect">
            <a:avLst/>
          </a:prstGeom>
          <a:solidFill>
            <a:srgbClr val="1A1A1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35" name="Google Shape;735;p28"/>
          <p:cNvSpPr/>
          <p:nvPr/>
        </p:nvSpPr>
        <p:spPr>
          <a:xfrm>
            <a:off x="502920" y="457200"/>
            <a:ext cx="54864" cy="777240"/>
          </a:xfrm>
          <a:prstGeom prst="rect">
            <a:avLst/>
          </a:prstGeom>
          <a:solidFill>
            <a:srgbClr val="FECE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36" name="Google Shape;736;p28"/>
          <p:cNvSpPr txBox="1"/>
          <p:nvPr/>
        </p:nvSpPr>
        <p:spPr>
          <a:xfrm>
            <a:off x="685800" y="457200"/>
            <a:ext cx="1051560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300" u="none" cap="none" strike="noStrike">
                <a:solidFill>
                  <a:srgbClr val="B0B0B0"/>
                </a:solidFill>
                <a:latin typeface="Arial"/>
                <a:ea typeface="Arial"/>
                <a:cs typeface="Arial"/>
                <a:sym typeface="Arial"/>
              </a:rPr>
              <a:t>03_MODEL_SELECTION — 02_simulation_model_prod.ipynb</a:t>
            </a:r>
            <a:endParaRPr/>
          </a:p>
        </p:txBody>
      </p:sp>
      <p:sp>
        <p:nvSpPr>
          <p:cNvPr id="737" name="Google Shape;737;p28"/>
          <p:cNvSpPr txBox="1"/>
          <p:nvPr/>
        </p:nvSpPr>
        <p:spPr>
          <a:xfrm>
            <a:off x="658368" y="749808"/>
            <a:ext cx="10607040" cy="5943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600" u="none" cap="none" strike="noStrike">
                <a:solidFill>
                  <a:srgbClr val="FFFFFF"/>
                </a:solidFill>
                <a:latin typeface="Arial"/>
                <a:ea typeface="Arial"/>
                <a:cs typeface="Arial"/>
                <a:sym typeface="Arial"/>
              </a:rPr>
              <a:t>SIMULACIÓN DEL MODELO EN PRODUCCIÓN</a:t>
            </a:r>
            <a:endParaRPr/>
          </a:p>
        </p:txBody>
      </p:sp>
      <p:sp>
        <p:nvSpPr>
          <p:cNvPr id="738" name="Google Shape;738;p28"/>
          <p:cNvSpPr/>
          <p:nvPr/>
        </p:nvSpPr>
        <p:spPr>
          <a:xfrm>
            <a:off x="640080" y="1691640"/>
            <a:ext cx="2452878" cy="1554480"/>
          </a:xfrm>
          <a:prstGeom prst="rect">
            <a:avLst/>
          </a:prstGeom>
          <a:solidFill>
            <a:srgbClr val="111111"/>
          </a:solidFill>
          <a:ln cap="flat" cmpd="sng" w="15875">
            <a:solidFill>
              <a:srgbClr val="01B1E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39" name="Google Shape;739;p28"/>
          <p:cNvSpPr txBox="1"/>
          <p:nvPr/>
        </p:nvSpPr>
        <p:spPr>
          <a:xfrm>
            <a:off x="777240" y="1920240"/>
            <a:ext cx="2178558" cy="36576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300" u="none" cap="none" strike="noStrike">
                <a:solidFill>
                  <a:srgbClr val="FECE00"/>
                </a:solidFill>
                <a:latin typeface="Arial"/>
                <a:ea typeface="Arial"/>
                <a:cs typeface="Arial"/>
                <a:sym typeface="Arial"/>
              </a:rPr>
              <a:t>Request API</a:t>
            </a:r>
            <a:endParaRPr/>
          </a:p>
        </p:txBody>
      </p:sp>
      <p:sp>
        <p:nvSpPr>
          <p:cNvPr id="740" name="Google Shape;740;p28"/>
          <p:cNvSpPr txBox="1"/>
          <p:nvPr/>
        </p:nvSpPr>
        <p:spPr>
          <a:xfrm>
            <a:off x="777240" y="2377440"/>
            <a:ext cx="2178558" cy="77724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0" i="0" lang="en-US" sz="950" u="none" cap="none" strike="noStrike">
                <a:solidFill>
                  <a:srgbClr val="B0B0B0"/>
                </a:solidFill>
                <a:latin typeface="Arial"/>
                <a:ea typeface="Arial"/>
                <a:cs typeface="Arial"/>
                <a:sym typeface="Arial"/>
              </a:rPr>
              <a:t>transacción cruda (a...p, monto, score, fecha)</a:t>
            </a:r>
            <a:endParaRPr/>
          </a:p>
        </p:txBody>
      </p:sp>
      <p:sp>
        <p:nvSpPr>
          <p:cNvPr id="741" name="Google Shape;741;p28"/>
          <p:cNvSpPr/>
          <p:nvPr/>
        </p:nvSpPr>
        <p:spPr>
          <a:xfrm>
            <a:off x="3166110" y="2304288"/>
            <a:ext cx="256032" cy="329184"/>
          </a:xfrm>
          <a:prstGeom prst="chevron">
            <a:avLst>
              <a:gd fmla="val 50000" name="adj"/>
            </a:avLst>
          </a:prstGeom>
          <a:solidFill>
            <a:srgbClr val="01B1E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42" name="Google Shape;742;p28"/>
          <p:cNvSpPr/>
          <p:nvPr/>
        </p:nvSpPr>
        <p:spPr>
          <a:xfrm>
            <a:off x="3458718" y="1691640"/>
            <a:ext cx="2452878" cy="1554480"/>
          </a:xfrm>
          <a:prstGeom prst="rect">
            <a:avLst/>
          </a:prstGeom>
          <a:solidFill>
            <a:srgbClr val="111111"/>
          </a:solidFill>
          <a:ln cap="flat" cmpd="sng" w="15875">
            <a:solidFill>
              <a:srgbClr val="01B1E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43" name="Google Shape;743;p28"/>
          <p:cNvSpPr txBox="1"/>
          <p:nvPr/>
        </p:nvSpPr>
        <p:spPr>
          <a:xfrm>
            <a:off x="3595877" y="1920240"/>
            <a:ext cx="2178558" cy="36576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300" u="none" cap="none" strike="noStrike">
                <a:solidFill>
                  <a:srgbClr val="FECE00"/>
                </a:solidFill>
                <a:latin typeface="Arial"/>
                <a:ea typeface="Arial"/>
                <a:cs typeface="Arial"/>
                <a:sym typeface="Arial"/>
              </a:rPr>
              <a:t>preprocessor</a:t>
            </a:r>
            <a:endParaRPr/>
          </a:p>
        </p:txBody>
      </p:sp>
      <p:sp>
        <p:nvSpPr>
          <p:cNvPr id="744" name="Google Shape;744;p28"/>
          <p:cNvSpPr txBox="1"/>
          <p:nvPr/>
        </p:nvSpPr>
        <p:spPr>
          <a:xfrm>
            <a:off x="3595877" y="2377440"/>
            <a:ext cx="2178558" cy="77724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0" i="0" lang="en-US" sz="950" u="none" cap="none" strike="noStrike">
                <a:solidFill>
                  <a:srgbClr val="B0B0B0"/>
                </a:solidFill>
                <a:latin typeface="Arial"/>
                <a:ea typeface="Arial"/>
                <a:cs typeface="Arial"/>
                <a:sym typeface="Arial"/>
              </a:rPr>
              <a:t>imputación, encoding, agregaciones</a:t>
            </a:r>
            <a:endParaRPr/>
          </a:p>
        </p:txBody>
      </p:sp>
      <p:sp>
        <p:nvSpPr>
          <p:cNvPr id="745" name="Google Shape;745;p28"/>
          <p:cNvSpPr/>
          <p:nvPr/>
        </p:nvSpPr>
        <p:spPr>
          <a:xfrm>
            <a:off x="5984748" y="2304288"/>
            <a:ext cx="256032" cy="329184"/>
          </a:xfrm>
          <a:prstGeom prst="chevron">
            <a:avLst>
              <a:gd fmla="val 50000" name="adj"/>
            </a:avLst>
          </a:prstGeom>
          <a:solidFill>
            <a:srgbClr val="01B1E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46" name="Google Shape;746;p28"/>
          <p:cNvSpPr/>
          <p:nvPr/>
        </p:nvSpPr>
        <p:spPr>
          <a:xfrm>
            <a:off x="6277356" y="1691640"/>
            <a:ext cx="2452878" cy="1554480"/>
          </a:xfrm>
          <a:prstGeom prst="rect">
            <a:avLst/>
          </a:prstGeom>
          <a:solidFill>
            <a:srgbClr val="111111"/>
          </a:solidFill>
          <a:ln cap="flat" cmpd="sng" w="15875">
            <a:solidFill>
              <a:srgbClr val="01B1E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47" name="Google Shape;747;p28"/>
          <p:cNvSpPr txBox="1"/>
          <p:nvPr/>
        </p:nvSpPr>
        <p:spPr>
          <a:xfrm>
            <a:off x="6414516" y="1920240"/>
            <a:ext cx="2178558" cy="36576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300" u="none" cap="none" strike="noStrike">
                <a:solidFill>
                  <a:srgbClr val="FECE00"/>
                </a:solidFill>
                <a:latin typeface="Arial"/>
                <a:ea typeface="Arial"/>
                <a:cs typeface="Arial"/>
                <a:sym typeface="Arial"/>
              </a:rPr>
              <a:t>post_encode</a:t>
            </a:r>
            <a:endParaRPr/>
          </a:p>
        </p:txBody>
      </p:sp>
      <p:sp>
        <p:nvSpPr>
          <p:cNvPr id="748" name="Google Shape;748;p28"/>
          <p:cNvSpPr txBox="1"/>
          <p:nvPr/>
        </p:nvSpPr>
        <p:spPr>
          <a:xfrm>
            <a:off x="6414516" y="2377440"/>
            <a:ext cx="2178558" cy="77724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0" i="0" lang="en-US" sz="950" u="none" cap="none" strike="noStrike">
                <a:solidFill>
                  <a:srgbClr val="B0B0B0"/>
                </a:solidFill>
                <a:latin typeface="Arial"/>
                <a:ea typeface="Arial"/>
                <a:cs typeface="Arial"/>
                <a:sym typeface="Arial"/>
              </a:rPr>
              <a:t>transformaciones finales</a:t>
            </a:r>
            <a:endParaRPr/>
          </a:p>
        </p:txBody>
      </p:sp>
      <p:sp>
        <p:nvSpPr>
          <p:cNvPr id="749" name="Google Shape;749;p28"/>
          <p:cNvSpPr/>
          <p:nvPr/>
        </p:nvSpPr>
        <p:spPr>
          <a:xfrm>
            <a:off x="8803386" y="2304288"/>
            <a:ext cx="256032" cy="329184"/>
          </a:xfrm>
          <a:prstGeom prst="chevron">
            <a:avLst>
              <a:gd fmla="val 50000" name="adj"/>
            </a:avLst>
          </a:prstGeom>
          <a:solidFill>
            <a:srgbClr val="01B1E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50" name="Google Shape;750;p28"/>
          <p:cNvSpPr/>
          <p:nvPr/>
        </p:nvSpPr>
        <p:spPr>
          <a:xfrm>
            <a:off x="9095994" y="1691640"/>
            <a:ext cx="2452878" cy="1554480"/>
          </a:xfrm>
          <a:prstGeom prst="rect">
            <a:avLst/>
          </a:prstGeom>
          <a:solidFill>
            <a:srgbClr val="111111"/>
          </a:solidFill>
          <a:ln cap="flat" cmpd="sng" w="15875">
            <a:solidFill>
              <a:srgbClr val="01B1E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51" name="Google Shape;751;p28"/>
          <p:cNvSpPr txBox="1"/>
          <p:nvPr/>
        </p:nvSpPr>
        <p:spPr>
          <a:xfrm>
            <a:off x="9233154" y="1920240"/>
            <a:ext cx="2178558" cy="36576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300" u="none" cap="none" strike="noStrike">
                <a:solidFill>
                  <a:srgbClr val="FECE00"/>
                </a:solidFill>
                <a:latin typeface="Arial"/>
                <a:ea typeface="Arial"/>
                <a:cs typeface="Arial"/>
                <a:sym typeface="Arial"/>
              </a:rPr>
              <a:t>clf (LightGBM)</a:t>
            </a:r>
            <a:endParaRPr/>
          </a:p>
        </p:txBody>
      </p:sp>
      <p:sp>
        <p:nvSpPr>
          <p:cNvPr id="752" name="Google Shape;752;p28"/>
          <p:cNvSpPr txBox="1"/>
          <p:nvPr/>
        </p:nvSpPr>
        <p:spPr>
          <a:xfrm>
            <a:off x="9233154" y="2377440"/>
            <a:ext cx="2178558" cy="77724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0" i="0" lang="en-US" sz="950" u="none" cap="none" strike="noStrike">
                <a:solidFill>
                  <a:srgbClr val="B0B0B0"/>
                </a:solidFill>
                <a:latin typeface="Arial"/>
                <a:ea typeface="Arial"/>
                <a:cs typeface="Arial"/>
                <a:sym typeface="Arial"/>
              </a:rPr>
              <a:t>P(fraude)</a:t>
            </a:r>
            <a:endParaRPr/>
          </a:p>
        </p:txBody>
      </p:sp>
      <p:sp>
        <p:nvSpPr>
          <p:cNvPr id="753" name="Google Shape;753;p28"/>
          <p:cNvSpPr/>
          <p:nvPr/>
        </p:nvSpPr>
        <p:spPr>
          <a:xfrm>
            <a:off x="640080" y="3566160"/>
            <a:ext cx="3453384" cy="1600200"/>
          </a:xfrm>
          <a:prstGeom prst="rect">
            <a:avLst/>
          </a:prstGeom>
          <a:solidFill>
            <a:srgbClr val="111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54" name="Google Shape;754;p28"/>
          <p:cNvSpPr/>
          <p:nvPr/>
        </p:nvSpPr>
        <p:spPr>
          <a:xfrm>
            <a:off x="640080" y="3566160"/>
            <a:ext cx="54864" cy="1600200"/>
          </a:xfrm>
          <a:prstGeom prst="rect">
            <a:avLst/>
          </a:prstGeom>
          <a:solidFill>
            <a:srgbClr val="FECE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55" name="Google Shape;755;p28"/>
          <p:cNvSpPr txBox="1"/>
          <p:nvPr/>
        </p:nvSpPr>
        <p:spPr>
          <a:xfrm>
            <a:off x="868680" y="3749039"/>
            <a:ext cx="3087624"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800" u="none" cap="none" strike="noStrike">
                <a:solidFill>
                  <a:srgbClr val="FECE00"/>
                </a:solidFill>
                <a:latin typeface="Arial"/>
                <a:ea typeface="Arial"/>
                <a:cs typeface="Arial"/>
                <a:sym typeface="Arial"/>
              </a:rPr>
              <a:t>0.8850</a:t>
            </a:r>
            <a:endParaRPr/>
          </a:p>
        </p:txBody>
      </p:sp>
      <p:sp>
        <p:nvSpPr>
          <p:cNvPr id="756" name="Google Shape;756;p28"/>
          <p:cNvSpPr txBox="1"/>
          <p:nvPr/>
        </p:nvSpPr>
        <p:spPr>
          <a:xfrm>
            <a:off x="868680" y="4343400"/>
            <a:ext cx="3087624" cy="685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100" u="none" cap="none" strike="noStrike">
                <a:solidFill>
                  <a:srgbClr val="B0B0B0"/>
                </a:solidFill>
                <a:latin typeface="Arial"/>
                <a:ea typeface="Arial"/>
                <a:cs typeface="Arial"/>
                <a:sym typeface="Arial"/>
              </a:rPr>
              <a:t>AUC reproducido (idéntico al esperado)</a:t>
            </a:r>
            <a:endParaRPr/>
          </a:p>
        </p:txBody>
      </p:sp>
      <p:sp>
        <p:nvSpPr>
          <p:cNvPr id="757" name="Google Shape;757;p28"/>
          <p:cNvSpPr/>
          <p:nvPr/>
        </p:nvSpPr>
        <p:spPr>
          <a:xfrm>
            <a:off x="4367784" y="3566160"/>
            <a:ext cx="3453384" cy="1600200"/>
          </a:xfrm>
          <a:prstGeom prst="rect">
            <a:avLst/>
          </a:prstGeom>
          <a:solidFill>
            <a:srgbClr val="111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58" name="Google Shape;758;p28"/>
          <p:cNvSpPr/>
          <p:nvPr/>
        </p:nvSpPr>
        <p:spPr>
          <a:xfrm>
            <a:off x="4367784" y="3566160"/>
            <a:ext cx="54864" cy="1600200"/>
          </a:xfrm>
          <a:prstGeom prst="rect">
            <a:avLst/>
          </a:prstGeom>
          <a:solidFill>
            <a:srgbClr val="FECE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59" name="Google Shape;759;p28"/>
          <p:cNvSpPr txBox="1"/>
          <p:nvPr/>
        </p:nvSpPr>
        <p:spPr>
          <a:xfrm>
            <a:off x="4596384" y="3749039"/>
            <a:ext cx="3087624"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800" u="none" cap="none" strike="noStrike">
                <a:solidFill>
                  <a:srgbClr val="FECE00"/>
                </a:solidFill>
                <a:latin typeface="Arial"/>
                <a:ea typeface="Arial"/>
                <a:cs typeface="Arial"/>
                <a:sym typeface="Arial"/>
              </a:rPr>
              <a:t>0.0209</a:t>
            </a:r>
            <a:endParaRPr/>
          </a:p>
        </p:txBody>
      </p:sp>
      <p:sp>
        <p:nvSpPr>
          <p:cNvPr id="760" name="Google Shape;760;p28"/>
          <p:cNvSpPr txBox="1"/>
          <p:nvPr/>
        </p:nvSpPr>
        <p:spPr>
          <a:xfrm>
            <a:off x="4596384" y="4343400"/>
            <a:ext cx="3087624" cy="685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100" u="none" cap="none" strike="noStrike">
                <a:solidFill>
                  <a:srgbClr val="B0B0B0"/>
                </a:solidFill>
                <a:latin typeface="Arial"/>
                <a:ea typeface="Arial"/>
                <a:cs typeface="Arial"/>
                <a:sym typeface="Arial"/>
              </a:rPr>
              <a:t>P(fraude) transacción → LEGÍTIMA (TH fijo y TH óptimo)</a:t>
            </a:r>
            <a:endParaRPr/>
          </a:p>
        </p:txBody>
      </p:sp>
      <p:sp>
        <p:nvSpPr>
          <p:cNvPr id="761" name="Google Shape;761;p28"/>
          <p:cNvSpPr/>
          <p:nvPr/>
        </p:nvSpPr>
        <p:spPr>
          <a:xfrm>
            <a:off x="8095488" y="3566160"/>
            <a:ext cx="3453384" cy="1600200"/>
          </a:xfrm>
          <a:prstGeom prst="rect">
            <a:avLst/>
          </a:prstGeom>
          <a:solidFill>
            <a:srgbClr val="111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62" name="Google Shape;762;p28"/>
          <p:cNvSpPr/>
          <p:nvPr/>
        </p:nvSpPr>
        <p:spPr>
          <a:xfrm>
            <a:off x="8095488" y="3566160"/>
            <a:ext cx="54864" cy="1600200"/>
          </a:xfrm>
          <a:prstGeom prst="rect">
            <a:avLst/>
          </a:prstGeom>
          <a:solidFill>
            <a:srgbClr val="FECE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63" name="Google Shape;763;p28"/>
          <p:cNvSpPr txBox="1"/>
          <p:nvPr/>
        </p:nvSpPr>
        <p:spPr>
          <a:xfrm>
            <a:off x="8324088" y="3749039"/>
            <a:ext cx="3087624"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800" u="none" cap="none" strike="noStrike">
                <a:solidFill>
                  <a:srgbClr val="FECE00"/>
                </a:solidFill>
                <a:latin typeface="Arial"/>
                <a:ea typeface="Arial"/>
                <a:cs typeface="Arial"/>
                <a:sym typeface="Arial"/>
              </a:rPr>
              <a:t>0.0062</a:t>
            </a:r>
            <a:endParaRPr/>
          </a:p>
        </p:txBody>
      </p:sp>
      <p:sp>
        <p:nvSpPr>
          <p:cNvPr id="764" name="Google Shape;764;p28"/>
          <p:cNvSpPr txBox="1"/>
          <p:nvPr/>
        </p:nvSpPr>
        <p:spPr>
          <a:xfrm>
            <a:off x="8324088" y="4343400"/>
            <a:ext cx="3087624" cy="685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100" u="none" cap="none" strike="noStrike">
                <a:solidFill>
                  <a:srgbClr val="B0B0B0"/>
                </a:solidFill>
                <a:latin typeface="Arial"/>
                <a:ea typeface="Arial"/>
                <a:cs typeface="Arial"/>
                <a:sym typeface="Arial"/>
              </a:rPr>
              <a:t>P(fraude) con categorías j/g nunca vistas — no falla</a:t>
            </a:r>
            <a:endParaRPr/>
          </a:p>
        </p:txBody>
      </p:sp>
      <p:sp>
        <p:nvSpPr>
          <p:cNvPr id="765" name="Google Shape;765;p28"/>
          <p:cNvSpPr/>
          <p:nvPr/>
        </p:nvSpPr>
        <p:spPr>
          <a:xfrm>
            <a:off x="640080" y="5394960"/>
            <a:ext cx="10908792" cy="914400"/>
          </a:xfrm>
          <a:prstGeom prst="rect">
            <a:avLst/>
          </a:prstGeom>
          <a:solidFill>
            <a:srgbClr val="1412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66" name="Google Shape;766;p28"/>
          <p:cNvSpPr/>
          <p:nvPr/>
        </p:nvSpPr>
        <p:spPr>
          <a:xfrm>
            <a:off x="640080" y="5394960"/>
            <a:ext cx="54864" cy="914400"/>
          </a:xfrm>
          <a:prstGeom prst="rect">
            <a:avLst/>
          </a:prstGeom>
          <a:solidFill>
            <a:srgbClr val="FECE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67" name="Google Shape;767;p28"/>
          <p:cNvSpPr txBox="1"/>
          <p:nvPr/>
        </p:nvSpPr>
        <p:spPr>
          <a:xfrm>
            <a:off x="868680" y="5486400"/>
            <a:ext cx="10424160" cy="73152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150" u="none" cap="none" strike="noStrike">
                <a:solidFill>
                  <a:srgbClr val="FFFFFF"/>
                </a:solidFill>
                <a:latin typeface="Arial"/>
                <a:ea typeface="Arial"/>
                <a:cs typeface="Arial"/>
                <a:sym typeface="Arial"/>
              </a:rPr>
              <a:t>El pipeline completo (preprocesamiento + modelo) es autocontenido y reproducible fuera del entorno de entrenamiento — condición necesaria para un despliegue confiable.</a:t>
            </a:r>
            <a:endParaRPr/>
          </a:p>
        </p:txBody>
      </p:sp>
      <p:sp>
        <p:nvSpPr>
          <p:cNvPr id="768" name="Google Shape;768;p28"/>
          <p:cNvSpPr/>
          <p:nvPr/>
        </p:nvSpPr>
        <p:spPr>
          <a:xfrm>
            <a:off x="0" y="6537960"/>
            <a:ext cx="12191695" cy="320040"/>
          </a:xfrm>
          <a:prstGeom prst="rect">
            <a:avLst/>
          </a:prstGeom>
          <a:solidFill>
            <a:srgbClr val="0A0A0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nvGrpSpPr>
          <p:cNvPr id="769" name="Google Shape;769;p28"/>
          <p:cNvGrpSpPr/>
          <p:nvPr/>
        </p:nvGrpSpPr>
        <p:grpSpPr>
          <a:xfrm>
            <a:off x="12" y="6223211"/>
            <a:ext cx="634800" cy="634800"/>
            <a:chOff x="12" y="4508711"/>
            <a:chExt cx="634800" cy="634800"/>
          </a:xfrm>
        </p:grpSpPr>
        <p:sp>
          <p:nvSpPr>
            <p:cNvPr id="770" name="Google Shape;770;p28"/>
            <p:cNvSpPr/>
            <p:nvPr/>
          </p:nvSpPr>
          <p:spPr>
            <a:xfrm>
              <a:off x="12" y="4508711"/>
              <a:ext cx="634800" cy="634800"/>
            </a:xfrm>
            <a:prstGeom prst="round1Rect">
              <a:avLst>
                <a:gd fmla="val 28797" name="adj"/>
              </a:avLst>
            </a:prstGeom>
            <a:solidFill>
              <a:srgbClr val="FFD1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771" name="Google Shape;771;p28"/>
            <p:cNvPicPr preferRelativeResize="0"/>
            <p:nvPr/>
          </p:nvPicPr>
          <p:blipFill>
            <a:blip r:embed="rId3">
              <a:alphaModFix/>
            </a:blip>
            <a:stretch>
              <a:fillRect/>
            </a:stretch>
          </p:blipFill>
          <p:spPr>
            <a:xfrm>
              <a:off x="124673" y="4689253"/>
              <a:ext cx="397051" cy="273714"/>
            </a:xfrm>
            <a:prstGeom prst="rect">
              <a:avLst/>
            </a:prstGeom>
            <a:noFill/>
            <a:ln>
              <a:noFill/>
            </a:ln>
          </p:spPr>
        </p:pic>
      </p:grpSp>
      <p:sp>
        <p:nvSpPr>
          <p:cNvPr id="772" name="Google Shape;772;p28"/>
          <p:cNvSpPr/>
          <p:nvPr/>
        </p:nvSpPr>
        <p:spPr>
          <a:xfrm rot="10800000">
            <a:off x="11736276" y="0"/>
            <a:ext cx="455400" cy="421500"/>
          </a:xfrm>
          <a:prstGeom prst="corner">
            <a:avLst>
              <a:gd fmla="val 39228" name="adj1"/>
              <a:gd fmla="val 38336" name="adj2"/>
            </a:avLst>
          </a:prstGeom>
          <a:solidFill>
            <a:srgbClr val="FFD100"/>
          </a:solidFill>
          <a:ln>
            <a:noFill/>
          </a:ln>
        </p:spPr>
        <p:txBody>
          <a:bodyPr anchorCtr="0" anchor="ctr" bIns="60950" lIns="60950" spcFirstLastPara="1" rIns="60950" wrap="square" tIns="60950">
            <a:noAutofit/>
          </a:bodyPr>
          <a:lstStyle/>
          <a:p>
            <a:pPr indent="0" lvl="0" marL="0" rtl="0" algn="l">
              <a:spcBef>
                <a:spcPts val="0"/>
              </a:spcBef>
              <a:spcAft>
                <a:spcPts val="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p29"/>
          <p:cNvSpPr/>
          <p:nvPr/>
        </p:nvSpPr>
        <p:spPr>
          <a:xfrm>
            <a:off x="0" y="0"/>
            <a:ext cx="12191695" cy="6858000"/>
          </a:xfrm>
          <a:prstGeom prst="rect">
            <a:avLst/>
          </a:prstGeom>
          <a:solidFill>
            <a:srgbClr val="1A1A1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78" name="Google Shape;778;p29"/>
          <p:cNvSpPr/>
          <p:nvPr/>
        </p:nvSpPr>
        <p:spPr>
          <a:xfrm>
            <a:off x="502920" y="457200"/>
            <a:ext cx="54864" cy="777240"/>
          </a:xfrm>
          <a:prstGeom prst="rect">
            <a:avLst/>
          </a:prstGeom>
          <a:solidFill>
            <a:srgbClr val="FECE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79" name="Google Shape;779;p29"/>
          <p:cNvSpPr txBox="1"/>
          <p:nvPr/>
        </p:nvSpPr>
        <p:spPr>
          <a:xfrm>
            <a:off x="685800" y="457200"/>
            <a:ext cx="1051560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300" u="none" cap="none" strike="noStrike">
                <a:solidFill>
                  <a:srgbClr val="B0B0B0"/>
                </a:solidFill>
                <a:latin typeface="Arial"/>
                <a:ea typeface="Arial"/>
                <a:cs typeface="Arial"/>
                <a:sym typeface="Arial"/>
              </a:rPr>
              <a:t>CONCLUSIONES</a:t>
            </a:r>
            <a:endParaRPr/>
          </a:p>
        </p:txBody>
      </p:sp>
      <p:sp>
        <p:nvSpPr>
          <p:cNvPr id="780" name="Google Shape;780;p29"/>
          <p:cNvSpPr txBox="1"/>
          <p:nvPr/>
        </p:nvSpPr>
        <p:spPr>
          <a:xfrm>
            <a:off x="658368" y="749808"/>
            <a:ext cx="10607040" cy="5943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600" u="none" cap="none" strike="noStrike">
                <a:solidFill>
                  <a:srgbClr val="FFFFFF"/>
                </a:solidFill>
                <a:latin typeface="Arial"/>
                <a:ea typeface="Arial"/>
                <a:cs typeface="Arial"/>
                <a:sym typeface="Arial"/>
              </a:rPr>
              <a:t>CONCLUSIONES GENERALES DEL PROYECTO</a:t>
            </a:r>
            <a:endParaRPr/>
          </a:p>
        </p:txBody>
      </p:sp>
      <p:sp>
        <p:nvSpPr>
          <p:cNvPr id="781" name="Google Shape;781;p29"/>
          <p:cNvSpPr/>
          <p:nvPr/>
        </p:nvSpPr>
        <p:spPr>
          <a:xfrm>
            <a:off x="640080" y="1554480"/>
            <a:ext cx="5341467" cy="1017270"/>
          </a:xfrm>
          <a:prstGeom prst="rect">
            <a:avLst/>
          </a:prstGeom>
          <a:solidFill>
            <a:srgbClr val="111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82" name="Google Shape;782;p29"/>
          <p:cNvSpPr txBox="1"/>
          <p:nvPr/>
        </p:nvSpPr>
        <p:spPr>
          <a:xfrm>
            <a:off x="868680" y="1554480"/>
            <a:ext cx="822960" cy="101727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200" u="none" cap="none" strike="noStrike">
                <a:solidFill>
                  <a:srgbClr val="FECE00"/>
                </a:solidFill>
                <a:latin typeface="Arial"/>
                <a:ea typeface="Arial"/>
                <a:cs typeface="Arial"/>
                <a:sym typeface="Arial"/>
              </a:rPr>
              <a:t>01</a:t>
            </a:r>
            <a:endParaRPr/>
          </a:p>
        </p:txBody>
      </p:sp>
      <p:sp>
        <p:nvSpPr>
          <p:cNvPr id="783" name="Google Shape;783;p29"/>
          <p:cNvSpPr txBox="1"/>
          <p:nvPr/>
        </p:nvSpPr>
        <p:spPr>
          <a:xfrm>
            <a:off x="1554480" y="1717243"/>
            <a:ext cx="4244187" cy="4069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50" u="none" cap="none" strike="noStrike">
                <a:solidFill>
                  <a:srgbClr val="FFFFFF"/>
                </a:solidFill>
                <a:latin typeface="Arial"/>
                <a:ea typeface="Arial"/>
                <a:cs typeface="Arial"/>
                <a:sym typeface="Arial"/>
              </a:rPr>
              <a:t>No es clasificación estándar</a:t>
            </a:r>
            <a:endParaRPr/>
          </a:p>
        </p:txBody>
      </p:sp>
      <p:sp>
        <p:nvSpPr>
          <p:cNvPr id="784" name="Google Shape;784;p29"/>
          <p:cNvSpPr txBox="1"/>
          <p:nvPr/>
        </p:nvSpPr>
        <p:spPr>
          <a:xfrm>
            <a:off x="1554480" y="2083460"/>
            <a:ext cx="4244187" cy="45777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B0B0B0"/>
                </a:solidFill>
                <a:latin typeface="Arial"/>
                <a:ea typeface="Arial"/>
                <a:cs typeface="Arial"/>
                <a:sym typeface="Arial"/>
              </a:rPr>
              <a:t>Optimización de ganancia bajo un costo asimétrico — un FN cuesta 4x más que un FP.</a:t>
            </a:r>
            <a:endParaRPr/>
          </a:p>
        </p:txBody>
      </p:sp>
      <p:sp>
        <p:nvSpPr>
          <p:cNvPr id="785" name="Google Shape;785;p29"/>
          <p:cNvSpPr/>
          <p:nvPr/>
        </p:nvSpPr>
        <p:spPr>
          <a:xfrm>
            <a:off x="640080" y="2800350"/>
            <a:ext cx="5341467" cy="1017270"/>
          </a:xfrm>
          <a:prstGeom prst="rect">
            <a:avLst/>
          </a:prstGeom>
          <a:solidFill>
            <a:srgbClr val="111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86" name="Google Shape;786;p29"/>
          <p:cNvSpPr txBox="1"/>
          <p:nvPr/>
        </p:nvSpPr>
        <p:spPr>
          <a:xfrm>
            <a:off x="868680" y="2800350"/>
            <a:ext cx="822960" cy="101727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200" u="none" cap="none" strike="noStrike">
                <a:solidFill>
                  <a:srgbClr val="FECE00"/>
                </a:solidFill>
                <a:latin typeface="Arial"/>
                <a:ea typeface="Arial"/>
                <a:cs typeface="Arial"/>
                <a:sym typeface="Arial"/>
              </a:rPr>
              <a:t>02</a:t>
            </a:r>
            <a:endParaRPr/>
          </a:p>
        </p:txBody>
      </p:sp>
      <p:sp>
        <p:nvSpPr>
          <p:cNvPr id="787" name="Google Shape;787;p29"/>
          <p:cNvSpPr txBox="1"/>
          <p:nvPr/>
        </p:nvSpPr>
        <p:spPr>
          <a:xfrm>
            <a:off x="1554480" y="2963113"/>
            <a:ext cx="4244187" cy="4069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50" u="none" cap="none" strike="noStrike">
                <a:solidFill>
                  <a:srgbClr val="FFFFFF"/>
                </a:solidFill>
                <a:latin typeface="Arial"/>
                <a:ea typeface="Arial"/>
                <a:cs typeface="Arial"/>
                <a:sym typeface="Arial"/>
              </a:rPr>
              <a:t>Señales identificadas en EDA</a:t>
            </a:r>
            <a:endParaRPr/>
          </a:p>
        </p:txBody>
      </p:sp>
      <p:sp>
        <p:nvSpPr>
          <p:cNvPr id="788" name="Google Shape;788;p29"/>
          <p:cNvSpPr txBox="1"/>
          <p:nvPr/>
        </p:nvSpPr>
        <p:spPr>
          <a:xfrm>
            <a:off x="1554480" y="3329330"/>
            <a:ext cx="4244187" cy="45777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B0B0B0"/>
                </a:solidFill>
                <a:latin typeface="Arial"/>
                <a:ea typeface="Arial"/>
                <a:cs typeface="Arial"/>
                <a:sym typeface="Arial"/>
              </a:rPr>
              <a:t>variables categóricas (j, o, n) y temporales suficientemente fuertes.</a:t>
            </a:r>
            <a:endParaRPr/>
          </a:p>
        </p:txBody>
      </p:sp>
      <p:sp>
        <p:nvSpPr>
          <p:cNvPr id="789" name="Google Shape;789;p29"/>
          <p:cNvSpPr/>
          <p:nvPr/>
        </p:nvSpPr>
        <p:spPr>
          <a:xfrm>
            <a:off x="640080" y="4046220"/>
            <a:ext cx="5341467" cy="1017270"/>
          </a:xfrm>
          <a:prstGeom prst="rect">
            <a:avLst/>
          </a:prstGeom>
          <a:solidFill>
            <a:srgbClr val="111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90" name="Google Shape;790;p29"/>
          <p:cNvSpPr txBox="1"/>
          <p:nvPr/>
        </p:nvSpPr>
        <p:spPr>
          <a:xfrm>
            <a:off x="868680" y="4046220"/>
            <a:ext cx="822960" cy="101727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200" u="none" cap="none" strike="noStrike">
                <a:solidFill>
                  <a:srgbClr val="FECE00"/>
                </a:solidFill>
                <a:latin typeface="Arial"/>
                <a:ea typeface="Arial"/>
                <a:cs typeface="Arial"/>
                <a:sym typeface="Arial"/>
              </a:rPr>
              <a:t>03</a:t>
            </a:r>
            <a:endParaRPr/>
          </a:p>
        </p:txBody>
      </p:sp>
      <p:sp>
        <p:nvSpPr>
          <p:cNvPr id="791" name="Google Shape;791;p29"/>
          <p:cNvSpPr txBox="1"/>
          <p:nvPr/>
        </p:nvSpPr>
        <p:spPr>
          <a:xfrm>
            <a:off x="1554480" y="4208983"/>
            <a:ext cx="4244187" cy="4069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50" u="none" cap="none" strike="noStrike">
                <a:solidFill>
                  <a:srgbClr val="FFFFFF"/>
                </a:solidFill>
                <a:latin typeface="Arial"/>
                <a:ea typeface="Arial"/>
                <a:cs typeface="Arial"/>
                <a:sym typeface="Arial"/>
              </a:rPr>
              <a:t>La calibración del umbral importa</a:t>
            </a:r>
            <a:endParaRPr/>
          </a:p>
        </p:txBody>
      </p:sp>
      <p:sp>
        <p:nvSpPr>
          <p:cNvPr id="792" name="Google Shape;792;p29"/>
          <p:cNvSpPr txBox="1"/>
          <p:nvPr/>
        </p:nvSpPr>
        <p:spPr>
          <a:xfrm>
            <a:off x="1554480" y="4575200"/>
            <a:ext cx="4244187" cy="45777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B0B0B0"/>
                </a:solidFill>
                <a:latin typeface="Arial"/>
                <a:ea typeface="Arial"/>
                <a:cs typeface="Arial"/>
                <a:sym typeface="Arial"/>
              </a:rPr>
              <a:t>tanto como el modelo — mejoras de hasta +39.6% en ganancia.</a:t>
            </a:r>
            <a:endParaRPr/>
          </a:p>
        </p:txBody>
      </p:sp>
      <p:sp>
        <p:nvSpPr>
          <p:cNvPr id="793" name="Google Shape;793;p29"/>
          <p:cNvSpPr/>
          <p:nvPr/>
        </p:nvSpPr>
        <p:spPr>
          <a:xfrm>
            <a:off x="640080" y="5292090"/>
            <a:ext cx="5341467" cy="1017270"/>
          </a:xfrm>
          <a:prstGeom prst="rect">
            <a:avLst/>
          </a:prstGeom>
          <a:solidFill>
            <a:srgbClr val="111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94" name="Google Shape;794;p29"/>
          <p:cNvSpPr txBox="1"/>
          <p:nvPr/>
        </p:nvSpPr>
        <p:spPr>
          <a:xfrm>
            <a:off x="868680" y="5292090"/>
            <a:ext cx="822960" cy="101727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200" u="none" cap="none" strike="noStrike">
                <a:solidFill>
                  <a:srgbClr val="FECE00"/>
                </a:solidFill>
                <a:latin typeface="Arial"/>
                <a:ea typeface="Arial"/>
                <a:cs typeface="Arial"/>
                <a:sym typeface="Arial"/>
              </a:rPr>
              <a:t>04</a:t>
            </a:r>
            <a:endParaRPr/>
          </a:p>
        </p:txBody>
      </p:sp>
      <p:sp>
        <p:nvSpPr>
          <p:cNvPr id="795" name="Google Shape;795;p29"/>
          <p:cNvSpPr txBox="1"/>
          <p:nvPr/>
        </p:nvSpPr>
        <p:spPr>
          <a:xfrm>
            <a:off x="1554480" y="5454853"/>
            <a:ext cx="4244187" cy="4069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50" u="none" cap="none" strike="noStrike">
                <a:solidFill>
                  <a:srgbClr val="FFFFFF"/>
                </a:solidFill>
                <a:latin typeface="Arial"/>
                <a:ea typeface="Arial"/>
                <a:cs typeface="Arial"/>
                <a:sym typeface="Arial"/>
              </a:rPr>
              <a:t>Modelo final: LightGBM</a:t>
            </a:r>
            <a:endParaRPr/>
          </a:p>
        </p:txBody>
      </p:sp>
      <p:sp>
        <p:nvSpPr>
          <p:cNvPr id="796" name="Google Shape;796;p29"/>
          <p:cNvSpPr txBox="1"/>
          <p:nvPr/>
        </p:nvSpPr>
        <p:spPr>
          <a:xfrm>
            <a:off x="1554480" y="5821070"/>
            <a:ext cx="4244187" cy="45777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B0B0B0"/>
                </a:solidFill>
                <a:latin typeface="Arial"/>
                <a:ea typeface="Arial"/>
                <a:cs typeface="Arial"/>
                <a:sym typeface="Arial"/>
              </a:rPr>
              <a:t>mejor ganancia de negocio, buen AUC y feature importance distribuida.</a:t>
            </a:r>
            <a:endParaRPr/>
          </a:p>
        </p:txBody>
      </p:sp>
      <p:sp>
        <p:nvSpPr>
          <p:cNvPr id="797" name="Google Shape;797;p29"/>
          <p:cNvSpPr/>
          <p:nvPr/>
        </p:nvSpPr>
        <p:spPr>
          <a:xfrm>
            <a:off x="6210147" y="1554480"/>
            <a:ext cx="5341467" cy="1017270"/>
          </a:xfrm>
          <a:prstGeom prst="rect">
            <a:avLst/>
          </a:prstGeom>
          <a:solidFill>
            <a:srgbClr val="111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98" name="Google Shape;798;p29"/>
          <p:cNvSpPr txBox="1"/>
          <p:nvPr/>
        </p:nvSpPr>
        <p:spPr>
          <a:xfrm>
            <a:off x="6438747" y="1554480"/>
            <a:ext cx="822960" cy="101727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200" u="none" cap="none" strike="noStrike">
                <a:solidFill>
                  <a:srgbClr val="FECE00"/>
                </a:solidFill>
                <a:latin typeface="Arial"/>
                <a:ea typeface="Arial"/>
                <a:cs typeface="Arial"/>
                <a:sym typeface="Arial"/>
              </a:rPr>
              <a:t>05</a:t>
            </a:r>
            <a:endParaRPr/>
          </a:p>
        </p:txBody>
      </p:sp>
      <p:sp>
        <p:nvSpPr>
          <p:cNvPr id="799" name="Google Shape;799;p29"/>
          <p:cNvSpPr txBox="1"/>
          <p:nvPr/>
        </p:nvSpPr>
        <p:spPr>
          <a:xfrm>
            <a:off x="7124547" y="1717243"/>
            <a:ext cx="4244187" cy="4069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50" u="none" cap="none" strike="noStrike">
                <a:solidFill>
                  <a:srgbClr val="FFFFFF"/>
                </a:solidFill>
                <a:latin typeface="Arial"/>
                <a:ea typeface="Arial"/>
                <a:cs typeface="Arial"/>
                <a:sym typeface="Arial"/>
              </a:rPr>
              <a:t>Simulación de producción exitosa</a:t>
            </a:r>
            <a:endParaRPr/>
          </a:p>
        </p:txBody>
      </p:sp>
      <p:sp>
        <p:nvSpPr>
          <p:cNvPr id="800" name="Google Shape;800;p29"/>
          <p:cNvSpPr txBox="1"/>
          <p:nvPr/>
        </p:nvSpPr>
        <p:spPr>
          <a:xfrm>
            <a:off x="7124547" y="2083460"/>
            <a:ext cx="4244187" cy="45777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B0B0B0"/>
                </a:solidFill>
                <a:latin typeface="Arial"/>
                <a:ea typeface="Arial"/>
                <a:cs typeface="Arial"/>
                <a:sym typeface="Arial"/>
              </a:rPr>
              <a:t>el pipeline serializado reproduce resultados y maneja categorías no vistas.</a:t>
            </a:r>
            <a:endParaRPr/>
          </a:p>
        </p:txBody>
      </p:sp>
      <p:sp>
        <p:nvSpPr>
          <p:cNvPr id="801" name="Google Shape;801;p29"/>
          <p:cNvSpPr/>
          <p:nvPr/>
        </p:nvSpPr>
        <p:spPr>
          <a:xfrm>
            <a:off x="6210147" y="2800350"/>
            <a:ext cx="5341467" cy="1017270"/>
          </a:xfrm>
          <a:prstGeom prst="rect">
            <a:avLst/>
          </a:prstGeom>
          <a:solidFill>
            <a:srgbClr val="111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02" name="Google Shape;802;p29"/>
          <p:cNvSpPr txBox="1"/>
          <p:nvPr/>
        </p:nvSpPr>
        <p:spPr>
          <a:xfrm>
            <a:off x="6438747" y="2800350"/>
            <a:ext cx="822960" cy="101727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200" u="none" cap="none" strike="noStrike">
                <a:solidFill>
                  <a:srgbClr val="FECE00"/>
                </a:solidFill>
                <a:latin typeface="Arial"/>
                <a:ea typeface="Arial"/>
                <a:cs typeface="Arial"/>
                <a:sym typeface="Arial"/>
              </a:rPr>
              <a:t>06</a:t>
            </a:r>
            <a:endParaRPr/>
          </a:p>
        </p:txBody>
      </p:sp>
      <p:sp>
        <p:nvSpPr>
          <p:cNvPr id="803" name="Google Shape;803;p29"/>
          <p:cNvSpPr txBox="1"/>
          <p:nvPr/>
        </p:nvSpPr>
        <p:spPr>
          <a:xfrm>
            <a:off x="7124547" y="2963113"/>
            <a:ext cx="4244187" cy="4069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50" u="none" cap="none" strike="noStrike">
                <a:solidFill>
                  <a:srgbClr val="FFFFFF"/>
                </a:solidFill>
                <a:latin typeface="Arial"/>
                <a:ea typeface="Arial"/>
                <a:cs typeface="Arial"/>
                <a:sym typeface="Arial"/>
              </a:rPr>
              <a:t>Próximos pasos</a:t>
            </a:r>
            <a:endParaRPr/>
          </a:p>
        </p:txBody>
      </p:sp>
      <p:sp>
        <p:nvSpPr>
          <p:cNvPr id="804" name="Google Shape;804;p29"/>
          <p:cNvSpPr txBox="1"/>
          <p:nvPr/>
        </p:nvSpPr>
        <p:spPr>
          <a:xfrm>
            <a:off x="7124547" y="3329330"/>
            <a:ext cx="4244187" cy="45777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B0B0B0"/>
                </a:solidFill>
                <a:latin typeface="Arial"/>
                <a:ea typeface="Arial"/>
                <a:cs typeface="Arial"/>
                <a:sym typeface="Arial"/>
              </a:rPr>
              <a:t>monitoreo de drift, reentrenamiento periódico y cost-sensitive learning en la función de pérdida.</a:t>
            </a:r>
            <a:endParaRPr/>
          </a:p>
        </p:txBody>
      </p:sp>
      <p:sp>
        <p:nvSpPr>
          <p:cNvPr id="805" name="Google Shape;805;p29"/>
          <p:cNvSpPr/>
          <p:nvPr/>
        </p:nvSpPr>
        <p:spPr>
          <a:xfrm>
            <a:off x="0" y="6537960"/>
            <a:ext cx="12191695" cy="320040"/>
          </a:xfrm>
          <a:prstGeom prst="rect">
            <a:avLst/>
          </a:prstGeom>
          <a:solidFill>
            <a:srgbClr val="0A0A0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nvGrpSpPr>
          <p:cNvPr id="806" name="Google Shape;806;p29"/>
          <p:cNvGrpSpPr/>
          <p:nvPr/>
        </p:nvGrpSpPr>
        <p:grpSpPr>
          <a:xfrm>
            <a:off x="12" y="6223211"/>
            <a:ext cx="634800" cy="634800"/>
            <a:chOff x="12" y="4508711"/>
            <a:chExt cx="634800" cy="634800"/>
          </a:xfrm>
        </p:grpSpPr>
        <p:sp>
          <p:nvSpPr>
            <p:cNvPr id="807" name="Google Shape;807;p29"/>
            <p:cNvSpPr/>
            <p:nvPr/>
          </p:nvSpPr>
          <p:spPr>
            <a:xfrm>
              <a:off x="12" y="4508711"/>
              <a:ext cx="634800" cy="634800"/>
            </a:xfrm>
            <a:prstGeom prst="round1Rect">
              <a:avLst>
                <a:gd fmla="val 28797" name="adj"/>
              </a:avLst>
            </a:prstGeom>
            <a:solidFill>
              <a:srgbClr val="FFD1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808" name="Google Shape;808;p29"/>
            <p:cNvPicPr preferRelativeResize="0"/>
            <p:nvPr/>
          </p:nvPicPr>
          <p:blipFill>
            <a:blip r:embed="rId3">
              <a:alphaModFix/>
            </a:blip>
            <a:stretch>
              <a:fillRect/>
            </a:stretch>
          </p:blipFill>
          <p:spPr>
            <a:xfrm>
              <a:off x="124673" y="4689253"/>
              <a:ext cx="397051" cy="273714"/>
            </a:xfrm>
            <a:prstGeom prst="rect">
              <a:avLst/>
            </a:prstGeom>
            <a:noFill/>
            <a:ln>
              <a:noFill/>
            </a:ln>
          </p:spPr>
        </p:pic>
      </p:grpSp>
      <p:sp>
        <p:nvSpPr>
          <p:cNvPr id="809" name="Google Shape;809;p29"/>
          <p:cNvSpPr/>
          <p:nvPr/>
        </p:nvSpPr>
        <p:spPr>
          <a:xfrm rot="10800000">
            <a:off x="11736276" y="0"/>
            <a:ext cx="455400" cy="421500"/>
          </a:xfrm>
          <a:prstGeom prst="corner">
            <a:avLst>
              <a:gd fmla="val 39228" name="adj1"/>
              <a:gd fmla="val 38336" name="adj2"/>
            </a:avLst>
          </a:prstGeom>
          <a:solidFill>
            <a:srgbClr val="FFD100"/>
          </a:solidFill>
          <a:ln>
            <a:noFill/>
          </a:ln>
        </p:spPr>
        <p:txBody>
          <a:bodyPr anchorCtr="0" anchor="ctr" bIns="60950" lIns="60950" spcFirstLastPara="1" rIns="60950" wrap="square" tIns="60950">
            <a:noAutofit/>
          </a:bodyPr>
          <a:lstStyle/>
          <a:p>
            <a:pPr indent="0" lvl="0" marL="0" rtl="0" algn="l">
              <a:spcBef>
                <a:spcPts val="0"/>
              </a:spcBef>
              <a:spcAft>
                <a:spcPts val="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3" name="Shape 813"/>
        <p:cNvGrpSpPr/>
        <p:nvPr/>
      </p:nvGrpSpPr>
      <p:grpSpPr>
        <a:xfrm>
          <a:off x="0" y="0"/>
          <a:ext cx="0" cy="0"/>
          <a:chOff x="0" y="0"/>
          <a:chExt cx="0" cy="0"/>
        </a:xfrm>
      </p:grpSpPr>
      <p:sp>
        <p:nvSpPr>
          <p:cNvPr id="814" name="Google Shape;814;p30"/>
          <p:cNvSpPr/>
          <p:nvPr/>
        </p:nvSpPr>
        <p:spPr>
          <a:xfrm>
            <a:off x="0" y="0"/>
            <a:ext cx="12191700" cy="6858000"/>
          </a:xfrm>
          <a:prstGeom prst="rect">
            <a:avLst/>
          </a:prstGeom>
          <a:solidFill>
            <a:srgbClr val="1A1A1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15" name="Google Shape;815;p30"/>
          <p:cNvSpPr/>
          <p:nvPr/>
        </p:nvSpPr>
        <p:spPr>
          <a:xfrm>
            <a:off x="502920" y="457200"/>
            <a:ext cx="54900" cy="777300"/>
          </a:xfrm>
          <a:prstGeom prst="rect">
            <a:avLst/>
          </a:prstGeom>
          <a:solidFill>
            <a:srgbClr val="FECE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16" name="Google Shape;816;p30"/>
          <p:cNvSpPr txBox="1"/>
          <p:nvPr/>
        </p:nvSpPr>
        <p:spPr>
          <a:xfrm>
            <a:off x="685800" y="457200"/>
            <a:ext cx="105156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300" u="none" cap="none" strike="noStrike">
                <a:solidFill>
                  <a:srgbClr val="B0B0B0"/>
                </a:solidFill>
                <a:latin typeface="Arial"/>
                <a:ea typeface="Arial"/>
                <a:cs typeface="Arial"/>
                <a:sym typeface="Arial"/>
              </a:rPr>
              <a:t>05_MONITORING — 00_drift_monitoring.ipynb</a:t>
            </a:r>
            <a:endParaRPr/>
          </a:p>
        </p:txBody>
      </p:sp>
      <p:sp>
        <p:nvSpPr>
          <p:cNvPr id="817" name="Google Shape;817;p30"/>
          <p:cNvSpPr txBox="1"/>
          <p:nvPr/>
        </p:nvSpPr>
        <p:spPr>
          <a:xfrm>
            <a:off x="658368" y="749808"/>
            <a:ext cx="10607100" cy="400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600" u="none" cap="none" strike="noStrike">
                <a:solidFill>
                  <a:srgbClr val="FFFFFF"/>
                </a:solidFill>
                <a:latin typeface="Arial"/>
                <a:ea typeface="Arial"/>
                <a:cs typeface="Arial"/>
                <a:sym typeface="Arial"/>
              </a:rPr>
              <a:t>MONITOREO DE DRIFT EN FEATURES</a:t>
            </a:r>
            <a:endParaRPr/>
          </a:p>
        </p:txBody>
      </p:sp>
      <p:sp>
        <p:nvSpPr>
          <p:cNvPr id="818" name="Google Shape;818;p30"/>
          <p:cNvSpPr/>
          <p:nvPr/>
        </p:nvSpPr>
        <p:spPr>
          <a:xfrm>
            <a:off x="640080" y="1600200"/>
            <a:ext cx="6431100" cy="4800600"/>
          </a:xfrm>
          <a:prstGeom prst="rect">
            <a:avLst/>
          </a:prstGeom>
          <a:solidFill>
            <a:srgbClr val="111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19" name="Google Shape;819;p30"/>
          <p:cNvSpPr/>
          <p:nvPr/>
        </p:nvSpPr>
        <p:spPr>
          <a:xfrm>
            <a:off x="896112" y="1874520"/>
            <a:ext cx="146400" cy="146400"/>
          </a:xfrm>
          <a:prstGeom prst="ellipse">
            <a:avLst/>
          </a:prstGeom>
          <a:noFill/>
          <a:ln cap="flat" cmpd="sng" w="158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20" name="Google Shape;820;p30"/>
          <p:cNvSpPr txBox="1"/>
          <p:nvPr/>
        </p:nvSpPr>
        <p:spPr>
          <a:xfrm>
            <a:off x="1207008" y="1828800"/>
            <a:ext cx="5607900" cy="223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50" u="none" cap="none" strike="noStrike">
                <a:solidFill>
                  <a:srgbClr val="FFFFFF"/>
                </a:solidFill>
                <a:latin typeface="Arial"/>
                <a:ea typeface="Arial"/>
                <a:cs typeface="Arial"/>
                <a:sym typeface="Arial"/>
              </a:rPr>
              <a:t>Por qué monitorear</a:t>
            </a:r>
            <a:endParaRPr/>
          </a:p>
        </p:txBody>
      </p:sp>
      <p:sp>
        <p:nvSpPr>
          <p:cNvPr id="821" name="Google Shape;821;p30"/>
          <p:cNvSpPr txBox="1"/>
          <p:nvPr/>
        </p:nvSpPr>
        <p:spPr>
          <a:xfrm>
            <a:off x="1207008" y="2103120"/>
            <a:ext cx="5607900" cy="5487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150" u="none" cap="none" strike="noStrike">
                <a:solidFill>
                  <a:srgbClr val="B0B0B0"/>
                </a:solidFill>
                <a:latin typeface="Arial"/>
                <a:ea typeface="Arial"/>
                <a:cs typeface="Arial"/>
                <a:sym typeface="Arial"/>
              </a:rPr>
              <a:t>un modelo en producción puede degradarse silenciosamente si las features de entrada cambian de distribución respecto al momento en que se entrenó — detectarlo a tiempo evita perder ganancia de negocio sin que nadie lo note.</a:t>
            </a:r>
            <a:endParaRPr/>
          </a:p>
        </p:txBody>
      </p:sp>
      <p:cxnSp>
        <p:nvCxnSpPr>
          <p:cNvPr id="822" name="Google Shape;822;p30"/>
          <p:cNvCxnSpPr/>
          <p:nvPr/>
        </p:nvCxnSpPr>
        <p:spPr>
          <a:xfrm>
            <a:off x="969264" y="2873502"/>
            <a:ext cx="0" cy="73200"/>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8040"/>
              </a:srgbClr>
            </a:outerShdw>
          </a:effectLst>
        </p:spPr>
      </p:cxnSp>
      <p:sp>
        <p:nvSpPr>
          <p:cNvPr id="823" name="Google Shape;823;p30"/>
          <p:cNvSpPr/>
          <p:nvPr/>
        </p:nvSpPr>
        <p:spPr>
          <a:xfrm>
            <a:off x="896112" y="2946654"/>
            <a:ext cx="146400" cy="146400"/>
          </a:xfrm>
          <a:prstGeom prst="ellipse">
            <a:avLst/>
          </a:prstGeom>
          <a:noFill/>
          <a:ln cap="flat" cmpd="sng" w="158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24" name="Google Shape;824;p30"/>
          <p:cNvSpPr txBox="1"/>
          <p:nvPr/>
        </p:nvSpPr>
        <p:spPr>
          <a:xfrm>
            <a:off x="1207008" y="2900934"/>
            <a:ext cx="5607900" cy="223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50" u="none" cap="none" strike="noStrike">
                <a:solidFill>
                  <a:srgbClr val="FFFFFF"/>
                </a:solidFill>
                <a:latin typeface="Arial"/>
                <a:ea typeface="Arial"/>
                <a:cs typeface="Arial"/>
                <a:sym typeface="Arial"/>
              </a:rPr>
              <a:t>Métricas utilizadas</a:t>
            </a:r>
            <a:endParaRPr/>
          </a:p>
        </p:txBody>
      </p:sp>
      <p:sp>
        <p:nvSpPr>
          <p:cNvPr id="825" name="Google Shape;825;p30"/>
          <p:cNvSpPr txBox="1"/>
          <p:nvPr/>
        </p:nvSpPr>
        <p:spPr>
          <a:xfrm>
            <a:off x="1207008" y="3175254"/>
            <a:ext cx="5607900" cy="7347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150" u="none" cap="none" strike="noStrike">
                <a:solidFill>
                  <a:srgbClr val="B0B0B0"/>
                </a:solidFill>
                <a:latin typeface="Arial"/>
                <a:ea typeface="Arial"/>
                <a:cs typeface="Arial"/>
                <a:sym typeface="Arial"/>
              </a:rPr>
              <a:t>KS (Kolmogorov-Smirnov) para las 10 variables continuas y PSI (Population Stability Index) para las 6 categóricas, comparando cada semana de train contra la semana 0 como referencia — más la tasa de nulos por separado, ya que el KS solo evalúa los valores no nulos.</a:t>
            </a:r>
            <a:endParaRPr/>
          </a:p>
        </p:txBody>
      </p:sp>
      <p:cxnSp>
        <p:nvCxnSpPr>
          <p:cNvPr id="826" name="Google Shape;826;p30"/>
          <p:cNvCxnSpPr/>
          <p:nvPr/>
        </p:nvCxnSpPr>
        <p:spPr>
          <a:xfrm>
            <a:off x="969264" y="3945636"/>
            <a:ext cx="0" cy="73200"/>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8040"/>
              </a:srgbClr>
            </a:outerShdw>
          </a:effectLst>
        </p:spPr>
      </p:cxnSp>
      <p:sp>
        <p:nvSpPr>
          <p:cNvPr id="827" name="Google Shape;827;p30"/>
          <p:cNvSpPr/>
          <p:nvPr/>
        </p:nvSpPr>
        <p:spPr>
          <a:xfrm>
            <a:off x="896112" y="4018787"/>
            <a:ext cx="146400" cy="146400"/>
          </a:xfrm>
          <a:prstGeom prst="ellipse">
            <a:avLst/>
          </a:prstGeom>
          <a:noFill/>
          <a:ln cap="flat" cmpd="sng" w="158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28" name="Google Shape;828;p30"/>
          <p:cNvSpPr txBox="1"/>
          <p:nvPr/>
        </p:nvSpPr>
        <p:spPr>
          <a:xfrm>
            <a:off x="1207008" y="3973068"/>
            <a:ext cx="5607900" cy="223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50" u="none" cap="none" strike="noStrike">
                <a:solidFill>
                  <a:srgbClr val="FFFFFF"/>
                </a:solidFill>
                <a:latin typeface="Arial"/>
                <a:ea typeface="Arial"/>
                <a:cs typeface="Arial"/>
                <a:sym typeface="Arial"/>
              </a:rPr>
              <a:t>Resultado principal</a:t>
            </a:r>
            <a:endParaRPr/>
          </a:p>
        </p:txBody>
      </p:sp>
      <p:sp>
        <p:nvSpPr>
          <p:cNvPr id="829" name="Google Shape;829;p30"/>
          <p:cNvSpPr txBox="1"/>
          <p:nvPr/>
        </p:nvSpPr>
        <p:spPr>
          <a:xfrm>
            <a:off x="1207008" y="4247388"/>
            <a:ext cx="5607900" cy="5487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150" u="none" cap="none" strike="noStrike">
                <a:solidFill>
                  <a:srgbClr val="B0B0B0"/>
                </a:solidFill>
                <a:latin typeface="Arial"/>
                <a:ea typeface="Arial"/>
                <a:cs typeface="Arial"/>
                <a:sym typeface="Arial"/>
              </a:rPr>
              <a:t>ninguna feature alcanza drift significativo (KS&gt;0.20 / PSI&gt;0.25); b, h y monto muestran drift leve hacia las semanas 3-4, coincidiendo con el aumento de la tasa de fraude semanal en ese tramo.</a:t>
            </a:r>
            <a:endParaRPr/>
          </a:p>
        </p:txBody>
      </p:sp>
      <p:cxnSp>
        <p:nvCxnSpPr>
          <p:cNvPr id="830" name="Google Shape;830;p30"/>
          <p:cNvCxnSpPr/>
          <p:nvPr/>
        </p:nvCxnSpPr>
        <p:spPr>
          <a:xfrm>
            <a:off x="969264" y="5017770"/>
            <a:ext cx="0" cy="73200"/>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8040"/>
              </a:srgbClr>
            </a:outerShdw>
          </a:effectLst>
        </p:spPr>
      </p:cxnSp>
      <p:sp>
        <p:nvSpPr>
          <p:cNvPr id="831" name="Google Shape;831;p30"/>
          <p:cNvSpPr/>
          <p:nvPr/>
        </p:nvSpPr>
        <p:spPr>
          <a:xfrm>
            <a:off x="896112" y="5090921"/>
            <a:ext cx="146400" cy="146400"/>
          </a:xfrm>
          <a:prstGeom prst="ellipse">
            <a:avLst/>
          </a:prstGeom>
          <a:noFill/>
          <a:ln cap="flat" cmpd="sng" w="158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32" name="Google Shape;832;p30"/>
          <p:cNvSpPr txBox="1"/>
          <p:nvPr/>
        </p:nvSpPr>
        <p:spPr>
          <a:xfrm>
            <a:off x="1207008" y="5045201"/>
            <a:ext cx="5607900" cy="223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50" u="none" cap="none" strike="noStrike">
                <a:solidFill>
                  <a:srgbClr val="FFFFFF"/>
                </a:solidFill>
                <a:latin typeface="Arial"/>
                <a:ea typeface="Arial"/>
                <a:cs typeface="Arial"/>
                <a:sym typeface="Arial"/>
              </a:rPr>
              <a:t>Hallazgo inesperado</a:t>
            </a:r>
            <a:endParaRPr/>
          </a:p>
        </p:txBody>
      </p:sp>
      <p:sp>
        <p:nvSpPr>
          <p:cNvPr id="833" name="Google Shape;833;p30"/>
          <p:cNvSpPr txBox="1"/>
          <p:nvPr/>
        </p:nvSpPr>
        <p:spPr>
          <a:xfrm>
            <a:off x="1207008" y="5319521"/>
            <a:ext cx="5607900" cy="5487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150" u="none" cap="none" strike="noStrike">
                <a:solidFill>
                  <a:srgbClr val="B0B0B0"/>
                </a:solidFill>
                <a:latin typeface="Arial"/>
                <a:ea typeface="Arial"/>
                <a:cs typeface="Arial"/>
                <a:sym typeface="Arial"/>
              </a:rPr>
              <a:t>b y c tienen 47.8% de nulos en la semana 0 y caen a ~1% desde la semana 1 — invisible para el KS (que solo mira valores no nulos), y más compatible con una inestabilidad puntual del feed de datos que con un drift natural.</a:t>
            </a:r>
            <a:endParaRPr/>
          </a:p>
        </p:txBody>
      </p:sp>
      <p:sp>
        <p:nvSpPr>
          <p:cNvPr id="834" name="Google Shape;834;p30"/>
          <p:cNvSpPr txBox="1"/>
          <p:nvPr/>
        </p:nvSpPr>
        <p:spPr>
          <a:xfrm>
            <a:off x="7345375" y="1600200"/>
            <a:ext cx="4206300" cy="177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B0B0B0"/>
                </a:solidFill>
                <a:latin typeface="Arial"/>
                <a:ea typeface="Arial"/>
                <a:cs typeface="Arial"/>
                <a:sym typeface="Arial"/>
              </a:rPr>
              <a:t>MAYOR DRIFT OBSERVADO (KS / PSI)</a:t>
            </a:r>
            <a:endParaRPr/>
          </a:p>
        </p:txBody>
      </p:sp>
      <p:sp>
        <p:nvSpPr>
          <p:cNvPr id="835" name="Google Shape;835;p30"/>
          <p:cNvSpPr txBox="1"/>
          <p:nvPr/>
        </p:nvSpPr>
        <p:spPr>
          <a:xfrm>
            <a:off x="7345375" y="2090245"/>
            <a:ext cx="1338600" cy="16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00" u="none" cap="none" strike="noStrike">
                <a:solidFill>
                  <a:srgbClr val="FFFFFF"/>
                </a:solidFill>
                <a:latin typeface="Arial"/>
                <a:ea typeface="Arial"/>
                <a:cs typeface="Arial"/>
                <a:sym typeface="Arial"/>
              </a:rPr>
              <a:t>h (KS)</a:t>
            </a:r>
            <a:endParaRPr/>
          </a:p>
        </p:txBody>
      </p:sp>
      <p:sp>
        <p:nvSpPr>
          <p:cNvPr id="836" name="Google Shape;836;p30"/>
          <p:cNvSpPr/>
          <p:nvPr/>
        </p:nvSpPr>
        <p:spPr>
          <a:xfrm>
            <a:off x="8775496" y="2381737"/>
            <a:ext cx="2136000" cy="282600"/>
          </a:xfrm>
          <a:prstGeom prst="rect">
            <a:avLst/>
          </a:prstGeom>
          <a:solidFill>
            <a:srgbClr val="08080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37" name="Google Shape;837;p30"/>
          <p:cNvSpPr/>
          <p:nvPr/>
        </p:nvSpPr>
        <p:spPr>
          <a:xfrm>
            <a:off x="8775496" y="2381737"/>
            <a:ext cx="1823700" cy="282600"/>
          </a:xfrm>
          <a:prstGeom prst="rect">
            <a:avLst/>
          </a:prstGeom>
          <a:solidFill>
            <a:srgbClr val="FECE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38" name="Google Shape;838;p30"/>
          <p:cNvSpPr txBox="1"/>
          <p:nvPr/>
        </p:nvSpPr>
        <p:spPr>
          <a:xfrm>
            <a:off x="10966399" y="2319905"/>
            <a:ext cx="594300" cy="161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50" u="none" cap="none" strike="noStrike">
                <a:solidFill>
                  <a:srgbClr val="FECE00"/>
                </a:solidFill>
                <a:latin typeface="Arial"/>
                <a:ea typeface="Arial"/>
                <a:cs typeface="Arial"/>
                <a:sym typeface="Arial"/>
              </a:rPr>
              <a:t>0.111</a:t>
            </a:r>
            <a:endParaRPr/>
          </a:p>
        </p:txBody>
      </p:sp>
      <p:sp>
        <p:nvSpPr>
          <p:cNvPr id="839" name="Google Shape;839;p30"/>
          <p:cNvSpPr txBox="1"/>
          <p:nvPr/>
        </p:nvSpPr>
        <p:spPr>
          <a:xfrm>
            <a:off x="7345375" y="2973555"/>
            <a:ext cx="1338600" cy="16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00" u="none" cap="none" strike="noStrike">
                <a:solidFill>
                  <a:srgbClr val="FFFFFF"/>
                </a:solidFill>
                <a:latin typeface="Arial"/>
                <a:ea typeface="Arial"/>
                <a:cs typeface="Arial"/>
                <a:sym typeface="Arial"/>
              </a:rPr>
              <a:t>b (KS)</a:t>
            </a:r>
            <a:endParaRPr/>
          </a:p>
        </p:txBody>
      </p:sp>
      <p:sp>
        <p:nvSpPr>
          <p:cNvPr id="840" name="Google Shape;840;p30"/>
          <p:cNvSpPr/>
          <p:nvPr/>
        </p:nvSpPr>
        <p:spPr>
          <a:xfrm>
            <a:off x="8775496" y="3265048"/>
            <a:ext cx="2136000" cy="282600"/>
          </a:xfrm>
          <a:prstGeom prst="rect">
            <a:avLst/>
          </a:prstGeom>
          <a:solidFill>
            <a:srgbClr val="08080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41" name="Google Shape;841;p30"/>
          <p:cNvSpPr/>
          <p:nvPr/>
        </p:nvSpPr>
        <p:spPr>
          <a:xfrm>
            <a:off x="8775496" y="3265048"/>
            <a:ext cx="1708800" cy="282600"/>
          </a:xfrm>
          <a:prstGeom prst="rect">
            <a:avLst/>
          </a:prstGeom>
          <a:solidFill>
            <a:srgbClr val="FECE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42" name="Google Shape;842;p30"/>
          <p:cNvSpPr txBox="1"/>
          <p:nvPr/>
        </p:nvSpPr>
        <p:spPr>
          <a:xfrm>
            <a:off x="10966399" y="3203216"/>
            <a:ext cx="594300" cy="161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50" u="none" cap="none" strike="noStrike">
                <a:solidFill>
                  <a:srgbClr val="FECE00"/>
                </a:solidFill>
                <a:latin typeface="Arial"/>
                <a:ea typeface="Arial"/>
                <a:cs typeface="Arial"/>
                <a:sym typeface="Arial"/>
              </a:rPr>
              <a:t>0.104</a:t>
            </a:r>
            <a:endParaRPr/>
          </a:p>
        </p:txBody>
      </p:sp>
      <p:sp>
        <p:nvSpPr>
          <p:cNvPr id="843" name="Google Shape;843;p30"/>
          <p:cNvSpPr txBox="1"/>
          <p:nvPr/>
        </p:nvSpPr>
        <p:spPr>
          <a:xfrm>
            <a:off x="7345375" y="3856866"/>
            <a:ext cx="1338600" cy="16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00" u="none" cap="none" strike="noStrike">
                <a:solidFill>
                  <a:srgbClr val="FFFFFF"/>
                </a:solidFill>
                <a:latin typeface="Arial"/>
                <a:ea typeface="Arial"/>
                <a:cs typeface="Arial"/>
                <a:sym typeface="Arial"/>
              </a:rPr>
              <a:t>monto (KS)</a:t>
            </a:r>
            <a:endParaRPr/>
          </a:p>
        </p:txBody>
      </p:sp>
      <p:sp>
        <p:nvSpPr>
          <p:cNvPr id="844" name="Google Shape;844;p30"/>
          <p:cNvSpPr/>
          <p:nvPr/>
        </p:nvSpPr>
        <p:spPr>
          <a:xfrm>
            <a:off x="8775496" y="4148358"/>
            <a:ext cx="2136000" cy="282600"/>
          </a:xfrm>
          <a:prstGeom prst="rect">
            <a:avLst/>
          </a:prstGeom>
          <a:solidFill>
            <a:srgbClr val="08080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45" name="Google Shape;845;p30"/>
          <p:cNvSpPr/>
          <p:nvPr/>
        </p:nvSpPr>
        <p:spPr>
          <a:xfrm>
            <a:off x="8775496" y="4148358"/>
            <a:ext cx="1708800" cy="282600"/>
          </a:xfrm>
          <a:prstGeom prst="rect">
            <a:avLst/>
          </a:prstGeom>
          <a:solidFill>
            <a:srgbClr val="FECE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46" name="Google Shape;846;p30"/>
          <p:cNvSpPr txBox="1"/>
          <p:nvPr/>
        </p:nvSpPr>
        <p:spPr>
          <a:xfrm>
            <a:off x="10966399" y="4086526"/>
            <a:ext cx="594300" cy="161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50" u="none" cap="none" strike="noStrike">
                <a:solidFill>
                  <a:srgbClr val="FECE00"/>
                </a:solidFill>
                <a:latin typeface="Arial"/>
                <a:ea typeface="Arial"/>
                <a:cs typeface="Arial"/>
                <a:sym typeface="Arial"/>
              </a:rPr>
              <a:t>0.104</a:t>
            </a:r>
            <a:endParaRPr/>
          </a:p>
        </p:txBody>
      </p:sp>
      <p:sp>
        <p:nvSpPr>
          <p:cNvPr id="847" name="Google Shape;847;p30"/>
          <p:cNvSpPr txBox="1"/>
          <p:nvPr/>
        </p:nvSpPr>
        <p:spPr>
          <a:xfrm>
            <a:off x="7345375" y="4740176"/>
            <a:ext cx="1338600" cy="16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00" u="none" cap="none" strike="noStrike">
                <a:solidFill>
                  <a:srgbClr val="FFFFFF"/>
                </a:solidFill>
                <a:latin typeface="Arial"/>
                <a:ea typeface="Arial"/>
                <a:cs typeface="Arial"/>
                <a:sym typeface="Arial"/>
              </a:rPr>
              <a:t>score (KS)</a:t>
            </a:r>
            <a:endParaRPr/>
          </a:p>
        </p:txBody>
      </p:sp>
      <p:sp>
        <p:nvSpPr>
          <p:cNvPr id="848" name="Google Shape;848;p30"/>
          <p:cNvSpPr/>
          <p:nvPr/>
        </p:nvSpPr>
        <p:spPr>
          <a:xfrm>
            <a:off x="8775496" y="5031668"/>
            <a:ext cx="2136000" cy="282600"/>
          </a:xfrm>
          <a:prstGeom prst="rect">
            <a:avLst/>
          </a:prstGeom>
          <a:solidFill>
            <a:srgbClr val="08080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49" name="Google Shape;849;p30"/>
          <p:cNvSpPr/>
          <p:nvPr/>
        </p:nvSpPr>
        <p:spPr>
          <a:xfrm>
            <a:off x="8775496" y="5031668"/>
            <a:ext cx="1610100" cy="282600"/>
          </a:xfrm>
          <a:prstGeom prst="rect">
            <a:avLst/>
          </a:prstGeom>
          <a:solidFill>
            <a:srgbClr val="FECE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50" name="Google Shape;850;p30"/>
          <p:cNvSpPr txBox="1"/>
          <p:nvPr/>
        </p:nvSpPr>
        <p:spPr>
          <a:xfrm>
            <a:off x="10966399" y="4969837"/>
            <a:ext cx="594300" cy="161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50" u="none" cap="none" strike="noStrike">
                <a:solidFill>
                  <a:srgbClr val="FECE00"/>
                </a:solidFill>
                <a:latin typeface="Arial"/>
                <a:ea typeface="Arial"/>
                <a:cs typeface="Arial"/>
                <a:sym typeface="Arial"/>
              </a:rPr>
              <a:t>0.098</a:t>
            </a:r>
            <a:endParaRPr/>
          </a:p>
        </p:txBody>
      </p:sp>
      <p:sp>
        <p:nvSpPr>
          <p:cNvPr id="851" name="Google Shape;851;p30"/>
          <p:cNvSpPr txBox="1"/>
          <p:nvPr/>
        </p:nvSpPr>
        <p:spPr>
          <a:xfrm>
            <a:off x="7345375" y="5623486"/>
            <a:ext cx="1338600" cy="16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00" u="none" cap="none" strike="noStrike">
                <a:solidFill>
                  <a:srgbClr val="FFFFFF"/>
                </a:solidFill>
                <a:latin typeface="Arial"/>
                <a:ea typeface="Arial"/>
                <a:cs typeface="Arial"/>
                <a:sym typeface="Arial"/>
              </a:rPr>
              <a:t>g (PSI)</a:t>
            </a:r>
            <a:endParaRPr/>
          </a:p>
        </p:txBody>
      </p:sp>
      <p:sp>
        <p:nvSpPr>
          <p:cNvPr id="852" name="Google Shape;852;p30"/>
          <p:cNvSpPr/>
          <p:nvPr/>
        </p:nvSpPr>
        <p:spPr>
          <a:xfrm>
            <a:off x="8775496" y="5914979"/>
            <a:ext cx="2136000" cy="282600"/>
          </a:xfrm>
          <a:prstGeom prst="rect">
            <a:avLst/>
          </a:prstGeom>
          <a:solidFill>
            <a:srgbClr val="08080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53" name="Google Shape;853;p30"/>
          <p:cNvSpPr/>
          <p:nvPr/>
        </p:nvSpPr>
        <p:spPr>
          <a:xfrm>
            <a:off x="8775496" y="5914979"/>
            <a:ext cx="1002300" cy="282600"/>
          </a:xfrm>
          <a:prstGeom prst="rect">
            <a:avLst/>
          </a:prstGeom>
          <a:solidFill>
            <a:srgbClr val="FECE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54" name="Google Shape;854;p30"/>
          <p:cNvSpPr txBox="1"/>
          <p:nvPr/>
        </p:nvSpPr>
        <p:spPr>
          <a:xfrm>
            <a:off x="10966399" y="5853147"/>
            <a:ext cx="594300" cy="161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50" u="none" cap="none" strike="noStrike">
                <a:solidFill>
                  <a:srgbClr val="FECE00"/>
                </a:solidFill>
                <a:latin typeface="Arial"/>
                <a:ea typeface="Arial"/>
                <a:cs typeface="Arial"/>
                <a:sym typeface="Arial"/>
              </a:rPr>
              <a:t>0.061</a:t>
            </a:r>
            <a:endParaRPr/>
          </a:p>
        </p:txBody>
      </p:sp>
      <p:sp>
        <p:nvSpPr>
          <p:cNvPr id="855" name="Google Shape;855;p30"/>
          <p:cNvSpPr/>
          <p:nvPr/>
        </p:nvSpPr>
        <p:spPr>
          <a:xfrm>
            <a:off x="0" y="6537960"/>
            <a:ext cx="12191700" cy="320100"/>
          </a:xfrm>
          <a:prstGeom prst="rect">
            <a:avLst/>
          </a:prstGeom>
          <a:solidFill>
            <a:srgbClr val="0A0A0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nvGrpSpPr>
          <p:cNvPr id="856" name="Google Shape;856;p30"/>
          <p:cNvGrpSpPr/>
          <p:nvPr/>
        </p:nvGrpSpPr>
        <p:grpSpPr>
          <a:xfrm>
            <a:off x="12" y="6223211"/>
            <a:ext cx="634800" cy="634800"/>
            <a:chOff x="12" y="4508711"/>
            <a:chExt cx="634800" cy="634800"/>
          </a:xfrm>
        </p:grpSpPr>
        <p:sp>
          <p:nvSpPr>
            <p:cNvPr id="857" name="Google Shape;857;p30"/>
            <p:cNvSpPr/>
            <p:nvPr/>
          </p:nvSpPr>
          <p:spPr>
            <a:xfrm>
              <a:off x="12" y="4508711"/>
              <a:ext cx="634800" cy="634800"/>
            </a:xfrm>
            <a:prstGeom prst="round1Rect">
              <a:avLst>
                <a:gd fmla="val 28797" name="adj"/>
              </a:avLst>
            </a:prstGeom>
            <a:solidFill>
              <a:srgbClr val="FFD1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858" name="Google Shape;858;p30"/>
            <p:cNvPicPr preferRelativeResize="0"/>
            <p:nvPr/>
          </p:nvPicPr>
          <p:blipFill>
            <a:blip r:embed="rId3">
              <a:alphaModFix/>
            </a:blip>
            <a:stretch>
              <a:fillRect/>
            </a:stretch>
          </p:blipFill>
          <p:spPr>
            <a:xfrm>
              <a:off x="124673" y="4689253"/>
              <a:ext cx="397051" cy="273714"/>
            </a:xfrm>
            <a:prstGeom prst="rect">
              <a:avLst/>
            </a:prstGeom>
            <a:noFill/>
            <a:ln>
              <a:noFill/>
            </a:ln>
          </p:spPr>
        </p:pic>
      </p:grpSp>
      <p:sp>
        <p:nvSpPr>
          <p:cNvPr id="859" name="Google Shape;859;p30"/>
          <p:cNvSpPr/>
          <p:nvPr/>
        </p:nvSpPr>
        <p:spPr>
          <a:xfrm rot="10800000">
            <a:off x="11736276" y="0"/>
            <a:ext cx="455400" cy="421500"/>
          </a:xfrm>
          <a:prstGeom prst="corner">
            <a:avLst>
              <a:gd fmla="val 39228" name="adj1"/>
              <a:gd fmla="val 38336" name="adj2"/>
            </a:avLst>
          </a:prstGeom>
          <a:solidFill>
            <a:srgbClr val="FFD100"/>
          </a:solidFill>
          <a:ln>
            <a:noFill/>
          </a:ln>
        </p:spPr>
        <p:txBody>
          <a:bodyPr anchorCtr="0" anchor="ctr" bIns="60950" lIns="60950" spcFirstLastPara="1" rIns="60950" wrap="square" tIns="60950">
            <a:noAutofit/>
          </a:bodyPr>
          <a:lstStyle/>
          <a:p>
            <a:pPr indent="0" lvl="0" marL="0" rtl="0" algn="l">
              <a:spcBef>
                <a:spcPts val="0"/>
              </a:spcBef>
              <a:spcAft>
                <a:spcPts val="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3" name="Shape 863"/>
        <p:cNvGrpSpPr/>
        <p:nvPr/>
      </p:nvGrpSpPr>
      <p:grpSpPr>
        <a:xfrm>
          <a:off x="0" y="0"/>
          <a:ext cx="0" cy="0"/>
          <a:chOff x="0" y="0"/>
          <a:chExt cx="0" cy="0"/>
        </a:xfrm>
      </p:grpSpPr>
      <p:sp>
        <p:nvSpPr>
          <p:cNvPr id="864" name="Google Shape;864;p31"/>
          <p:cNvSpPr/>
          <p:nvPr/>
        </p:nvSpPr>
        <p:spPr>
          <a:xfrm>
            <a:off x="0" y="0"/>
            <a:ext cx="12191695" cy="6858000"/>
          </a:xfrm>
          <a:prstGeom prst="rect">
            <a:avLst/>
          </a:prstGeom>
          <a:solidFill>
            <a:srgbClr val="1A1A1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65" name="Google Shape;865;p31"/>
          <p:cNvSpPr/>
          <p:nvPr/>
        </p:nvSpPr>
        <p:spPr>
          <a:xfrm>
            <a:off x="502920" y="457200"/>
            <a:ext cx="54864" cy="777240"/>
          </a:xfrm>
          <a:prstGeom prst="rect">
            <a:avLst/>
          </a:prstGeom>
          <a:solidFill>
            <a:srgbClr val="FECE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66" name="Google Shape;866;p31"/>
          <p:cNvSpPr txBox="1"/>
          <p:nvPr/>
        </p:nvSpPr>
        <p:spPr>
          <a:xfrm>
            <a:off x="685800" y="457200"/>
            <a:ext cx="1051560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300" u="none" cap="none" strike="noStrike">
                <a:solidFill>
                  <a:srgbClr val="B0B0B0"/>
                </a:solidFill>
                <a:latin typeface="Arial"/>
                <a:ea typeface="Arial"/>
                <a:cs typeface="Arial"/>
                <a:sym typeface="Arial"/>
              </a:rPr>
              <a:t>CONSIDERACIONES ADICIONALES</a:t>
            </a:r>
            <a:endParaRPr/>
          </a:p>
        </p:txBody>
      </p:sp>
      <p:sp>
        <p:nvSpPr>
          <p:cNvPr id="867" name="Google Shape;867;p31"/>
          <p:cNvSpPr txBox="1"/>
          <p:nvPr/>
        </p:nvSpPr>
        <p:spPr>
          <a:xfrm>
            <a:off x="658368" y="749808"/>
            <a:ext cx="10607040" cy="5943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600" u="none" cap="none" strike="noStrike">
                <a:solidFill>
                  <a:srgbClr val="FFFFFF"/>
                </a:solidFill>
                <a:latin typeface="Arial"/>
                <a:ea typeface="Arial"/>
                <a:cs typeface="Arial"/>
                <a:sym typeface="Arial"/>
              </a:rPr>
              <a:t>CONSIDERACIONES ADICIONALES</a:t>
            </a:r>
            <a:endParaRPr/>
          </a:p>
        </p:txBody>
      </p:sp>
      <p:sp>
        <p:nvSpPr>
          <p:cNvPr id="868" name="Google Shape;868;p31"/>
          <p:cNvSpPr txBox="1"/>
          <p:nvPr/>
        </p:nvSpPr>
        <p:spPr>
          <a:xfrm>
            <a:off x="640080" y="1554480"/>
            <a:ext cx="10908792" cy="2926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1" lang="en-US" sz="1300" u="none" cap="none" strike="noStrike">
                <a:solidFill>
                  <a:srgbClr val="01B1EC"/>
                </a:solidFill>
                <a:latin typeface="Arial"/>
                <a:ea typeface="Arial"/>
                <a:cs typeface="Arial"/>
                <a:sym typeface="Arial"/>
              </a:rPr>
              <a:t>¿Qué pasos puedo seguir para intentar asegurar que la performance del modelo en laboratorio será similar a la de producción?</a:t>
            </a:r>
            <a:endParaRPr/>
          </a:p>
        </p:txBody>
      </p:sp>
      <p:sp>
        <p:nvSpPr>
          <p:cNvPr id="869" name="Google Shape;869;p31"/>
          <p:cNvSpPr/>
          <p:nvPr/>
        </p:nvSpPr>
        <p:spPr>
          <a:xfrm>
            <a:off x="640080" y="1965960"/>
            <a:ext cx="5294376" cy="3374136"/>
          </a:xfrm>
          <a:prstGeom prst="rect">
            <a:avLst/>
          </a:prstGeom>
          <a:solidFill>
            <a:srgbClr val="111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70" name="Google Shape;870;p31"/>
          <p:cNvSpPr txBox="1"/>
          <p:nvPr/>
        </p:nvSpPr>
        <p:spPr>
          <a:xfrm>
            <a:off x="841247" y="2167128"/>
            <a:ext cx="4892040" cy="36576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i="0" lang="en-US" sz="1200" u="none" cap="none" strike="noStrike">
                <a:solidFill>
                  <a:srgbClr val="FFFFFF"/>
                </a:solidFill>
                <a:latin typeface="Arial"/>
                <a:ea typeface="Arial"/>
                <a:cs typeface="Arial"/>
                <a:sym typeface="Arial"/>
              </a:rPr>
              <a:t>Simulación del proceso productivo</a:t>
            </a:r>
            <a:endParaRPr/>
          </a:p>
        </p:txBody>
      </p:sp>
      <p:sp>
        <p:nvSpPr>
          <p:cNvPr id="871" name="Google Shape;871;p31"/>
          <p:cNvSpPr txBox="1"/>
          <p:nvPr/>
        </p:nvSpPr>
        <p:spPr>
          <a:xfrm>
            <a:off x="841247" y="2532888"/>
            <a:ext cx="4892040" cy="82296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950" u="none" cap="none" strike="noStrike">
                <a:solidFill>
                  <a:srgbClr val="B0B0B0"/>
                </a:solidFill>
                <a:latin typeface="Arial"/>
                <a:ea typeface="Arial"/>
                <a:cs typeface="Arial"/>
                <a:sym typeface="Arial"/>
              </a:rPr>
              <a:t>Como se mencionó en slides anteriores, se realizó una simulación del proceso productivo, esto carga los artefactos y preprocesamientos ejecutados en el pipeline de entrenamiento, y asegura que se mantenga el comportamiento esperado para las transformaciones necesarias, este paso es crítico porque si no se garantiza la información de entrenamiento y test puede ser diferente al de producción.</a:t>
            </a:r>
            <a:endParaRPr/>
          </a:p>
        </p:txBody>
      </p:sp>
      <p:sp>
        <p:nvSpPr>
          <p:cNvPr id="872" name="Google Shape;872;p31"/>
          <p:cNvSpPr txBox="1"/>
          <p:nvPr/>
        </p:nvSpPr>
        <p:spPr>
          <a:xfrm>
            <a:off x="841247" y="3447288"/>
            <a:ext cx="4892040" cy="36576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i="0" lang="en-US" sz="1200" u="none" cap="none" strike="noStrike">
                <a:solidFill>
                  <a:srgbClr val="FFFFFF"/>
                </a:solidFill>
                <a:latin typeface="Arial"/>
                <a:ea typeface="Arial"/>
                <a:cs typeface="Arial"/>
                <a:sym typeface="Arial"/>
              </a:rPr>
              <a:t>Ambiente del modelo productivo</a:t>
            </a:r>
            <a:endParaRPr/>
          </a:p>
        </p:txBody>
      </p:sp>
      <p:sp>
        <p:nvSpPr>
          <p:cNvPr id="873" name="Google Shape;873;p31"/>
          <p:cNvSpPr txBox="1"/>
          <p:nvPr/>
        </p:nvSpPr>
        <p:spPr>
          <a:xfrm>
            <a:off x="841247" y="3813048"/>
            <a:ext cx="4892040" cy="132588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950" u="none" cap="none" strike="noStrike">
                <a:solidFill>
                  <a:srgbClr val="B0B0B0"/>
                </a:solidFill>
                <a:latin typeface="Arial"/>
                <a:ea typeface="Arial"/>
                <a:cs typeface="Arial"/>
                <a:sym typeface="Arial"/>
              </a:rPr>
              <a:t>Considerar el ambiente que soportará el modelo productivo, es decir, en ambientes de desarrollo los procesos de entrenamiento y test se realizan por batch en ambientes controlados, pero en producción lo normal es que el modelo sea un endpoint que responda real time a una transacción, y genere un score de riesgo y su respectiva aprobación o no del fraude, sin embargo, la infraestructura productiva debe garantizar los tiempos de respuesta a nivel online (infraestructura elástica y escalable), además el código debe de estar lo suficientemente bien optimizado para que el modelo cumpla con los SLA permitidos, y que sus tiempos de respuesta sean los adecuados.</a:t>
            </a:r>
            <a:endParaRPr/>
          </a:p>
        </p:txBody>
      </p:sp>
      <p:sp>
        <p:nvSpPr>
          <p:cNvPr id="874" name="Google Shape;874;p31"/>
          <p:cNvSpPr/>
          <p:nvPr/>
        </p:nvSpPr>
        <p:spPr>
          <a:xfrm>
            <a:off x="6254496" y="1965960"/>
            <a:ext cx="5294376" cy="3099815"/>
          </a:xfrm>
          <a:prstGeom prst="rect">
            <a:avLst/>
          </a:prstGeom>
          <a:solidFill>
            <a:srgbClr val="111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75" name="Google Shape;875;p31"/>
          <p:cNvSpPr txBox="1"/>
          <p:nvPr/>
        </p:nvSpPr>
        <p:spPr>
          <a:xfrm>
            <a:off x="6455664" y="2167128"/>
            <a:ext cx="4892040" cy="36576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i="0" lang="en-US" sz="1200" u="none" cap="none" strike="noStrike">
                <a:solidFill>
                  <a:srgbClr val="FFFFFF"/>
                </a:solidFill>
                <a:latin typeface="Arial"/>
                <a:ea typeface="Arial"/>
                <a:cs typeface="Arial"/>
                <a:sym typeface="Arial"/>
              </a:rPr>
              <a:t>Monitoreo del modelo en producción</a:t>
            </a:r>
            <a:endParaRPr/>
          </a:p>
        </p:txBody>
      </p:sp>
      <p:sp>
        <p:nvSpPr>
          <p:cNvPr id="876" name="Google Shape;876;p31"/>
          <p:cNvSpPr txBox="1"/>
          <p:nvPr/>
        </p:nvSpPr>
        <p:spPr>
          <a:xfrm>
            <a:off x="6455664" y="2532888"/>
            <a:ext cx="4892040" cy="150876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950" u="none" cap="none" strike="noStrike">
                <a:solidFill>
                  <a:srgbClr val="B0B0B0"/>
                </a:solidFill>
                <a:latin typeface="Arial"/>
                <a:ea typeface="Arial"/>
                <a:cs typeface="Arial"/>
                <a:sym typeface="Arial"/>
              </a:rPr>
              <a:t>Realizar procesos de monitoreo, cuando un modelo está en servicio, muchas veces se pasa por alto monitorearlo en el tiempo, esto cae en el riesgo de haber drifts silenciosos que con el tiempo degradan el modelo, medir el drift del score y sus features de entrada es una buena práctica para detectar a tiempo si se verán afectadas las métricas del modelo y de negocio, se puede realizar un dashboard de monitoreo que revise 3 puntos fundamentales, respuesta del score del modelo, degradación de features de entrada, y métricas de ML y de negocio (esta última mide impacto en monto y en cantidad de transacciones), esto asegura que se pueda detectar a tiempo las degradaciones del modelo online y que se haga a tiempo su respectivo reentrenamiento.</a:t>
            </a:r>
            <a:endParaRPr/>
          </a:p>
        </p:txBody>
      </p:sp>
      <p:sp>
        <p:nvSpPr>
          <p:cNvPr id="877" name="Google Shape;877;p31"/>
          <p:cNvSpPr txBox="1"/>
          <p:nvPr/>
        </p:nvSpPr>
        <p:spPr>
          <a:xfrm>
            <a:off x="6455664" y="4133087"/>
            <a:ext cx="4892040" cy="36576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i="0" lang="en-US" sz="1200" u="none" cap="none" strike="noStrike">
                <a:solidFill>
                  <a:srgbClr val="FFFFFF"/>
                </a:solidFill>
                <a:latin typeface="Arial"/>
                <a:ea typeface="Arial"/>
                <a:cs typeface="Arial"/>
                <a:sym typeface="Arial"/>
              </a:rPr>
              <a:t>MLOps end-to-end</a:t>
            </a:r>
            <a:endParaRPr/>
          </a:p>
        </p:txBody>
      </p:sp>
      <p:sp>
        <p:nvSpPr>
          <p:cNvPr id="878" name="Google Shape;878;p31"/>
          <p:cNvSpPr txBox="1"/>
          <p:nvPr/>
        </p:nvSpPr>
        <p:spPr>
          <a:xfrm>
            <a:off x="6455664" y="4498848"/>
            <a:ext cx="4892040" cy="36576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950" u="none" cap="none" strike="noStrike">
                <a:solidFill>
                  <a:srgbClr val="B0B0B0"/>
                </a:solidFill>
                <a:latin typeface="Arial"/>
                <a:ea typeface="Arial"/>
                <a:cs typeface="Arial"/>
                <a:sym typeface="Arial"/>
              </a:rPr>
              <a:t>Finalmente, en conclusión, garantizar procesos de MLOps el cual permite mantener el ciclo de vida end-to-end del modelo siempre y cuando sea posible.</a:t>
            </a:r>
            <a:endParaRPr/>
          </a:p>
        </p:txBody>
      </p:sp>
      <p:sp>
        <p:nvSpPr>
          <p:cNvPr id="879" name="Google Shape;879;p31"/>
          <p:cNvSpPr txBox="1"/>
          <p:nvPr/>
        </p:nvSpPr>
        <p:spPr>
          <a:xfrm>
            <a:off x="640080" y="5504688"/>
            <a:ext cx="10908792" cy="219456"/>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1" lang="en-US" sz="950" u="none" cap="none" strike="noStrike">
                <a:solidFill>
                  <a:srgbClr val="FFFFFF"/>
                </a:solidFill>
                <a:latin typeface="Arial"/>
                <a:ea typeface="Arial"/>
                <a:cs typeface="Arial"/>
                <a:sym typeface="Arial"/>
              </a:rPr>
              <a:t>Nota: estas respuestas son basadas en experiencia, sin embargo en los siguientes artículos se detallan procesos similares que sustentan estas respuestas:</a:t>
            </a:r>
            <a:endParaRPr/>
          </a:p>
        </p:txBody>
      </p:sp>
      <p:sp>
        <p:nvSpPr>
          <p:cNvPr id="880" name="Google Shape;880;p31"/>
          <p:cNvSpPr txBox="1"/>
          <p:nvPr/>
        </p:nvSpPr>
        <p:spPr>
          <a:xfrm>
            <a:off x="777240" y="5724144"/>
            <a:ext cx="10698480" cy="1828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900" u="none" cap="none" strike="noStrike">
                <a:solidFill>
                  <a:srgbClr val="01B1EC"/>
                </a:solidFill>
                <a:latin typeface="Arial"/>
                <a:ea typeface="Arial"/>
                <a:cs typeface="Arial"/>
                <a:sym typeface="Arial"/>
              </a:rPr>
              <a:t>Rules of Machine Learning: Best Practices for ML Engineering — developers.google.com/machine-learning/guides/rules-of-ml?hl=es-419</a:t>
            </a:r>
            <a:endParaRPr/>
          </a:p>
        </p:txBody>
      </p:sp>
      <p:sp>
        <p:nvSpPr>
          <p:cNvPr id="881" name="Google Shape;881;p31"/>
          <p:cNvSpPr txBox="1"/>
          <p:nvPr/>
        </p:nvSpPr>
        <p:spPr>
          <a:xfrm>
            <a:off x="777240" y="5934456"/>
            <a:ext cx="10698480" cy="1828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900" u="none" cap="none" strike="noStrike">
                <a:solidFill>
                  <a:srgbClr val="01B1EC"/>
                </a:solidFill>
                <a:latin typeface="Arial"/>
                <a:ea typeface="Arial"/>
                <a:cs typeface="Arial"/>
                <a:sym typeface="Arial"/>
              </a:rPr>
              <a:t>Monitor models for training-serving skew with Vertex AI — cloud.google.com/blog/topics/developers-practitioners/monitor-models-training-serving-skew-vertex-ai</a:t>
            </a:r>
            <a:endParaRPr/>
          </a:p>
        </p:txBody>
      </p:sp>
      <p:sp>
        <p:nvSpPr>
          <p:cNvPr id="882" name="Google Shape;882;p31"/>
          <p:cNvSpPr txBox="1"/>
          <p:nvPr/>
        </p:nvSpPr>
        <p:spPr>
          <a:xfrm>
            <a:off x="777240" y="6144768"/>
            <a:ext cx="10698480" cy="1828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900" u="none" cap="none" strike="noStrike">
                <a:solidFill>
                  <a:srgbClr val="01B1EC"/>
                </a:solidFill>
                <a:latin typeface="Arial"/>
                <a:ea typeface="Arial"/>
                <a:cs typeface="Arial"/>
                <a:sym typeface="Arial"/>
              </a:rPr>
              <a:t>Population Stability Index (PSI): What You Need To Know — arize.com/blog-course/population-stability-index-psi</a:t>
            </a:r>
            <a:endParaRPr/>
          </a:p>
        </p:txBody>
      </p:sp>
      <p:sp>
        <p:nvSpPr>
          <p:cNvPr id="883" name="Google Shape;883;p31"/>
          <p:cNvSpPr/>
          <p:nvPr/>
        </p:nvSpPr>
        <p:spPr>
          <a:xfrm>
            <a:off x="0" y="6537960"/>
            <a:ext cx="12191695" cy="320040"/>
          </a:xfrm>
          <a:prstGeom prst="rect">
            <a:avLst/>
          </a:prstGeom>
          <a:solidFill>
            <a:srgbClr val="0A0A0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nvGrpSpPr>
          <p:cNvPr id="884" name="Google Shape;884;p31"/>
          <p:cNvGrpSpPr/>
          <p:nvPr/>
        </p:nvGrpSpPr>
        <p:grpSpPr>
          <a:xfrm>
            <a:off x="12" y="6223211"/>
            <a:ext cx="634800" cy="634800"/>
            <a:chOff x="12" y="4508711"/>
            <a:chExt cx="634800" cy="634800"/>
          </a:xfrm>
        </p:grpSpPr>
        <p:sp>
          <p:nvSpPr>
            <p:cNvPr id="885" name="Google Shape;885;p31"/>
            <p:cNvSpPr/>
            <p:nvPr/>
          </p:nvSpPr>
          <p:spPr>
            <a:xfrm>
              <a:off x="12" y="4508711"/>
              <a:ext cx="634800" cy="634800"/>
            </a:xfrm>
            <a:prstGeom prst="round1Rect">
              <a:avLst>
                <a:gd fmla="val 28797" name="adj"/>
              </a:avLst>
            </a:prstGeom>
            <a:solidFill>
              <a:srgbClr val="FFD1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886" name="Google Shape;886;p31"/>
            <p:cNvPicPr preferRelativeResize="0"/>
            <p:nvPr/>
          </p:nvPicPr>
          <p:blipFill>
            <a:blip r:embed="rId3">
              <a:alphaModFix/>
            </a:blip>
            <a:stretch>
              <a:fillRect/>
            </a:stretch>
          </p:blipFill>
          <p:spPr>
            <a:xfrm>
              <a:off x="124673" y="4689253"/>
              <a:ext cx="397051" cy="273714"/>
            </a:xfrm>
            <a:prstGeom prst="rect">
              <a:avLst/>
            </a:prstGeom>
            <a:noFill/>
            <a:ln>
              <a:noFill/>
            </a:ln>
          </p:spPr>
        </p:pic>
      </p:grpSp>
      <p:sp>
        <p:nvSpPr>
          <p:cNvPr id="887" name="Google Shape;887;p31"/>
          <p:cNvSpPr/>
          <p:nvPr/>
        </p:nvSpPr>
        <p:spPr>
          <a:xfrm rot="10800000">
            <a:off x="11736276" y="0"/>
            <a:ext cx="455400" cy="421500"/>
          </a:xfrm>
          <a:prstGeom prst="corner">
            <a:avLst>
              <a:gd fmla="val 39228" name="adj1"/>
              <a:gd fmla="val 38336" name="adj2"/>
            </a:avLst>
          </a:prstGeom>
          <a:solidFill>
            <a:srgbClr val="FFD100"/>
          </a:solidFill>
          <a:ln>
            <a:noFill/>
          </a:ln>
        </p:spPr>
        <p:txBody>
          <a:bodyPr anchorCtr="0" anchor="ctr" bIns="60950" lIns="60950" spcFirstLastPara="1" rIns="60950" wrap="square" tIns="60950">
            <a:noAutofit/>
          </a:bodyPr>
          <a:lstStyle/>
          <a:p>
            <a:pPr indent="0" lvl="0" marL="0" rtl="0" algn="l">
              <a:spcBef>
                <a:spcPts val="0"/>
              </a:spcBef>
              <a:spcAft>
                <a:spcPts val="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1" name="Shape 891"/>
        <p:cNvGrpSpPr/>
        <p:nvPr/>
      </p:nvGrpSpPr>
      <p:grpSpPr>
        <a:xfrm>
          <a:off x="0" y="0"/>
          <a:ext cx="0" cy="0"/>
          <a:chOff x="0" y="0"/>
          <a:chExt cx="0" cy="0"/>
        </a:xfrm>
      </p:grpSpPr>
      <p:sp>
        <p:nvSpPr>
          <p:cNvPr id="892" name="Google Shape;892;p32"/>
          <p:cNvSpPr/>
          <p:nvPr/>
        </p:nvSpPr>
        <p:spPr>
          <a:xfrm>
            <a:off x="0" y="0"/>
            <a:ext cx="12191695" cy="6858000"/>
          </a:xfrm>
          <a:prstGeom prst="rect">
            <a:avLst/>
          </a:prstGeom>
          <a:solidFill>
            <a:srgbClr val="1A1A1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93" name="Google Shape;893;p32"/>
          <p:cNvSpPr/>
          <p:nvPr/>
        </p:nvSpPr>
        <p:spPr>
          <a:xfrm>
            <a:off x="502920" y="457200"/>
            <a:ext cx="54864" cy="777240"/>
          </a:xfrm>
          <a:prstGeom prst="rect">
            <a:avLst/>
          </a:prstGeom>
          <a:solidFill>
            <a:srgbClr val="FECE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94" name="Google Shape;894;p32"/>
          <p:cNvSpPr txBox="1"/>
          <p:nvPr/>
        </p:nvSpPr>
        <p:spPr>
          <a:xfrm>
            <a:off x="685800" y="457200"/>
            <a:ext cx="1051560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300" u="none" cap="none" strike="noStrike">
                <a:solidFill>
                  <a:srgbClr val="B0B0B0"/>
                </a:solidFill>
                <a:latin typeface="Arial"/>
                <a:ea typeface="Arial"/>
                <a:cs typeface="Arial"/>
                <a:sym typeface="Arial"/>
              </a:rPr>
              <a:t>CONSIDERACIONES ADICIONALES</a:t>
            </a:r>
            <a:endParaRPr/>
          </a:p>
        </p:txBody>
      </p:sp>
      <p:sp>
        <p:nvSpPr>
          <p:cNvPr id="895" name="Google Shape;895;p32"/>
          <p:cNvSpPr txBox="1"/>
          <p:nvPr/>
        </p:nvSpPr>
        <p:spPr>
          <a:xfrm>
            <a:off x="658368" y="749808"/>
            <a:ext cx="10607040" cy="5943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600" u="none" cap="none" strike="noStrike">
                <a:solidFill>
                  <a:srgbClr val="FFFFFF"/>
                </a:solidFill>
                <a:latin typeface="Arial"/>
                <a:ea typeface="Arial"/>
                <a:cs typeface="Arial"/>
                <a:sym typeface="Arial"/>
              </a:rPr>
              <a:t>CONSIDERACIONES ADICIONALES</a:t>
            </a:r>
            <a:endParaRPr/>
          </a:p>
        </p:txBody>
      </p:sp>
      <p:sp>
        <p:nvSpPr>
          <p:cNvPr id="896" name="Google Shape;896;p32"/>
          <p:cNvSpPr txBox="1"/>
          <p:nvPr/>
        </p:nvSpPr>
        <p:spPr>
          <a:xfrm>
            <a:off x="640080" y="1143000"/>
            <a:ext cx="1090879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1" lang="en-US" sz="1300" u="none" cap="none" strike="noStrike">
                <a:solidFill>
                  <a:srgbClr val="01B1EC"/>
                </a:solidFill>
                <a:latin typeface="Arial"/>
                <a:ea typeface="Arial"/>
                <a:cs typeface="Arial"/>
                <a:sym typeface="Arial"/>
              </a:rPr>
              <a:t>Suponiendo que el desempeño predictivo en producción es muy diferente de lo que se esperaba, ¿cuáles crees que son las causas más probables?</a:t>
            </a:r>
            <a:endParaRPr/>
          </a:p>
        </p:txBody>
      </p:sp>
      <p:sp>
        <p:nvSpPr>
          <p:cNvPr id="897" name="Google Shape;897;p32"/>
          <p:cNvSpPr txBox="1"/>
          <p:nvPr/>
        </p:nvSpPr>
        <p:spPr>
          <a:xfrm>
            <a:off x="640080" y="1380744"/>
            <a:ext cx="10908792" cy="530352"/>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1" lang="en-US" sz="1000" u="none" cap="none" strike="noStrike">
                <a:solidFill>
                  <a:srgbClr val="FFFFFF"/>
                </a:solidFill>
                <a:latin typeface="Arial"/>
                <a:ea typeface="Arial"/>
                <a:cs typeface="Arial"/>
                <a:sym typeface="Arial"/>
              </a:rPr>
              <a:t>Para analizar las causas más probables que puedan hacer que el desempeño no sea el esperado, puede haber varios puntos por revisar: ¿la infraestructura se mantiene sana y estable?, ¿no se rompió el endpoint de la API del modelo?, ¿se garantizó que las transformaciones utilizadas en Train se están aplicando de manera adecuada en Prod? En caso de que la infraestructura, el endpoint y el código sean estables, algunas causas probables pueden ser las siguientes:</a:t>
            </a:r>
            <a:endParaRPr/>
          </a:p>
        </p:txBody>
      </p:sp>
      <p:sp>
        <p:nvSpPr>
          <p:cNvPr id="898" name="Google Shape;898;p32"/>
          <p:cNvSpPr/>
          <p:nvPr/>
        </p:nvSpPr>
        <p:spPr>
          <a:xfrm>
            <a:off x="640080" y="1911095"/>
            <a:ext cx="3453384" cy="4507992"/>
          </a:xfrm>
          <a:prstGeom prst="rect">
            <a:avLst/>
          </a:prstGeom>
          <a:solidFill>
            <a:srgbClr val="111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99" name="Google Shape;899;p32"/>
          <p:cNvSpPr txBox="1"/>
          <p:nvPr/>
        </p:nvSpPr>
        <p:spPr>
          <a:xfrm>
            <a:off x="841247" y="2112264"/>
            <a:ext cx="3051048" cy="36576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i="0" lang="en-US" sz="1200" u="none" cap="none" strike="noStrike">
                <a:solidFill>
                  <a:srgbClr val="FFFFFF"/>
                </a:solidFill>
                <a:latin typeface="Arial"/>
                <a:ea typeface="Arial"/>
                <a:cs typeface="Arial"/>
                <a:sym typeface="Arial"/>
              </a:rPr>
              <a:t>Dependencia de reglas de negocio con el modelo</a:t>
            </a:r>
            <a:endParaRPr/>
          </a:p>
        </p:txBody>
      </p:sp>
      <p:sp>
        <p:nvSpPr>
          <p:cNvPr id="900" name="Google Shape;900;p32"/>
          <p:cNvSpPr txBox="1"/>
          <p:nvPr/>
        </p:nvSpPr>
        <p:spPr>
          <a:xfrm>
            <a:off x="841247" y="2478024"/>
            <a:ext cx="3051048" cy="1472184"/>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950" u="none" cap="none" strike="noStrike">
                <a:solidFill>
                  <a:srgbClr val="B0B0B0"/>
                </a:solidFill>
                <a:latin typeface="Arial"/>
                <a:ea typeface="Arial"/>
                <a:cs typeface="Arial"/>
                <a:sym typeface="Arial"/>
              </a:rPr>
              <a:t>Hay procesos que aplican reglas de negocio mucho antes de que el modelo pueda operar. En estos casos, es posible que al modelo nunca le lleguen las suficientes transacciones y solo algunas pocas, muy diferentes a lo que se esperaba. Para estos casos lo ideal sería que el modelo fuera un sistema paralelo a las reglas y no en cascada; esto hace que el modelo pueda operar sobre toda la población y tomar una decisión sin depender de reglas externas.</a:t>
            </a:r>
            <a:endParaRPr/>
          </a:p>
        </p:txBody>
      </p:sp>
      <p:sp>
        <p:nvSpPr>
          <p:cNvPr id="901" name="Google Shape;901;p32"/>
          <p:cNvSpPr txBox="1"/>
          <p:nvPr/>
        </p:nvSpPr>
        <p:spPr>
          <a:xfrm>
            <a:off x="841247" y="4041648"/>
            <a:ext cx="3051048" cy="36576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i="0" lang="en-US" sz="1200" u="none" cap="none" strike="noStrike">
                <a:solidFill>
                  <a:srgbClr val="FFFFFF"/>
                </a:solidFill>
                <a:latin typeface="Arial"/>
                <a:ea typeface="Arial"/>
                <a:cs typeface="Arial"/>
                <a:sym typeface="Arial"/>
              </a:rPr>
              <a:t>Maduración de marca o target</a:t>
            </a:r>
            <a:endParaRPr/>
          </a:p>
        </p:txBody>
      </p:sp>
      <p:sp>
        <p:nvSpPr>
          <p:cNvPr id="902" name="Google Shape;902;p32"/>
          <p:cNvSpPr txBox="1"/>
          <p:nvPr/>
        </p:nvSpPr>
        <p:spPr>
          <a:xfrm>
            <a:off x="841247" y="4407408"/>
            <a:ext cx="3051048" cy="676655"/>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950" u="none" cap="none" strike="noStrike">
                <a:solidFill>
                  <a:srgbClr val="B0B0B0"/>
                </a:solidFill>
                <a:latin typeface="Arial"/>
                <a:ea typeface="Arial"/>
                <a:cs typeface="Arial"/>
                <a:sym typeface="Arial"/>
              </a:rPr>
              <a:t>Si el target a scorear tarda mucho en madurar, las métricas no podrán medirse de manera rápida, y se tendrá que esperar semanas o hasta meses para ver reflejado el verdadero performance de un modelo.</a:t>
            </a:r>
            <a:endParaRPr/>
          </a:p>
        </p:txBody>
      </p:sp>
      <p:sp>
        <p:nvSpPr>
          <p:cNvPr id="903" name="Google Shape;903;p32"/>
          <p:cNvSpPr txBox="1"/>
          <p:nvPr/>
        </p:nvSpPr>
        <p:spPr>
          <a:xfrm>
            <a:off x="841247" y="5175504"/>
            <a:ext cx="3051048" cy="36576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i="0" lang="en-US" sz="1200" u="none" cap="none" strike="noStrike">
                <a:solidFill>
                  <a:srgbClr val="FFFFFF"/>
                </a:solidFill>
                <a:latin typeface="Arial"/>
                <a:ea typeface="Arial"/>
                <a:cs typeface="Arial"/>
                <a:sym typeface="Arial"/>
              </a:rPr>
              <a:t>Cálculo distinto en la ETL</a:t>
            </a:r>
            <a:endParaRPr/>
          </a:p>
        </p:txBody>
      </p:sp>
      <p:sp>
        <p:nvSpPr>
          <p:cNvPr id="904" name="Google Shape;904;p32"/>
          <p:cNvSpPr txBox="1"/>
          <p:nvPr/>
        </p:nvSpPr>
        <p:spPr>
          <a:xfrm>
            <a:off x="841247" y="5541264"/>
            <a:ext cx="3051048" cy="676655"/>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950" u="none" cap="none" strike="noStrike">
                <a:solidFill>
                  <a:srgbClr val="B0B0B0"/>
                </a:solidFill>
                <a:latin typeface="Arial"/>
                <a:ea typeface="Arial"/>
                <a:cs typeface="Arial"/>
                <a:sym typeface="Arial"/>
              </a:rPr>
              <a:t>Si el modelo no depende de APIs que proveen las features, sino de una ETL, puede ocurrir que alguna feature con importancia alta se calcule diferente, cambiando la distribución de la misma.</a:t>
            </a:r>
            <a:endParaRPr/>
          </a:p>
        </p:txBody>
      </p:sp>
      <p:sp>
        <p:nvSpPr>
          <p:cNvPr id="905" name="Google Shape;905;p32"/>
          <p:cNvSpPr/>
          <p:nvPr/>
        </p:nvSpPr>
        <p:spPr>
          <a:xfrm>
            <a:off x="4367784" y="1911095"/>
            <a:ext cx="3453384" cy="3538728"/>
          </a:xfrm>
          <a:prstGeom prst="rect">
            <a:avLst/>
          </a:prstGeom>
          <a:solidFill>
            <a:srgbClr val="111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06" name="Google Shape;906;p32"/>
          <p:cNvSpPr txBox="1"/>
          <p:nvPr/>
        </p:nvSpPr>
        <p:spPr>
          <a:xfrm>
            <a:off x="4568952" y="2112264"/>
            <a:ext cx="3051048" cy="36576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i="0" lang="en-US" sz="1200" u="none" cap="none" strike="noStrike">
                <a:solidFill>
                  <a:srgbClr val="FFFFFF"/>
                </a:solidFill>
                <a:latin typeface="Arial"/>
                <a:ea typeface="Arial"/>
                <a:cs typeface="Arial"/>
                <a:sym typeface="Arial"/>
              </a:rPr>
              <a:t>Features esperadas que no llegan</a:t>
            </a:r>
            <a:endParaRPr/>
          </a:p>
        </p:txBody>
      </p:sp>
      <p:sp>
        <p:nvSpPr>
          <p:cNvPr id="907" name="Google Shape;907;p32"/>
          <p:cNvSpPr txBox="1"/>
          <p:nvPr/>
        </p:nvSpPr>
        <p:spPr>
          <a:xfrm>
            <a:off x="4568952" y="2478024"/>
            <a:ext cx="3051048" cy="1472184"/>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950" u="none" cap="none" strike="noStrike">
                <a:solidFill>
                  <a:srgbClr val="B0B0B0"/>
                </a:solidFill>
                <a:latin typeface="Arial"/>
                <a:ea typeface="Arial"/>
                <a:cs typeface="Arial"/>
                <a:sym typeface="Arial"/>
              </a:rPr>
              <a:t>Se esperaban valores en la "feature_1" pero solo llegan nulos o ceros. Esta causa es muy común: en Train las features pueden contener datos, pero a nivel productivo estos datos nunca llegan. Esto puede ocurrir en muchas features, y si están en el top de importancia del modelo, efectivamente su desempeño caerá estrepitosamente en un periodo corto de tiempo. Lo más recomendable es asegurar que en Prod todas las features tendrán los valores esperados para evitar esto.</a:t>
            </a:r>
            <a:endParaRPr/>
          </a:p>
        </p:txBody>
      </p:sp>
      <p:sp>
        <p:nvSpPr>
          <p:cNvPr id="908" name="Google Shape;908;p32"/>
          <p:cNvSpPr txBox="1"/>
          <p:nvPr/>
        </p:nvSpPr>
        <p:spPr>
          <a:xfrm>
            <a:off x="4568952" y="4041648"/>
            <a:ext cx="3051048" cy="36576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i="0" lang="en-US" sz="1200" u="none" cap="none" strike="noStrike">
                <a:solidFill>
                  <a:srgbClr val="FFFFFF"/>
                </a:solidFill>
                <a:latin typeface="Arial"/>
                <a:ea typeface="Arial"/>
                <a:cs typeface="Arial"/>
                <a:sym typeface="Arial"/>
              </a:rPr>
              <a:t>Data Leakage en el entrenamiento</a:t>
            </a:r>
            <a:endParaRPr/>
          </a:p>
        </p:txBody>
      </p:sp>
      <p:sp>
        <p:nvSpPr>
          <p:cNvPr id="909" name="Google Shape;909;p32"/>
          <p:cNvSpPr txBox="1"/>
          <p:nvPr/>
        </p:nvSpPr>
        <p:spPr>
          <a:xfrm>
            <a:off x="4568952" y="4407408"/>
            <a:ext cx="3051048" cy="841248"/>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950" u="none" cap="none" strike="noStrike">
                <a:solidFill>
                  <a:srgbClr val="B0B0B0"/>
                </a:solidFill>
                <a:latin typeface="Arial"/>
                <a:ea typeface="Arial"/>
                <a:cs typeface="Arial"/>
                <a:sym typeface="Arial"/>
              </a:rPr>
              <a:t>Garantizar que en el proceso de Train se haya evitado sí o sí el data leakage. Si esto no se evita, las métricas del proceso de entrenamiento fueron engañosas y se inflaron más de lo esperado, ocasionando que en Prod el modelo funcione peor.</a:t>
            </a:r>
            <a:endParaRPr/>
          </a:p>
        </p:txBody>
      </p:sp>
      <p:sp>
        <p:nvSpPr>
          <p:cNvPr id="910" name="Google Shape;910;p32"/>
          <p:cNvSpPr/>
          <p:nvPr/>
        </p:nvSpPr>
        <p:spPr>
          <a:xfrm>
            <a:off x="8095488" y="1911095"/>
            <a:ext cx="3453384" cy="3383280"/>
          </a:xfrm>
          <a:prstGeom prst="rect">
            <a:avLst/>
          </a:prstGeom>
          <a:solidFill>
            <a:srgbClr val="111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11" name="Google Shape;911;p32"/>
          <p:cNvSpPr txBox="1"/>
          <p:nvPr/>
        </p:nvSpPr>
        <p:spPr>
          <a:xfrm>
            <a:off x="8296656" y="2112264"/>
            <a:ext cx="3051048" cy="36576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i="0" lang="en-US" sz="1200" u="none" cap="none" strike="noStrike">
                <a:solidFill>
                  <a:srgbClr val="FFFFFF"/>
                </a:solidFill>
                <a:latin typeface="Arial"/>
                <a:ea typeface="Arial"/>
                <a:cs typeface="Arial"/>
                <a:sym typeface="Arial"/>
              </a:rPr>
              <a:t>Drift natural de las features</a:t>
            </a:r>
            <a:endParaRPr/>
          </a:p>
        </p:txBody>
      </p:sp>
      <p:sp>
        <p:nvSpPr>
          <p:cNvPr id="912" name="Google Shape;912;p32"/>
          <p:cNvSpPr txBox="1"/>
          <p:nvPr/>
        </p:nvSpPr>
        <p:spPr>
          <a:xfrm>
            <a:off x="8296656" y="2478024"/>
            <a:ext cx="3051048" cy="1161288"/>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950" u="none" cap="none" strike="noStrike">
                <a:solidFill>
                  <a:srgbClr val="B0B0B0"/>
                </a:solidFill>
                <a:latin typeface="Arial"/>
                <a:ea typeface="Arial"/>
                <a:cs typeface="Arial"/>
                <a:sym typeface="Arial"/>
              </a:rPr>
              <a:t>Los procesos son cambiantes y es posible que en el proceso de entrenamiento las features tuvieran una distribución muy diferente a la del momento en que se productivizó. Esto puede deberse a campañas de peak seasons o similares que alteran el comportamiento normal de las features y que el modelo no tenía en el proceso de Train.</a:t>
            </a:r>
            <a:endParaRPr/>
          </a:p>
        </p:txBody>
      </p:sp>
      <p:sp>
        <p:nvSpPr>
          <p:cNvPr id="913" name="Google Shape;913;p32"/>
          <p:cNvSpPr txBox="1"/>
          <p:nvPr/>
        </p:nvSpPr>
        <p:spPr>
          <a:xfrm>
            <a:off x="8296656" y="3730752"/>
            <a:ext cx="3051048" cy="36576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i="0" lang="en-US" sz="1200" u="none" cap="none" strike="noStrike">
                <a:solidFill>
                  <a:srgbClr val="FFFFFF"/>
                </a:solidFill>
                <a:latin typeface="Arial"/>
                <a:ea typeface="Arial"/>
                <a:cs typeface="Arial"/>
                <a:sym typeface="Arial"/>
              </a:rPr>
              <a:t>Deprecación de features</a:t>
            </a:r>
            <a:endParaRPr/>
          </a:p>
        </p:txBody>
      </p:sp>
      <p:sp>
        <p:nvSpPr>
          <p:cNvPr id="914" name="Google Shape;914;p32"/>
          <p:cNvSpPr txBox="1"/>
          <p:nvPr/>
        </p:nvSpPr>
        <p:spPr>
          <a:xfrm>
            <a:off x="8296656" y="4096512"/>
            <a:ext cx="3051048" cy="996695"/>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950" u="none" cap="none" strike="noStrike">
                <a:solidFill>
                  <a:srgbClr val="B0B0B0"/>
                </a:solidFill>
                <a:latin typeface="Arial"/>
                <a:ea typeface="Arial"/>
                <a:cs typeface="Arial"/>
                <a:sym typeface="Arial"/>
              </a:rPr>
              <a:t>En muchas ocasiones los modelos consumen APIs que proveen diferentes tipos de features. Si el owner de alguna de estas APIs considera darla de baja, al modelo no le llegarán esas features, ya que la API que las provee se rompe, ocasionando un problema similar al anterior.</a:t>
            </a:r>
            <a:endParaRPr/>
          </a:p>
        </p:txBody>
      </p:sp>
      <p:sp>
        <p:nvSpPr>
          <p:cNvPr id="915" name="Google Shape;915;p32"/>
          <p:cNvSpPr/>
          <p:nvPr/>
        </p:nvSpPr>
        <p:spPr>
          <a:xfrm>
            <a:off x="0" y="6537960"/>
            <a:ext cx="12191695" cy="320040"/>
          </a:xfrm>
          <a:prstGeom prst="rect">
            <a:avLst/>
          </a:prstGeom>
          <a:solidFill>
            <a:srgbClr val="0A0A0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nvGrpSpPr>
          <p:cNvPr id="916" name="Google Shape;916;p32"/>
          <p:cNvGrpSpPr/>
          <p:nvPr/>
        </p:nvGrpSpPr>
        <p:grpSpPr>
          <a:xfrm>
            <a:off x="12" y="6223211"/>
            <a:ext cx="634800" cy="634800"/>
            <a:chOff x="12" y="4508711"/>
            <a:chExt cx="634800" cy="634800"/>
          </a:xfrm>
        </p:grpSpPr>
        <p:sp>
          <p:nvSpPr>
            <p:cNvPr id="917" name="Google Shape;917;p32"/>
            <p:cNvSpPr/>
            <p:nvPr/>
          </p:nvSpPr>
          <p:spPr>
            <a:xfrm>
              <a:off x="12" y="4508711"/>
              <a:ext cx="634800" cy="634800"/>
            </a:xfrm>
            <a:prstGeom prst="round1Rect">
              <a:avLst>
                <a:gd fmla="val 28797" name="adj"/>
              </a:avLst>
            </a:prstGeom>
            <a:solidFill>
              <a:srgbClr val="FFD1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918" name="Google Shape;918;p32"/>
            <p:cNvPicPr preferRelativeResize="0"/>
            <p:nvPr/>
          </p:nvPicPr>
          <p:blipFill>
            <a:blip r:embed="rId3">
              <a:alphaModFix/>
            </a:blip>
            <a:stretch>
              <a:fillRect/>
            </a:stretch>
          </p:blipFill>
          <p:spPr>
            <a:xfrm>
              <a:off x="124673" y="4689253"/>
              <a:ext cx="397051" cy="273714"/>
            </a:xfrm>
            <a:prstGeom prst="rect">
              <a:avLst/>
            </a:prstGeom>
            <a:noFill/>
            <a:ln>
              <a:noFill/>
            </a:ln>
          </p:spPr>
        </p:pic>
      </p:grpSp>
      <p:sp>
        <p:nvSpPr>
          <p:cNvPr id="919" name="Google Shape;919;p32"/>
          <p:cNvSpPr/>
          <p:nvPr/>
        </p:nvSpPr>
        <p:spPr>
          <a:xfrm rot="10800000">
            <a:off x="11736276" y="0"/>
            <a:ext cx="455400" cy="421500"/>
          </a:xfrm>
          <a:prstGeom prst="corner">
            <a:avLst>
              <a:gd fmla="val 39228" name="adj1"/>
              <a:gd fmla="val 38336" name="adj2"/>
            </a:avLst>
          </a:prstGeom>
          <a:solidFill>
            <a:srgbClr val="FFD100"/>
          </a:solidFill>
          <a:ln>
            <a:noFill/>
          </a:ln>
        </p:spPr>
        <p:txBody>
          <a:bodyPr anchorCtr="0" anchor="ctr" bIns="60950" lIns="60950" spcFirstLastPara="1" rIns="60950" wrap="square" tIns="60950">
            <a:noAutofit/>
          </a:bodyPr>
          <a:lstStyle/>
          <a:p>
            <a:pPr indent="0" lvl="0" marL="0" rtl="0" algn="l">
              <a:spcBef>
                <a:spcPts val="0"/>
              </a:spcBef>
              <a:spcAft>
                <a:spcPts val="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3" name="Shape 923"/>
        <p:cNvGrpSpPr/>
        <p:nvPr/>
      </p:nvGrpSpPr>
      <p:grpSpPr>
        <a:xfrm>
          <a:off x="0" y="0"/>
          <a:ext cx="0" cy="0"/>
          <a:chOff x="0" y="0"/>
          <a:chExt cx="0" cy="0"/>
        </a:xfrm>
      </p:grpSpPr>
      <p:sp>
        <p:nvSpPr>
          <p:cNvPr id="924" name="Google Shape;924;p33"/>
          <p:cNvSpPr/>
          <p:nvPr/>
        </p:nvSpPr>
        <p:spPr>
          <a:xfrm>
            <a:off x="0" y="0"/>
            <a:ext cx="12191695" cy="6858000"/>
          </a:xfrm>
          <a:prstGeom prst="rect">
            <a:avLst/>
          </a:prstGeom>
          <a:solidFill>
            <a:srgbClr val="1A1A1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25" name="Google Shape;925;p33"/>
          <p:cNvSpPr/>
          <p:nvPr/>
        </p:nvSpPr>
        <p:spPr>
          <a:xfrm>
            <a:off x="502920" y="457200"/>
            <a:ext cx="54864" cy="777240"/>
          </a:xfrm>
          <a:prstGeom prst="rect">
            <a:avLst/>
          </a:prstGeom>
          <a:solidFill>
            <a:srgbClr val="FECE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26" name="Google Shape;926;p33"/>
          <p:cNvSpPr txBox="1"/>
          <p:nvPr/>
        </p:nvSpPr>
        <p:spPr>
          <a:xfrm>
            <a:off x="685800" y="457200"/>
            <a:ext cx="1051560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300" u="none" cap="none" strike="noStrike">
                <a:solidFill>
                  <a:srgbClr val="B0B0B0"/>
                </a:solidFill>
                <a:latin typeface="Arial"/>
                <a:ea typeface="Arial"/>
                <a:cs typeface="Arial"/>
                <a:sym typeface="Arial"/>
              </a:rPr>
              <a:t>CONSIDERACIONES ADICIONALES</a:t>
            </a:r>
            <a:endParaRPr/>
          </a:p>
        </p:txBody>
      </p:sp>
      <p:sp>
        <p:nvSpPr>
          <p:cNvPr id="927" name="Google Shape;927;p33"/>
          <p:cNvSpPr txBox="1"/>
          <p:nvPr/>
        </p:nvSpPr>
        <p:spPr>
          <a:xfrm>
            <a:off x="658368" y="749808"/>
            <a:ext cx="10607040" cy="5943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600" u="none" cap="none" strike="noStrike">
                <a:solidFill>
                  <a:srgbClr val="FFFFFF"/>
                </a:solidFill>
                <a:latin typeface="Arial"/>
                <a:ea typeface="Arial"/>
                <a:cs typeface="Arial"/>
                <a:sym typeface="Arial"/>
              </a:rPr>
              <a:t>CONSIDERACIONES ADICIONALES</a:t>
            </a:r>
            <a:endParaRPr/>
          </a:p>
        </p:txBody>
      </p:sp>
      <p:sp>
        <p:nvSpPr>
          <p:cNvPr id="928" name="Google Shape;928;p33"/>
          <p:cNvSpPr txBox="1"/>
          <p:nvPr/>
        </p:nvSpPr>
        <p:spPr>
          <a:xfrm>
            <a:off x="640080" y="1600200"/>
            <a:ext cx="10908792" cy="36576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1" lang="en-US" sz="1250" u="none" cap="none" strike="noStrike">
                <a:solidFill>
                  <a:srgbClr val="01B1EC"/>
                </a:solidFill>
                <a:latin typeface="Arial"/>
                <a:ea typeface="Arial"/>
                <a:cs typeface="Arial"/>
                <a:sym typeface="Arial"/>
              </a:rPr>
              <a:t>¿Qué pasos se deben seguir para poner el nuevo modelo en producción?</a:t>
            </a:r>
            <a:endParaRPr/>
          </a:p>
        </p:txBody>
      </p:sp>
      <p:sp>
        <p:nvSpPr>
          <p:cNvPr id="929" name="Google Shape;929;p33"/>
          <p:cNvSpPr/>
          <p:nvPr/>
        </p:nvSpPr>
        <p:spPr>
          <a:xfrm>
            <a:off x="640080" y="2057400"/>
            <a:ext cx="10908792" cy="4343400"/>
          </a:xfrm>
          <a:prstGeom prst="rect">
            <a:avLst/>
          </a:prstGeom>
          <a:solidFill>
            <a:srgbClr val="111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30" name="Google Shape;930;p33"/>
          <p:cNvSpPr/>
          <p:nvPr/>
        </p:nvSpPr>
        <p:spPr>
          <a:xfrm>
            <a:off x="896112" y="2331720"/>
            <a:ext cx="146304" cy="146304"/>
          </a:xfrm>
          <a:prstGeom prst="ellipse">
            <a:avLst/>
          </a:prstGeom>
          <a:noFill/>
          <a:ln cap="flat" cmpd="sng" w="158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31" name="Google Shape;931;p33"/>
          <p:cNvSpPr txBox="1"/>
          <p:nvPr/>
        </p:nvSpPr>
        <p:spPr>
          <a:xfrm>
            <a:off x="1207008" y="2286000"/>
            <a:ext cx="1008583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50" u="none" cap="none" strike="noStrike">
                <a:solidFill>
                  <a:srgbClr val="FFFFFF"/>
                </a:solidFill>
                <a:latin typeface="Arial"/>
                <a:ea typeface="Arial"/>
                <a:cs typeface="Arial"/>
                <a:sym typeface="Arial"/>
              </a:rPr>
              <a:t>Pipeline y artifacts configurados</a:t>
            </a:r>
            <a:endParaRPr/>
          </a:p>
        </p:txBody>
      </p:sp>
      <p:sp>
        <p:nvSpPr>
          <p:cNvPr id="932" name="Google Shape;932;p33"/>
          <p:cNvSpPr txBox="1"/>
          <p:nvPr/>
        </p:nvSpPr>
        <p:spPr>
          <a:xfrm>
            <a:off x="1207008" y="2560320"/>
            <a:ext cx="10085832" cy="491947"/>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150" u="none" cap="none" strike="noStrike">
                <a:solidFill>
                  <a:srgbClr val="B0B0B0"/>
                </a:solidFill>
                <a:latin typeface="Arial"/>
                <a:ea typeface="Arial"/>
                <a:cs typeface="Arial"/>
                <a:sym typeface="Arial"/>
              </a:rPr>
              <a:t>Inicialmente se debe tener configurado el pipeline del modelo, los artifacts necesarios para el despliegue que garanticen el funcionamiento y las transformaciones de features.</a:t>
            </a:r>
            <a:endParaRPr/>
          </a:p>
        </p:txBody>
      </p:sp>
      <p:cxnSp>
        <p:nvCxnSpPr>
          <p:cNvPr id="933" name="Google Shape;933;p33"/>
          <p:cNvCxnSpPr/>
          <p:nvPr/>
        </p:nvCxnSpPr>
        <p:spPr>
          <a:xfrm>
            <a:off x="969264" y="3024835"/>
            <a:ext cx="0" cy="73152"/>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8039"/>
              </a:srgbClr>
            </a:outerShdw>
          </a:effectLst>
        </p:spPr>
      </p:cxnSp>
      <p:sp>
        <p:nvSpPr>
          <p:cNvPr id="934" name="Google Shape;934;p33"/>
          <p:cNvSpPr/>
          <p:nvPr/>
        </p:nvSpPr>
        <p:spPr>
          <a:xfrm>
            <a:off x="896112" y="3097987"/>
            <a:ext cx="146304" cy="146304"/>
          </a:xfrm>
          <a:prstGeom prst="ellipse">
            <a:avLst/>
          </a:prstGeom>
          <a:noFill/>
          <a:ln cap="flat" cmpd="sng" w="158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35" name="Google Shape;935;p33"/>
          <p:cNvSpPr txBox="1"/>
          <p:nvPr/>
        </p:nvSpPr>
        <p:spPr>
          <a:xfrm>
            <a:off x="1207008" y="3052267"/>
            <a:ext cx="1008583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50" u="none" cap="none" strike="noStrike">
                <a:solidFill>
                  <a:srgbClr val="FFFFFF"/>
                </a:solidFill>
                <a:latin typeface="Arial"/>
                <a:ea typeface="Arial"/>
                <a:cs typeface="Arial"/>
                <a:sym typeface="Arial"/>
              </a:rPr>
              <a:t>Plan de rollout a producción</a:t>
            </a:r>
            <a:endParaRPr/>
          </a:p>
        </p:txBody>
      </p:sp>
      <p:sp>
        <p:nvSpPr>
          <p:cNvPr id="936" name="Google Shape;936;p33"/>
          <p:cNvSpPr txBox="1"/>
          <p:nvPr/>
        </p:nvSpPr>
        <p:spPr>
          <a:xfrm>
            <a:off x="1207008" y="3326587"/>
            <a:ext cx="10085832" cy="491947"/>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150" u="none" cap="none" strike="noStrike">
                <a:solidFill>
                  <a:srgbClr val="B0B0B0"/>
                </a:solidFill>
                <a:latin typeface="Arial"/>
                <a:ea typeface="Arial"/>
                <a:cs typeface="Arial"/>
                <a:sym typeface="Arial"/>
              </a:rPr>
              <a:t>Tener el plan del rollout a producción, realizarlo en horarios pertinentes y que no afecten el freeze.</a:t>
            </a:r>
            <a:endParaRPr/>
          </a:p>
        </p:txBody>
      </p:sp>
      <p:cxnSp>
        <p:nvCxnSpPr>
          <p:cNvPr id="937" name="Google Shape;937;p33"/>
          <p:cNvCxnSpPr/>
          <p:nvPr/>
        </p:nvCxnSpPr>
        <p:spPr>
          <a:xfrm>
            <a:off x="969264" y="3791102"/>
            <a:ext cx="0" cy="73152"/>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8039"/>
              </a:srgbClr>
            </a:outerShdw>
          </a:effectLst>
        </p:spPr>
      </p:cxnSp>
      <p:sp>
        <p:nvSpPr>
          <p:cNvPr id="938" name="Google Shape;938;p33"/>
          <p:cNvSpPr/>
          <p:nvPr/>
        </p:nvSpPr>
        <p:spPr>
          <a:xfrm>
            <a:off x="896112" y="3864254"/>
            <a:ext cx="146304" cy="146304"/>
          </a:xfrm>
          <a:prstGeom prst="ellipse">
            <a:avLst/>
          </a:prstGeom>
          <a:noFill/>
          <a:ln cap="flat" cmpd="sng" w="158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39" name="Google Shape;939;p33"/>
          <p:cNvSpPr txBox="1"/>
          <p:nvPr/>
        </p:nvSpPr>
        <p:spPr>
          <a:xfrm>
            <a:off x="1207008" y="3818534"/>
            <a:ext cx="1008583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50" u="none" cap="none" strike="noStrike">
                <a:solidFill>
                  <a:srgbClr val="FFFFFF"/>
                </a:solidFill>
                <a:latin typeface="Arial"/>
                <a:ea typeface="Arial"/>
                <a:cs typeface="Arial"/>
                <a:sym typeface="Arial"/>
              </a:rPr>
              <a:t>Configuraciones del sistema de rollout</a:t>
            </a:r>
            <a:endParaRPr/>
          </a:p>
        </p:txBody>
      </p:sp>
      <p:sp>
        <p:nvSpPr>
          <p:cNvPr id="940" name="Google Shape;940;p33"/>
          <p:cNvSpPr txBox="1"/>
          <p:nvPr/>
        </p:nvSpPr>
        <p:spPr>
          <a:xfrm>
            <a:off x="1207008" y="4092854"/>
            <a:ext cx="10085832" cy="491947"/>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150" u="none" cap="none" strike="noStrike">
                <a:solidFill>
                  <a:srgbClr val="B0B0B0"/>
                </a:solidFill>
                <a:latin typeface="Arial"/>
                <a:ea typeface="Arial"/>
                <a:cs typeface="Arial"/>
                <a:sym typeface="Arial"/>
              </a:rPr>
              <a:t>Tener las configuraciones necesarias sobre el sistema o herramienta que permitirá hacer el rollout, en el caso de Mercado Libre (MPI, Scopes, entidades de features, ...).</a:t>
            </a:r>
            <a:endParaRPr/>
          </a:p>
        </p:txBody>
      </p:sp>
      <p:cxnSp>
        <p:nvCxnSpPr>
          <p:cNvPr id="941" name="Google Shape;941;p33"/>
          <p:cNvCxnSpPr/>
          <p:nvPr/>
        </p:nvCxnSpPr>
        <p:spPr>
          <a:xfrm>
            <a:off x="969264" y="4557369"/>
            <a:ext cx="0" cy="73152"/>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8039"/>
              </a:srgbClr>
            </a:outerShdw>
          </a:effectLst>
        </p:spPr>
      </p:cxnSp>
      <p:sp>
        <p:nvSpPr>
          <p:cNvPr id="942" name="Google Shape;942;p33"/>
          <p:cNvSpPr/>
          <p:nvPr/>
        </p:nvSpPr>
        <p:spPr>
          <a:xfrm>
            <a:off x="896112" y="4630521"/>
            <a:ext cx="146304" cy="146304"/>
          </a:xfrm>
          <a:prstGeom prst="ellipse">
            <a:avLst/>
          </a:prstGeom>
          <a:noFill/>
          <a:ln cap="flat" cmpd="sng" w="158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43" name="Google Shape;943;p33"/>
          <p:cNvSpPr txBox="1"/>
          <p:nvPr/>
        </p:nvSpPr>
        <p:spPr>
          <a:xfrm>
            <a:off x="1207008" y="4584801"/>
            <a:ext cx="1008583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50" u="none" cap="none" strike="noStrike">
                <a:solidFill>
                  <a:srgbClr val="FFFFFF"/>
                </a:solidFill>
                <a:latin typeface="Arial"/>
                <a:ea typeface="Arial"/>
                <a:cs typeface="Arial"/>
                <a:sym typeface="Arial"/>
              </a:rPr>
              <a:t>Rollout controlado (Blue-Green / Canary)</a:t>
            </a:r>
            <a:endParaRPr/>
          </a:p>
        </p:txBody>
      </p:sp>
      <p:sp>
        <p:nvSpPr>
          <p:cNvPr id="944" name="Google Shape;944;p33"/>
          <p:cNvSpPr txBox="1"/>
          <p:nvPr/>
        </p:nvSpPr>
        <p:spPr>
          <a:xfrm>
            <a:off x="1207008" y="4859121"/>
            <a:ext cx="10085832" cy="491947"/>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150" u="none" cap="none" strike="noStrike">
                <a:solidFill>
                  <a:srgbClr val="B0B0B0"/>
                </a:solidFill>
                <a:latin typeface="Arial"/>
                <a:ea typeface="Arial"/>
                <a:cs typeface="Arial"/>
                <a:sym typeface="Arial"/>
              </a:rPr>
              <a:t>Realizar el rollout de manera controlada, por defecto realizar Blue Green o Canary dependiendo del modelo en cuestión y flujo a scorear.</a:t>
            </a:r>
            <a:endParaRPr/>
          </a:p>
        </p:txBody>
      </p:sp>
      <p:cxnSp>
        <p:nvCxnSpPr>
          <p:cNvPr id="945" name="Google Shape;945;p33"/>
          <p:cNvCxnSpPr/>
          <p:nvPr/>
        </p:nvCxnSpPr>
        <p:spPr>
          <a:xfrm>
            <a:off x="969264" y="5323636"/>
            <a:ext cx="0" cy="73152"/>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8039"/>
              </a:srgbClr>
            </a:outerShdw>
          </a:effectLst>
        </p:spPr>
      </p:cxnSp>
      <p:sp>
        <p:nvSpPr>
          <p:cNvPr id="946" name="Google Shape;946;p33"/>
          <p:cNvSpPr/>
          <p:nvPr/>
        </p:nvSpPr>
        <p:spPr>
          <a:xfrm>
            <a:off x="896112" y="5396788"/>
            <a:ext cx="146304" cy="146304"/>
          </a:xfrm>
          <a:prstGeom prst="ellipse">
            <a:avLst/>
          </a:prstGeom>
          <a:noFill/>
          <a:ln cap="flat" cmpd="sng" w="158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47" name="Google Shape;947;p33"/>
          <p:cNvSpPr txBox="1"/>
          <p:nvPr/>
        </p:nvSpPr>
        <p:spPr>
          <a:xfrm>
            <a:off x="1207008" y="5351068"/>
            <a:ext cx="1008583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50" u="none" cap="none" strike="noStrike">
                <a:solidFill>
                  <a:srgbClr val="FFFFFF"/>
                </a:solidFill>
                <a:latin typeface="Arial"/>
                <a:ea typeface="Arial"/>
                <a:cs typeface="Arial"/>
                <a:sym typeface="Arial"/>
              </a:rPr>
              <a:t>Dashboard de monitoreo en tiempo real</a:t>
            </a:r>
            <a:endParaRPr/>
          </a:p>
        </p:txBody>
      </p:sp>
      <p:sp>
        <p:nvSpPr>
          <p:cNvPr id="948" name="Google Shape;948;p33"/>
          <p:cNvSpPr txBox="1"/>
          <p:nvPr/>
        </p:nvSpPr>
        <p:spPr>
          <a:xfrm>
            <a:off x="1207008" y="5625388"/>
            <a:ext cx="10085832" cy="491947"/>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150" u="none" cap="none" strike="noStrike">
                <a:solidFill>
                  <a:srgbClr val="B0B0B0"/>
                </a:solidFill>
                <a:latin typeface="Arial"/>
                <a:ea typeface="Arial"/>
                <a:cs typeface="Arial"/>
                <a:sym typeface="Arial"/>
              </a:rPr>
              <a:t>Este paso es crucial ya que después de que el modelo ya se encuentre online, es necesario realizar su monitoreo, en cuanto a tiempos de respuesta y errores, en caso tal de encontrar inconsistencias realizar el rollback adecuado o bajada del mismo.</a:t>
            </a:r>
            <a:endParaRPr/>
          </a:p>
        </p:txBody>
      </p:sp>
      <p:sp>
        <p:nvSpPr>
          <p:cNvPr id="949" name="Google Shape;949;p33"/>
          <p:cNvSpPr/>
          <p:nvPr/>
        </p:nvSpPr>
        <p:spPr>
          <a:xfrm>
            <a:off x="0" y="6537960"/>
            <a:ext cx="12191695" cy="320040"/>
          </a:xfrm>
          <a:prstGeom prst="rect">
            <a:avLst/>
          </a:prstGeom>
          <a:solidFill>
            <a:srgbClr val="0A0A0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nvGrpSpPr>
          <p:cNvPr id="950" name="Google Shape;950;p33"/>
          <p:cNvGrpSpPr/>
          <p:nvPr/>
        </p:nvGrpSpPr>
        <p:grpSpPr>
          <a:xfrm>
            <a:off x="12" y="6223211"/>
            <a:ext cx="634800" cy="634800"/>
            <a:chOff x="12" y="4508711"/>
            <a:chExt cx="634800" cy="634800"/>
          </a:xfrm>
        </p:grpSpPr>
        <p:sp>
          <p:nvSpPr>
            <p:cNvPr id="951" name="Google Shape;951;p33"/>
            <p:cNvSpPr/>
            <p:nvPr/>
          </p:nvSpPr>
          <p:spPr>
            <a:xfrm>
              <a:off x="12" y="4508711"/>
              <a:ext cx="634800" cy="634800"/>
            </a:xfrm>
            <a:prstGeom prst="round1Rect">
              <a:avLst>
                <a:gd fmla="val 28797" name="adj"/>
              </a:avLst>
            </a:prstGeom>
            <a:solidFill>
              <a:srgbClr val="FFD1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952" name="Google Shape;952;p33"/>
            <p:cNvPicPr preferRelativeResize="0"/>
            <p:nvPr/>
          </p:nvPicPr>
          <p:blipFill>
            <a:blip r:embed="rId3">
              <a:alphaModFix/>
            </a:blip>
            <a:stretch>
              <a:fillRect/>
            </a:stretch>
          </p:blipFill>
          <p:spPr>
            <a:xfrm>
              <a:off x="124673" y="4689253"/>
              <a:ext cx="397051" cy="273714"/>
            </a:xfrm>
            <a:prstGeom prst="rect">
              <a:avLst/>
            </a:prstGeom>
            <a:noFill/>
            <a:ln>
              <a:noFill/>
            </a:ln>
          </p:spPr>
        </p:pic>
      </p:grpSp>
      <p:sp>
        <p:nvSpPr>
          <p:cNvPr id="953" name="Google Shape;953;p33"/>
          <p:cNvSpPr/>
          <p:nvPr/>
        </p:nvSpPr>
        <p:spPr>
          <a:xfrm rot="10800000">
            <a:off x="11736276" y="0"/>
            <a:ext cx="455400" cy="421500"/>
          </a:xfrm>
          <a:prstGeom prst="corner">
            <a:avLst>
              <a:gd fmla="val 39228" name="adj1"/>
              <a:gd fmla="val 38336" name="adj2"/>
            </a:avLst>
          </a:prstGeom>
          <a:solidFill>
            <a:srgbClr val="FFD100"/>
          </a:solidFill>
          <a:ln>
            <a:noFill/>
          </a:ln>
        </p:spPr>
        <p:txBody>
          <a:bodyPr anchorCtr="0" anchor="ctr" bIns="60950" lIns="60950" spcFirstLastPara="1" rIns="60950" wrap="square" tIns="60950">
            <a:noAutofit/>
          </a:bodyPr>
          <a:lstStyle/>
          <a:p>
            <a:pPr indent="0" lvl="0" marL="0" rtl="0" algn="l">
              <a:spcBef>
                <a:spcPts val="0"/>
              </a:spcBef>
              <a:spcAft>
                <a:spcPts val="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7" name="Shape 957"/>
        <p:cNvGrpSpPr/>
        <p:nvPr/>
      </p:nvGrpSpPr>
      <p:grpSpPr>
        <a:xfrm>
          <a:off x="0" y="0"/>
          <a:ext cx="0" cy="0"/>
          <a:chOff x="0" y="0"/>
          <a:chExt cx="0" cy="0"/>
        </a:xfrm>
      </p:grpSpPr>
      <p:sp>
        <p:nvSpPr>
          <p:cNvPr id="958" name="Google Shape;958;p34"/>
          <p:cNvSpPr/>
          <p:nvPr/>
        </p:nvSpPr>
        <p:spPr>
          <a:xfrm>
            <a:off x="0" y="0"/>
            <a:ext cx="12191695" cy="6858000"/>
          </a:xfrm>
          <a:prstGeom prst="rect">
            <a:avLst/>
          </a:prstGeom>
          <a:solidFill>
            <a:srgbClr val="1A1A1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59" name="Google Shape;959;p34"/>
          <p:cNvSpPr/>
          <p:nvPr/>
        </p:nvSpPr>
        <p:spPr>
          <a:xfrm>
            <a:off x="502920" y="457200"/>
            <a:ext cx="54864" cy="777240"/>
          </a:xfrm>
          <a:prstGeom prst="rect">
            <a:avLst/>
          </a:prstGeom>
          <a:solidFill>
            <a:srgbClr val="FECE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60" name="Google Shape;960;p34"/>
          <p:cNvSpPr txBox="1"/>
          <p:nvPr/>
        </p:nvSpPr>
        <p:spPr>
          <a:xfrm>
            <a:off x="685800" y="457200"/>
            <a:ext cx="1051560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300" u="none" cap="none" strike="noStrike">
                <a:solidFill>
                  <a:srgbClr val="B0B0B0"/>
                </a:solidFill>
                <a:latin typeface="Arial"/>
                <a:ea typeface="Arial"/>
                <a:cs typeface="Arial"/>
                <a:sym typeface="Arial"/>
              </a:rPr>
              <a:t>00_analisis_inicial/docs/</a:t>
            </a:r>
            <a:endParaRPr/>
          </a:p>
        </p:txBody>
      </p:sp>
      <p:sp>
        <p:nvSpPr>
          <p:cNvPr id="961" name="Google Shape;961;p34"/>
          <p:cNvSpPr txBox="1"/>
          <p:nvPr/>
        </p:nvSpPr>
        <p:spPr>
          <a:xfrm>
            <a:off x="658368" y="749808"/>
            <a:ext cx="10607040" cy="5943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600" u="none" cap="none" strike="noStrike">
                <a:solidFill>
                  <a:srgbClr val="FFFFFF"/>
                </a:solidFill>
                <a:latin typeface="Arial"/>
                <a:ea typeface="Arial"/>
                <a:cs typeface="Arial"/>
                <a:sym typeface="Arial"/>
              </a:rPr>
              <a:t>REFERENCIAS BIBLIOGRÁFICAS</a:t>
            </a:r>
            <a:endParaRPr/>
          </a:p>
        </p:txBody>
      </p:sp>
      <p:sp>
        <p:nvSpPr>
          <p:cNvPr id="962" name="Google Shape;962;p34"/>
          <p:cNvSpPr/>
          <p:nvPr/>
        </p:nvSpPr>
        <p:spPr>
          <a:xfrm>
            <a:off x="640080" y="1737360"/>
            <a:ext cx="10908792" cy="992124"/>
          </a:xfrm>
          <a:prstGeom prst="rect">
            <a:avLst/>
          </a:prstGeom>
          <a:solidFill>
            <a:srgbClr val="111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63" name="Google Shape;963;p34"/>
          <p:cNvSpPr/>
          <p:nvPr/>
        </p:nvSpPr>
        <p:spPr>
          <a:xfrm rot="5400000">
            <a:off x="868680" y="2160270"/>
            <a:ext cx="146304" cy="146304"/>
          </a:xfrm>
          <a:prstGeom prst="triangle">
            <a:avLst>
              <a:gd fmla="val 50000" name="adj"/>
            </a:avLst>
          </a:prstGeom>
          <a:solidFill>
            <a:srgbClr val="FECE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64" name="Google Shape;964;p34"/>
          <p:cNvSpPr txBox="1"/>
          <p:nvPr/>
        </p:nvSpPr>
        <p:spPr>
          <a:xfrm>
            <a:off x="1234440" y="1737360"/>
            <a:ext cx="10058400" cy="9921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400" u="none" cap="none" strike="noStrike">
                <a:solidFill>
                  <a:srgbClr val="01B1EC"/>
                </a:solidFill>
                <a:latin typeface="Arial"/>
                <a:ea typeface="Arial"/>
                <a:cs typeface="Arial"/>
                <a:sym typeface="Arial"/>
              </a:rPr>
              <a:t>The Foundations of Cost-Sensitive Learning — Charles Elkan (2001)</a:t>
            </a:r>
            <a:endParaRPr/>
          </a:p>
        </p:txBody>
      </p:sp>
      <p:sp>
        <p:nvSpPr>
          <p:cNvPr id="965" name="Google Shape;965;p34"/>
          <p:cNvSpPr/>
          <p:nvPr/>
        </p:nvSpPr>
        <p:spPr>
          <a:xfrm>
            <a:off x="640080" y="2930652"/>
            <a:ext cx="10908792" cy="992124"/>
          </a:xfrm>
          <a:prstGeom prst="rect">
            <a:avLst/>
          </a:prstGeom>
          <a:solidFill>
            <a:srgbClr val="111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66" name="Google Shape;966;p34"/>
          <p:cNvSpPr/>
          <p:nvPr/>
        </p:nvSpPr>
        <p:spPr>
          <a:xfrm rot="5400000">
            <a:off x="868680" y="3353562"/>
            <a:ext cx="146304" cy="146304"/>
          </a:xfrm>
          <a:prstGeom prst="triangle">
            <a:avLst>
              <a:gd fmla="val 50000" name="adj"/>
            </a:avLst>
          </a:prstGeom>
          <a:solidFill>
            <a:srgbClr val="FECE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67" name="Google Shape;967;p34"/>
          <p:cNvSpPr txBox="1"/>
          <p:nvPr/>
        </p:nvSpPr>
        <p:spPr>
          <a:xfrm>
            <a:off x="1234440" y="2930652"/>
            <a:ext cx="10058400" cy="9921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400" u="none" cap="none" strike="noStrike">
                <a:solidFill>
                  <a:srgbClr val="01B1EC"/>
                </a:solidFill>
                <a:latin typeface="Arial"/>
                <a:ea typeface="Arial"/>
                <a:cs typeface="Arial"/>
                <a:sym typeface="Arial"/>
              </a:rPr>
              <a:t>The Missing Indicator Method: From Low to High Dimensions</a:t>
            </a:r>
            <a:endParaRPr/>
          </a:p>
        </p:txBody>
      </p:sp>
      <p:sp>
        <p:nvSpPr>
          <p:cNvPr id="968" name="Google Shape;968;p34"/>
          <p:cNvSpPr/>
          <p:nvPr/>
        </p:nvSpPr>
        <p:spPr>
          <a:xfrm>
            <a:off x="640080" y="4123944"/>
            <a:ext cx="10908792" cy="992124"/>
          </a:xfrm>
          <a:prstGeom prst="rect">
            <a:avLst/>
          </a:prstGeom>
          <a:solidFill>
            <a:srgbClr val="111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69" name="Google Shape;969;p34"/>
          <p:cNvSpPr/>
          <p:nvPr/>
        </p:nvSpPr>
        <p:spPr>
          <a:xfrm rot="5400000">
            <a:off x="868680" y="4546854"/>
            <a:ext cx="146304" cy="146304"/>
          </a:xfrm>
          <a:prstGeom prst="triangle">
            <a:avLst>
              <a:gd fmla="val 50000" name="adj"/>
            </a:avLst>
          </a:prstGeom>
          <a:solidFill>
            <a:srgbClr val="FECE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70" name="Google Shape;970;p34"/>
          <p:cNvSpPr txBox="1"/>
          <p:nvPr/>
        </p:nvSpPr>
        <p:spPr>
          <a:xfrm>
            <a:off x="1234440" y="4123944"/>
            <a:ext cx="10058400" cy="9921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400" u="none" cap="none" strike="noStrike">
                <a:solidFill>
                  <a:srgbClr val="01B1EC"/>
                </a:solidFill>
                <a:latin typeface="Arial"/>
                <a:ea typeface="Arial"/>
                <a:cs typeface="Arial"/>
                <a:sym typeface="Arial"/>
              </a:rPr>
              <a:t>Impact of Sampling Techniques and Data Leakage on XGBoost Performance in Credit Card Fraud Detection</a:t>
            </a:r>
            <a:endParaRPr/>
          </a:p>
        </p:txBody>
      </p:sp>
      <p:sp>
        <p:nvSpPr>
          <p:cNvPr id="971" name="Google Shape;971;p34"/>
          <p:cNvSpPr/>
          <p:nvPr/>
        </p:nvSpPr>
        <p:spPr>
          <a:xfrm>
            <a:off x="640080" y="5317236"/>
            <a:ext cx="10908792" cy="992124"/>
          </a:xfrm>
          <a:prstGeom prst="rect">
            <a:avLst/>
          </a:prstGeom>
          <a:solidFill>
            <a:srgbClr val="111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72" name="Google Shape;972;p34"/>
          <p:cNvSpPr/>
          <p:nvPr/>
        </p:nvSpPr>
        <p:spPr>
          <a:xfrm rot="5400000">
            <a:off x="868680" y="5740146"/>
            <a:ext cx="146304" cy="146304"/>
          </a:xfrm>
          <a:prstGeom prst="triangle">
            <a:avLst>
              <a:gd fmla="val 50000" name="adj"/>
            </a:avLst>
          </a:prstGeom>
          <a:solidFill>
            <a:srgbClr val="FECE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73" name="Google Shape;973;p34"/>
          <p:cNvSpPr txBox="1"/>
          <p:nvPr/>
        </p:nvSpPr>
        <p:spPr>
          <a:xfrm>
            <a:off x="1234440" y="5317236"/>
            <a:ext cx="10058400" cy="9921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400" u="none" cap="none" strike="noStrike">
                <a:solidFill>
                  <a:srgbClr val="01B1EC"/>
                </a:solidFill>
                <a:latin typeface="Arial"/>
                <a:ea typeface="Arial"/>
                <a:cs typeface="Arial"/>
                <a:sym typeface="Arial"/>
              </a:rPr>
              <a:t>Why do Tree-Based Models Still Outperform Deep Learning on Tabular Data?</a:t>
            </a:r>
            <a:endParaRPr/>
          </a:p>
        </p:txBody>
      </p:sp>
      <p:sp>
        <p:nvSpPr>
          <p:cNvPr id="974" name="Google Shape;974;p34"/>
          <p:cNvSpPr/>
          <p:nvPr/>
        </p:nvSpPr>
        <p:spPr>
          <a:xfrm>
            <a:off x="0" y="6537960"/>
            <a:ext cx="12191695" cy="320040"/>
          </a:xfrm>
          <a:prstGeom prst="rect">
            <a:avLst/>
          </a:prstGeom>
          <a:solidFill>
            <a:srgbClr val="0A0A0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nvGrpSpPr>
          <p:cNvPr id="975" name="Google Shape;975;p34"/>
          <p:cNvGrpSpPr/>
          <p:nvPr/>
        </p:nvGrpSpPr>
        <p:grpSpPr>
          <a:xfrm>
            <a:off x="12" y="6223211"/>
            <a:ext cx="634800" cy="634800"/>
            <a:chOff x="12" y="4508711"/>
            <a:chExt cx="634800" cy="634800"/>
          </a:xfrm>
        </p:grpSpPr>
        <p:sp>
          <p:nvSpPr>
            <p:cNvPr id="976" name="Google Shape;976;p34"/>
            <p:cNvSpPr/>
            <p:nvPr/>
          </p:nvSpPr>
          <p:spPr>
            <a:xfrm>
              <a:off x="12" y="4508711"/>
              <a:ext cx="634800" cy="634800"/>
            </a:xfrm>
            <a:prstGeom prst="round1Rect">
              <a:avLst>
                <a:gd fmla="val 28797" name="adj"/>
              </a:avLst>
            </a:prstGeom>
            <a:solidFill>
              <a:srgbClr val="FFD1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977" name="Google Shape;977;p34"/>
            <p:cNvPicPr preferRelativeResize="0"/>
            <p:nvPr/>
          </p:nvPicPr>
          <p:blipFill>
            <a:blip r:embed="rId3">
              <a:alphaModFix/>
            </a:blip>
            <a:stretch>
              <a:fillRect/>
            </a:stretch>
          </p:blipFill>
          <p:spPr>
            <a:xfrm>
              <a:off x="124673" y="4689253"/>
              <a:ext cx="397051" cy="273714"/>
            </a:xfrm>
            <a:prstGeom prst="rect">
              <a:avLst/>
            </a:prstGeom>
            <a:noFill/>
            <a:ln>
              <a:noFill/>
            </a:ln>
          </p:spPr>
        </p:pic>
      </p:grpSp>
      <p:sp>
        <p:nvSpPr>
          <p:cNvPr id="978" name="Google Shape;978;p34"/>
          <p:cNvSpPr/>
          <p:nvPr/>
        </p:nvSpPr>
        <p:spPr>
          <a:xfrm rot="10800000">
            <a:off x="11736276" y="0"/>
            <a:ext cx="455400" cy="421500"/>
          </a:xfrm>
          <a:prstGeom prst="corner">
            <a:avLst>
              <a:gd fmla="val 39228" name="adj1"/>
              <a:gd fmla="val 38336" name="adj2"/>
            </a:avLst>
          </a:prstGeom>
          <a:solidFill>
            <a:srgbClr val="FFD100"/>
          </a:solidFill>
          <a:ln>
            <a:noFill/>
          </a:ln>
        </p:spPr>
        <p:txBody>
          <a:bodyPr anchorCtr="0" anchor="ctr" bIns="60950" lIns="60950" spcFirstLastPara="1" rIns="60950" wrap="square" tIns="60950">
            <a:noAutofit/>
          </a:bodyPr>
          <a:lstStyle/>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